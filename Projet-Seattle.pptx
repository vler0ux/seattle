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29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26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21.xml" ContentType="application/vnd.openxmlformats-officedocument.presentationml.notesSlide+xml"/>
  <Override PartName="/ppt/notesSlides/notesSlide14.xml" ContentType="application/vnd.openxmlformats-officedocument.presentationml.notes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13.xml" ContentType="application/vnd.openxmlformats-officedocument.presentationml.slide+xml"/>
  <Override PartName="/ppt/theme/theme2.xml" ContentType="application/vnd.openxmlformats-officedocument.them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notesSlides/notesSlide22.xml" ContentType="application/vnd.openxmlformats-officedocument.presentationml.notesSlide+xml"/>
  <Override PartName="/ppt/slideLayouts/slideLayout4.xml" ContentType="application/vnd.openxmlformats-officedocument.presentationml.slideLayout+xml"/>
  <Override PartName="/ppt/notesSlides/notesSlide20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21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slides/slide17.xml" ContentType="application/vnd.openxmlformats-officedocument.presentationml.slide+xml"/>
  <Override PartName="/ppt/viewProps.xml" ContentType="application/vnd.openxmlformats-officedocument.presentationml.viewProps+xml"/>
  <Override PartName="/ppt/notesSlides/notesSlide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ppt/notesSlides/notesSlide28.xml" ContentType="application/vnd.openxmlformats-officedocument.presentationml.notesSlide+xml"/>
  <Override PartName="/ppt/slideLayouts/slideLayout6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slides/slide28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slides/slide29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7.xml" ContentType="application/vnd.openxmlformats-officedocument.presentationml.slide+xml"/>
  <Override PartName="/ppt/slides/slide18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22.xml" ContentType="application/vnd.openxmlformats-officedocument.presentationml.slide+xml"/>
  <Override PartName="/ppt/slides/slide19.xml" ContentType="application/vnd.openxmlformats-officedocument.presentationml.slide+xml"/>
  <Override PartName="/ppt/slides/slide2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embedTrueTypeFonts="1" saveSubsetFonts="1">
  <p:sldMasterIdLst>
    <p:sldMasterId id="2147483648" r:id="rId1"/>
  </p:sldMasterIdLst>
  <p:notesMasterIdLst>
    <p:notesMasterId r:id="rId3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</p:sldIdLst>
  <p:sldSz cx="18288000" cy="10287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74" d="100"/>
          <a:sy n="74" d="100"/>
        </p:scale>
        <p:origin x="-1092" y="-90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 /><Relationship Id="rId35" Type="http://schemas.openxmlformats.org/officeDocument/2006/relationships/tableStyles" Target="tableStyles.xml" /><Relationship Id="rId36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8010757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1593865357" name="Date Placeholder 2"/>
          <p:cNvSpPr>
            <a:spLocks noGrp="1"/>
          </p:cNvSpPr>
          <p:nvPr>
            <p:ph type="dt" idx="1"/>
          </p:nvPr>
        </p:nvSpPr>
        <p:spPr bwMode="auto"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B7268E1E-0E44-426D-905E-8AD9B19D2182}" type="datetimeFigureOut">
              <a:rPr lang="cs-CZ"/>
              <a:t>1.7.2013</a:t>
            </a:fld>
            <a:endParaRPr lang="cs-CZ"/>
          </a:p>
        </p:txBody>
      </p:sp>
      <p:sp>
        <p:nvSpPr>
          <p:cNvPr id="1710502248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cs-CZ"/>
          </a:p>
        </p:txBody>
      </p:sp>
      <p:sp>
        <p:nvSpPr>
          <p:cNvPr id="67257748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cs-CZ"/>
          </a:p>
        </p:txBody>
      </p:sp>
      <p:sp>
        <p:nvSpPr>
          <p:cNvPr id="35024186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537146258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871B2431-D351-4C6E-A3CF-9DFAC0E3E050}" type="slidenum">
              <a:rPr lang="cs-CZ"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 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 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 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 ?>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 ?>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 ?>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 ?>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4767851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879059804" name="Date Placeholder 2"/>
          <p:cNvSpPr>
            <a:spLocks noGrp="1"/>
          </p:cNvSpPr>
          <p:nvPr>
            <p:ph type="dt" idx="1"/>
          </p:nvPr>
        </p:nvSpPr>
        <p:spPr bwMode="auto"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r>
              <a:rPr lang="cs-CZ"/>
              <a:t>1.7.2013</a:t>
            </a:r>
            <a:endParaRPr/>
          </a:p>
        </p:txBody>
      </p:sp>
      <p:sp>
        <p:nvSpPr>
          <p:cNvPr id="1036329096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825948470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>
              <a:defRPr/>
            </a:pPr>
            <a:endParaRPr lang="en-US"/>
          </a:p>
        </p:txBody>
      </p:sp>
      <p:sp>
        <p:nvSpPr>
          <p:cNvPr id="62237550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74408739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038515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858434978" name="Date Placeholder 2"/>
          <p:cNvSpPr>
            <a:spLocks noGrp="1"/>
          </p:cNvSpPr>
          <p:nvPr>
            <p:ph type="dt" idx="1"/>
          </p:nvPr>
        </p:nvSpPr>
        <p:spPr bwMode="auto"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r>
              <a:rPr lang="cs-CZ"/>
              <a:t>1.7.2013</a:t>
            </a:r>
            <a:endParaRPr/>
          </a:p>
        </p:txBody>
      </p:sp>
      <p:sp>
        <p:nvSpPr>
          <p:cNvPr id="1104598640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417373689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>
              <a:defRPr/>
            </a:pPr>
            <a:endParaRPr lang="en-US"/>
          </a:p>
        </p:txBody>
      </p:sp>
      <p:sp>
        <p:nvSpPr>
          <p:cNvPr id="134813046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48618424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3247514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879590466" name="Date Placeholder 2"/>
          <p:cNvSpPr>
            <a:spLocks noGrp="1"/>
          </p:cNvSpPr>
          <p:nvPr>
            <p:ph type="dt" idx="1"/>
          </p:nvPr>
        </p:nvSpPr>
        <p:spPr bwMode="auto"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r>
              <a:rPr lang="cs-CZ"/>
              <a:t>1.7.2013</a:t>
            </a:r>
            <a:endParaRPr/>
          </a:p>
        </p:txBody>
      </p:sp>
      <p:sp>
        <p:nvSpPr>
          <p:cNvPr id="2139045794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066328254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>
              <a:defRPr/>
            </a:pPr>
            <a:endParaRPr lang="en-US"/>
          </a:p>
        </p:txBody>
      </p:sp>
      <p:sp>
        <p:nvSpPr>
          <p:cNvPr id="117633553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1247780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9897307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01996721" name="Date Placeholder 2"/>
          <p:cNvSpPr>
            <a:spLocks noGrp="1"/>
          </p:cNvSpPr>
          <p:nvPr>
            <p:ph type="dt" idx="1"/>
          </p:nvPr>
        </p:nvSpPr>
        <p:spPr bwMode="auto"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r>
              <a:rPr lang="cs-CZ"/>
              <a:t>1.7.2013</a:t>
            </a:r>
            <a:endParaRPr/>
          </a:p>
        </p:txBody>
      </p:sp>
      <p:sp>
        <p:nvSpPr>
          <p:cNvPr id="1588100039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542644872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>
              <a:defRPr/>
            </a:pPr>
            <a:endParaRPr lang="en-US"/>
          </a:p>
        </p:txBody>
      </p:sp>
      <p:sp>
        <p:nvSpPr>
          <p:cNvPr id="172406514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150684803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0856598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885824672" name="Date Placeholder 2"/>
          <p:cNvSpPr>
            <a:spLocks noGrp="1"/>
          </p:cNvSpPr>
          <p:nvPr>
            <p:ph type="dt" idx="1"/>
          </p:nvPr>
        </p:nvSpPr>
        <p:spPr bwMode="auto"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r>
              <a:rPr lang="cs-CZ"/>
              <a:t>1.7.2013</a:t>
            </a:r>
            <a:endParaRPr/>
          </a:p>
        </p:txBody>
      </p:sp>
      <p:sp>
        <p:nvSpPr>
          <p:cNvPr id="320625414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882443576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>
              <a:defRPr/>
            </a:pPr>
            <a:endParaRPr lang="en-US"/>
          </a:p>
        </p:txBody>
      </p:sp>
      <p:sp>
        <p:nvSpPr>
          <p:cNvPr id="1940038824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28407429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6239101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03151671" name="Date Placeholder 2"/>
          <p:cNvSpPr>
            <a:spLocks noGrp="1"/>
          </p:cNvSpPr>
          <p:nvPr>
            <p:ph type="dt" idx="1"/>
          </p:nvPr>
        </p:nvSpPr>
        <p:spPr bwMode="auto"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r>
              <a:rPr lang="cs-CZ"/>
              <a:t>1.7.2013</a:t>
            </a:r>
            <a:endParaRPr/>
          </a:p>
        </p:txBody>
      </p:sp>
      <p:sp>
        <p:nvSpPr>
          <p:cNvPr id="1366167421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343318685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>
              <a:defRPr/>
            </a:pPr>
            <a:endParaRPr lang="en-US"/>
          </a:p>
        </p:txBody>
      </p:sp>
      <p:sp>
        <p:nvSpPr>
          <p:cNvPr id="76722505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144589735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28441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86482469" name="Date Placeholder 2"/>
          <p:cNvSpPr>
            <a:spLocks noGrp="1"/>
          </p:cNvSpPr>
          <p:nvPr>
            <p:ph type="dt" idx="1"/>
          </p:nvPr>
        </p:nvSpPr>
        <p:spPr bwMode="auto"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r>
              <a:rPr lang="cs-CZ"/>
              <a:t>1.7.2013</a:t>
            </a:r>
            <a:endParaRPr/>
          </a:p>
        </p:txBody>
      </p:sp>
      <p:sp>
        <p:nvSpPr>
          <p:cNvPr id="1231869842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957978552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>
              <a:defRPr/>
            </a:pPr>
            <a:endParaRPr lang="en-US"/>
          </a:p>
        </p:txBody>
      </p:sp>
      <p:sp>
        <p:nvSpPr>
          <p:cNvPr id="113937931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606845136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1144844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638119827" name="Date Placeholder 2"/>
          <p:cNvSpPr>
            <a:spLocks noGrp="1"/>
          </p:cNvSpPr>
          <p:nvPr>
            <p:ph type="dt" idx="1"/>
          </p:nvPr>
        </p:nvSpPr>
        <p:spPr bwMode="auto"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r>
              <a:rPr lang="cs-CZ"/>
              <a:t>1.7.2013</a:t>
            </a:r>
            <a:endParaRPr/>
          </a:p>
        </p:txBody>
      </p:sp>
      <p:sp>
        <p:nvSpPr>
          <p:cNvPr id="1385855262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371914877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>
              <a:defRPr/>
            </a:pPr>
            <a:endParaRPr lang="en-US"/>
          </a:p>
        </p:txBody>
      </p:sp>
      <p:sp>
        <p:nvSpPr>
          <p:cNvPr id="17037565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125353959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8065345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113729727" name="Date Placeholder 2"/>
          <p:cNvSpPr>
            <a:spLocks noGrp="1"/>
          </p:cNvSpPr>
          <p:nvPr>
            <p:ph type="dt" idx="1"/>
          </p:nvPr>
        </p:nvSpPr>
        <p:spPr bwMode="auto"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r>
              <a:rPr lang="cs-CZ"/>
              <a:t>1.7.2013</a:t>
            </a:r>
            <a:endParaRPr/>
          </a:p>
        </p:txBody>
      </p:sp>
      <p:sp>
        <p:nvSpPr>
          <p:cNvPr id="1008812296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330603039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>
              <a:defRPr/>
            </a:pPr>
            <a:endParaRPr lang="en-US"/>
          </a:p>
        </p:txBody>
      </p:sp>
      <p:sp>
        <p:nvSpPr>
          <p:cNvPr id="100564100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256863030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2905321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4668359" name="Date Placeholder 2"/>
          <p:cNvSpPr>
            <a:spLocks noGrp="1"/>
          </p:cNvSpPr>
          <p:nvPr>
            <p:ph type="dt" idx="1"/>
          </p:nvPr>
        </p:nvSpPr>
        <p:spPr bwMode="auto"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r>
              <a:rPr lang="cs-CZ"/>
              <a:t>1.7.2013</a:t>
            </a:r>
            <a:endParaRPr/>
          </a:p>
        </p:txBody>
      </p:sp>
      <p:sp>
        <p:nvSpPr>
          <p:cNvPr id="1072599491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264950729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>
              <a:defRPr/>
            </a:pPr>
            <a:endParaRPr lang="en-US"/>
          </a:p>
        </p:txBody>
      </p:sp>
      <p:sp>
        <p:nvSpPr>
          <p:cNvPr id="1008152030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8732008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9691408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112788250" name="Date Placeholder 2"/>
          <p:cNvSpPr>
            <a:spLocks noGrp="1"/>
          </p:cNvSpPr>
          <p:nvPr>
            <p:ph type="dt" idx="1"/>
          </p:nvPr>
        </p:nvSpPr>
        <p:spPr bwMode="auto"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r>
              <a:rPr lang="cs-CZ"/>
              <a:t>1.7.2013</a:t>
            </a:r>
            <a:endParaRPr/>
          </a:p>
        </p:txBody>
      </p:sp>
      <p:sp>
        <p:nvSpPr>
          <p:cNvPr id="2040987575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491565643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>
              <a:defRPr/>
            </a:pPr>
            <a:endParaRPr lang="en-US"/>
          </a:p>
        </p:txBody>
      </p:sp>
      <p:sp>
        <p:nvSpPr>
          <p:cNvPr id="1565557169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82292491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0344268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451770305" name="Date Placeholder 2"/>
          <p:cNvSpPr>
            <a:spLocks noGrp="1"/>
          </p:cNvSpPr>
          <p:nvPr>
            <p:ph type="dt" idx="1"/>
          </p:nvPr>
        </p:nvSpPr>
        <p:spPr bwMode="auto"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r>
              <a:rPr lang="cs-CZ"/>
              <a:t>1.7.2013</a:t>
            </a:r>
            <a:endParaRPr/>
          </a:p>
        </p:txBody>
      </p:sp>
      <p:sp>
        <p:nvSpPr>
          <p:cNvPr id="1651314144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270243502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>
              <a:defRPr/>
            </a:pPr>
            <a:endParaRPr lang="en-US"/>
          </a:p>
        </p:txBody>
      </p:sp>
      <p:sp>
        <p:nvSpPr>
          <p:cNvPr id="1836642039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93313318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989014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98944950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r>
              <a:rPr lang="cs-CZ"/>
              <a:t>1.7.2013</a:t>
            </a:r>
            <a:endParaRPr/>
          </a:p>
        </p:txBody>
      </p:sp>
      <p:sp>
        <p:nvSpPr>
          <p:cNvPr id="1711035975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310446467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>
              <a:defRPr/>
            </a:pPr>
            <a:endParaRPr lang="en-US"/>
          </a:p>
        </p:txBody>
      </p:sp>
      <p:sp>
        <p:nvSpPr>
          <p:cNvPr id="89209670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813830691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4930329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81848666" name="Date Placeholder 2"/>
          <p:cNvSpPr>
            <a:spLocks noGrp="1"/>
          </p:cNvSpPr>
          <p:nvPr>
            <p:ph type="dt" idx="1"/>
          </p:nvPr>
        </p:nvSpPr>
        <p:spPr bwMode="auto"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r>
              <a:rPr lang="cs-CZ"/>
              <a:t>1.7.2013</a:t>
            </a:r>
            <a:endParaRPr/>
          </a:p>
        </p:txBody>
      </p:sp>
      <p:sp>
        <p:nvSpPr>
          <p:cNvPr id="1040006332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438623815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>
              <a:defRPr/>
            </a:pPr>
            <a:endParaRPr lang="en-US"/>
          </a:p>
        </p:txBody>
      </p:sp>
      <p:sp>
        <p:nvSpPr>
          <p:cNvPr id="1125944658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10178969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1341297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2851736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r>
              <a:rPr lang="cs-CZ"/>
              <a:t>1.7.2013</a:t>
            </a:r>
            <a:endParaRPr/>
          </a:p>
        </p:txBody>
      </p:sp>
      <p:sp>
        <p:nvSpPr>
          <p:cNvPr id="1954434033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869253511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>
              <a:defRPr/>
            </a:pPr>
            <a:endParaRPr lang="en-US"/>
          </a:p>
        </p:txBody>
      </p:sp>
      <p:sp>
        <p:nvSpPr>
          <p:cNvPr id="2136540131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5790605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7087376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40964760" name="Date Placeholder 2"/>
          <p:cNvSpPr>
            <a:spLocks noGrp="1"/>
          </p:cNvSpPr>
          <p:nvPr>
            <p:ph type="dt" idx="1"/>
          </p:nvPr>
        </p:nvSpPr>
        <p:spPr bwMode="auto"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r>
              <a:rPr lang="cs-CZ"/>
              <a:t>1.7.2013</a:t>
            </a:r>
            <a:endParaRPr/>
          </a:p>
        </p:txBody>
      </p:sp>
      <p:sp>
        <p:nvSpPr>
          <p:cNvPr id="1130611994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2138093080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>
              <a:defRPr/>
            </a:pPr>
            <a:endParaRPr lang="en-US"/>
          </a:p>
        </p:txBody>
      </p:sp>
      <p:sp>
        <p:nvSpPr>
          <p:cNvPr id="77046645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69472051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3732094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857338327" name="Date Placeholder 2"/>
          <p:cNvSpPr>
            <a:spLocks noGrp="1"/>
          </p:cNvSpPr>
          <p:nvPr>
            <p:ph type="dt" idx="1"/>
          </p:nvPr>
        </p:nvSpPr>
        <p:spPr bwMode="auto"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r>
              <a:rPr lang="cs-CZ"/>
              <a:t>1.7.2013</a:t>
            </a:r>
            <a:endParaRPr/>
          </a:p>
        </p:txBody>
      </p:sp>
      <p:sp>
        <p:nvSpPr>
          <p:cNvPr id="2125195442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241899662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>
              <a:defRPr/>
            </a:pPr>
            <a:endParaRPr lang="en-US"/>
          </a:p>
        </p:txBody>
      </p:sp>
      <p:sp>
        <p:nvSpPr>
          <p:cNvPr id="176722029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606270795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6992317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659189430" name="Date Placeholder 2"/>
          <p:cNvSpPr>
            <a:spLocks noGrp="1"/>
          </p:cNvSpPr>
          <p:nvPr>
            <p:ph type="dt" idx="1"/>
          </p:nvPr>
        </p:nvSpPr>
        <p:spPr bwMode="auto"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r>
              <a:rPr lang="cs-CZ"/>
              <a:t>1.7.2013</a:t>
            </a:r>
            <a:endParaRPr/>
          </a:p>
        </p:txBody>
      </p:sp>
      <p:sp>
        <p:nvSpPr>
          <p:cNvPr id="343780582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509941983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>
              <a:defRPr/>
            </a:pPr>
            <a:endParaRPr lang="en-US"/>
          </a:p>
        </p:txBody>
      </p:sp>
      <p:sp>
        <p:nvSpPr>
          <p:cNvPr id="1215574108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22592546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5781326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99992322" name="Date Placeholder 2"/>
          <p:cNvSpPr>
            <a:spLocks noGrp="1"/>
          </p:cNvSpPr>
          <p:nvPr>
            <p:ph type="dt" idx="1"/>
          </p:nvPr>
        </p:nvSpPr>
        <p:spPr bwMode="auto"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r>
              <a:rPr lang="cs-CZ"/>
              <a:t>1.7.2013</a:t>
            </a:r>
            <a:endParaRPr/>
          </a:p>
        </p:txBody>
      </p:sp>
      <p:sp>
        <p:nvSpPr>
          <p:cNvPr id="695880221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936920733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>
              <a:defRPr/>
            </a:pPr>
            <a:endParaRPr lang="en-US"/>
          </a:p>
        </p:txBody>
      </p:sp>
      <p:sp>
        <p:nvSpPr>
          <p:cNvPr id="1707989979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01531510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8044541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788908211" name="Date Placeholder 2"/>
          <p:cNvSpPr>
            <a:spLocks noGrp="1"/>
          </p:cNvSpPr>
          <p:nvPr>
            <p:ph type="dt" idx="1"/>
          </p:nvPr>
        </p:nvSpPr>
        <p:spPr bwMode="auto"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r>
              <a:rPr lang="cs-CZ"/>
              <a:t>1.7.2013</a:t>
            </a:r>
            <a:endParaRPr/>
          </a:p>
        </p:txBody>
      </p:sp>
      <p:sp>
        <p:nvSpPr>
          <p:cNvPr id="546102014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524855684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>
              <a:defRPr/>
            </a:pPr>
            <a:endParaRPr lang="en-US"/>
          </a:p>
        </p:txBody>
      </p:sp>
      <p:sp>
        <p:nvSpPr>
          <p:cNvPr id="67500387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07922892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815649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12097772" name="Date Placeholder 2"/>
          <p:cNvSpPr>
            <a:spLocks noGrp="1"/>
          </p:cNvSpPr>
          <p:nvPr>
            <p:ph type="dt" idx="1"/>
          </p:nvPr>
        </p:nvSpPr>
        <p:spPr bwMode="auto"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r>
              <a:rPr lang="cs-CZ"/>
              <a:t>1.7.2013</a:t>
            </a:r>
            <a:endParaRPr/>
          </a:p>
        </p:txBody>
      </p:sp>
      <p:sp>
        <p:nvSpPr>
          <p:cNvPr id="1375868182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1618726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>
              <a:defRPr/>
            </a:pPr>
            <a:endParaRPr lang="en-US"/>
          </a:p>
        </p:txBody>
      </p:sp>
      <p:sp>
        <p:nvSpPr>
          <p:cNvPr id="261815654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624786235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7273278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458048711" name="Date Placeholder 2"/>
          <p:cNvSpPr>
            <a:spLocks noGrp="1"/>
          </p:cNvSpPr>
          <p:nvPr>
            <p:ph type="dt" idx="1"/>
          </p:nvPr>
        </p:nvSpPr>
        <p:spPr bwMode="auto"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r>
              <a:rPr lang="cs-CZ"/>
              <a:t>1.7.2013</a:t>
            </a:r>
            <a:endParaRPr/>
          </a:p>
        </p:txBody>
      </p:sp>
      <p:sp>
        <p:nvSpPr>
          <p:cNvPr id="2146031220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236171511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>
              <a:defRPr/>
            </a:pPr>
            <a:endParaRPr lang="en-US"/>
          </a:p>
        </p:txBody>
      </p:sp>
      <p:sp>
        <p:nvSpPr>
          <p:cNvPr id="36054550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88192172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4847521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29337850" name="Date Placeholder 2"/>
          <p:cNvSpPr>
            <a:spLocks noGrp="1"/>
          </p:cNvSpPr>
          <p:nvPr>
            <p:ph type="dt" idx="1"/>
          </p:nvPr>
        </p:nvSpPr>
        <p:spPr bwMode="auto"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r>
              <a:rPr lang="cs-CZ"/>
              <a:t>1.7.2013</a:t>
            </a:r>
            <a:endParaRPr/>
          </a:p>
        </p:txBody>
      </p:sp>
      <p:sp>
        <p:nvSpPr>
          <p:cNvPr id="1962675173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584770888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>
              <a:defRPr/>
            </a:pPr>
            <a:endParaRPr lang="en-US"/>
          </a:p>
        </p:txBody>
      </p:sp>
      <p:sp>
        <p:nvSpPr>
          <p:cNvPr id="831803099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216849322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5515503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82990266" name="Date Placeholder 2"/>
          <p:cNvSpPr>
            <a:spLocks noGrp="1"/>
          </p:cNvSpPr>
          <p:nvPr>
            <p:ph type="dt" idx="1"/>
          </p:nvPr>
        </p:nvSpPr>
        <p:spPr bwMode="auto"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r>
              <a:rPr lang="cs-CZ"/>
              <a:t>1.7.2013</a:t>
            </a:r>
            <a:endParaRPr/>
          </a:p>
        </p:txBody>
      </p:sp>
      <p:sp>
        <p:nvSpPr>
          <p:cNvPr id="2132686117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722277643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>
              <a:defRPr/>
            </a:pPr>
            <a:endParaRPr lang="en-US"/>
          </a:p>
        </p:txBody>
      </p:sp>
      <p:sp>
        <p:nvSpPr>
          <p:cNvPr id="91243733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76447103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4988106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38393058" name="Date Placeholder 2"/>
          <p:cNvSpPr>
            <a:spLocks noGrp="1"/>
          </p:cNvSpPr>
          <p:nvPr>
            <p:ph type="dt" idx="1"/>
          </p:nvPr>
        </p:nvSpPr>
        <p:spPr bwMode="auto"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r>
              <a:rPr lang="cs-CZ"/>
              <a:t>1.7.2013</a:t>
            </a:r>
            <a:endParaRPr/>
          </a:p>
        </p:txBody>
      </p:sp>
      <p:sp>
        <p:nvSpPr>
          <p:cNvPr id="1990225422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991726538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>
              <a:defRPr/>
            </a:pPr>
            <a:endParaRPr lang="en-US"/>
          </a:p>
        </p:txBody>
      </p:sp>
      <p:sp>
        <p:nvSpPr>
          <p:cNvPr id="1335141853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51161003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7594666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880090345" name="Date Placeholder 2"/>
          <p:cNvSpPr>
            <a:spLocks noGrp="1"/>
          </p:cNvSpPr>
          <p:nvPr>
            <p:ph type="dt" idx="1"/>
          </p:nvPr>
        </p:nvSpPr>
        <p:spPr bwMode="auto"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r>
              <a:rPr lang="cs-CZ"/>
              <a:t>1.7.2013</a:t>
            </a:r>
            <a:endParaRPr/>
          </a:p>
        </p:txBody>
      </p:sp>
      <p:sp>
        <p:nvSpPr>
          <p:cNvPr id="1034010006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801850464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>
              <a:defRPr/>
            </a:pPr>
            <a:endParaRPr lang="en-US"/>
          </a:p>
        </p:txBody>
      </p:sp>
      <p:sp>
        <p:nvSpPr>
          <p:cNvPr id="894386841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649721113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370339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18491671" name="Date Placeholder 2"/>
          <p:cNvSpPr>
            <a:spLocks noGrp="1"/>
          </p:cNvSpPr>
          <p:nvPr>
            <p:ph type="dt" idx="1"/>
          </p:nvPr>
        </p:nvSpPr>
        <p:spPr bwMode="auto"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r>
              <a:rPr lang="cs-CZ"/>
              <a:t>1.7.2013</a:t>
            </a:r>
            <a:endParaRPr/>
          </a:p>
        </p:txBody>
      </p:sp>
      <p:sp>
        <p:nvSpPr>
          <p:cNvPr id="1278012273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462001667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>
              <a:defRPr/>
            </a:pPr>
            <a:endParaRPr lang="en-US"/>
          </a:p>
        </p:txBody>
      </p:sp>
      <p:sp>
        <p:nvSpPr>
          <p:cNvPr id="156372957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22689903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185052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39024212" name="Date Placeholder 2"/>
          <p:cNvSpPr>
            <a:spLocks noGrp="1"/>
          </p:cNvSpPr>
          <p:nvPr>
            <p:ph type="dt" idx="1"/>
          </p:nvPr>
        </p:nvSpPr>
        <p:spPr bwMode="auto"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r>
              <a:rPr lang="cs-CZ"/>
              <a:t>1.7.2013</a:t>
            </a:r>
            <a:endParaRPr/>
          </a:p>
        </p:txBody>
      </p:sp>
      <p:sp>
        <p:nvSpPr>
          <p:cNvPr id="1070501158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714101124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>
              <a:defRPr/>
            </a:pPr>
            <a:endParaRPr lang="en-US"/>
          </a:p>
        </p:txBody>
      </p:sp>
      <p:sp>
        <p:nvSpPr>
          <p:cNvPr id="40732155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607320024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62790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690041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84439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606623-4657-3B72-385A-4F02B573317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4461650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43993406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21913152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91948445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8752226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366181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65901851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6495404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93098975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7975370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9169098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5028559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9094224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32378838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7942604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676263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14926289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79565385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2326068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08614860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4857747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697637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5284157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96032498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67058946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5536404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71121723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100688165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66541003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558170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7671695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455795753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56671932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0766935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457131364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10782618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0844955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38670720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3221177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5980254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67777111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3954079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2612736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58168095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138382296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7336930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22281969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8041899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299623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2660715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4189549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26911132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7349614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2345263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35884744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1649239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51499466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0191925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031030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7116544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36741837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72977734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82374899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Relationship Id="rId4" Type="http://schemas.openxmlformats.org/officeDocument/2006/relationships/image" Target="../media/image4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6.png"/><Relationship Id="rId9" Type="http://schemas.openxmlformats.org/officeDocument/2006/relationships/image" Target="../media/image11.png"/><Relationship Id="rId10" Type="http://schemas.openxmlformats.org/officeDocument/2006/relationships/image" Target="../media/image12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18.png"/><Relationship Id="rId5" Type="http://schemas.openxmlformats.org/officeDocument/2006/relationships/image" Target="../media/image6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18.png"/><Relationship Id="rId9" Type="http://schemas.openxmlformats.org/officeDocument/2006/relationships/image" Target="../media/image19.png"/><Relationship Id="rId10" Type="http://schemas.openxmlformats.org/officeDocument/2006/relationships/image" Target="../media/image20.png"/><Relationship Id="rId11" Type="http://schemas.openxmlformats.org/officeDocument/2006/relationships/image" Target="../media/image24.png"/><Relationship Id="rId12" Type="http://schemas.openxmlformats.org/officeDocument/2006/relationships/image" Target="../media/image25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Relationship Id="rId9" Type="http://schemas.openxmlformats.org/officeDocument/2006/relationships/image" Target="../media/image28.png"/><Relationship Id="rId10" Type="http://schemas.openxmlformats.org/officeDocument/2006/relationships/image" Target="../media/image29.png"/><Relationship Id="rId11" Type="http://schemas.openxmlformats.org/officeDocument/2006/relationships/image" Target="../media/image30.png"/><Relationship Id="rId12" Type="http://schemas.openxmlformats.org/officeDocument/2006/relationships/image" Target="../media/image31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32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33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26.png"/><Relationship Id="rId6" Type="http://schemas.openxmlformats.org/officeDocument/2006/relationships/image" Target="../media/image18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34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37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38.png"/><Relationship Id="rId6" Type="http://schemas.openxmlformats.org/officeDocument/2006/relationships/image" Target="../media/image39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18.png"/><Relationship Id="rId6" Type="http://schemas.openxmlformats.org/officeDocument/2006/relationships/image" Target="../media/image40.png"/><Relationship Id="rId7" Type="http://schemas.openxmlformats.org/officeDocument/2006/relationships/image" Target="../media/image41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44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38.png"/><Relationship Id="rId6" Type="http://schemas.openxmlformats.org/officeDocument/2006/relationships/image" Target="../media/image39.png"/><Relationship Id="rId7" Type="http://schemas.openxmlformats.org/officeDocument/2006/relationships/image" Target="../media/image45.png"/><Relationship Id="rId8" Type="http://schemas.openxmlformats.org/officeDocument/2006/relationships/image" Target="../media/image46.png"/><Relationship Id="rId9" Type="http://schemas.openxmlformats.org/officeDocument/2006/relationships/image" Target="../media/image41.pn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Relationship Id="rId4" Type="http://schemas.openxmlformats.org/officeDocument/2006/relationships/image" Target="../media/image47.png"/><Relationship Id="rId5" Type="http://schemas.openxmlformats.org/officeDocument/2006/relationships/image" Target="../media/image6.pn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png"/><Relationship Id="rId4" Type="http://schemas.openxmlformats.org/officeDocument/2006/relationships/image" Target="../media/image36.png"/><Relationship Id="rId5" Type="http://schemas.openxmlformats.org/officeDocument/2006/relationships/image" Target="../media/image6.png"/><Relationship Id="rId6" Type="http://schemas.openxmlformats.org/officeDocument/2006/relationships/image" Target="../media/image48.png"/><Relationship Id="rId7" Type="http://schemas.openxmlformats.org/officeDocument/2006/relationships/image" Target="../media/image49.png"/><Relationship Id="rId8" Type="http://schemas.openxmlformats.org/officeDocument/2006/relationships/image" Target="../media/image50.png"/><Relationship Id="rId9" Type="http://schemas.openxmlformats.org/officeDocument/2006/relationships/image" Target="../media/image51.png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36.png"/><Relationship Id="rId6" Type="http://schemas.openxmlformats.org/officeDocument/2006/relationships/image" Target="../media/image50.png"/><Relationship Id="rId7" Type="http://schemas.openxmlformats.org/officeDocument/2006/relationships/image" Target="../media/image48.png"/><Relationship Id="rId8" Type="http://schemas.openxmlformats.org/officeDocument/2006/relationships/image" Target="../media/image49.png"/><Relationship Id="rId9" Type="http://schemas.openxmlformats.org/officeDocument/2006/relationships/image" Target="../media/image51.png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4.png"/><Relationship Id="rId8" Type="http://schemas.openxmlformats.org/officeDocument/2006/relationships/image" Target="../media/image36.png"/><Relationship Id="rId9" Type="http://schemas.openxmlformats.org/officeDocument/2006/relationships/image" Target="../media/image52.png"/><Relationship Id="rId10" Type="http://schemas.openxmlformats.org/officeDocument/2006/relationships/image" Target="../media/image53.png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4.png"/><Relationship Id="rId8" Type="http://schemas.openxmlformats.org/officeDocument/2006/relationships/image" Target="../media/image54.png"/><Relationship Id="rId9" Type="http://schemas.openxmlformats.org/officeDocument/2006/relationships/image" Target="../media/image55.png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56.png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57.png"/><Relationship Id="rId6" Type="http://schemas.openxmlformats.org/officeDocument/2006/relationships/image" Target="../media/image58.png"/><Relationship Id="rId7" Type="http://schemas.openxmlformats.org/officeDocument/2006/relationships/image" Target="../media/image59.png"/><Relationship Id="rId8" Type="http://schemas.openxmlformats.org/officeDocument/2006/relationships/image" Target="../media/image60.png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1.png"/><Relationship Id="rId4" Type="http://schemas.openxmlformats.org/officeDocument/2006/relationships/image" Target="../media/image62.png"/><Relationship Id="rId5" Type="http://schemas.openxmlformats.org/officeDocument/2006/relationships/image" Target="../media/image63.png"/><Relationship Id="rId6" Type="http://schemas.openxmlformats.org/officeDocument/2006/relationships/image" Target="../media/image64.png"/><Relationship Id="rId7" Type="http://schemas.openxmlformats.org/officeDocument/2006/relationships/image" Target="../media/image58.png"/><Relationship Id="rId8" Type="http://schemas.openxmlformats.org/officeDocument/2006/relationships/image" Target="../media/image65.png"/><Relationship Id="rId9" Type="http://schemas.openxmlformats.org/officeDocument/2006/relationships/image" Target="../media/image66.png"/><Relationship Id="rId10" Type="http://schemas.openxmlformats.org/officeDocument/2006/relationships/image" Target="../media/image67.png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52740688" name="Group 2"/>
          <p:cNvGrpSpPr/>
          <p:nvPr/>
        </p:nvGrpSpPr>
        <p:grpSpPr bwMode="auto">
          <a:xfrm rot="0">
            <a:off x="8479688" y="-1413986"/>
            <a:ext cx="11025264" cy="12034009"/>
            <a:chOff x="0" y="0"/>
            <a:chExt cx="14700352" cy="16045345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-47" y="-95"/>
              <a:ext cx="14700425" cy="16045530"/>
            </a:xfrm>
            <a:custGeom>
              <a:avLst/>
              <a:gdLst/>
              <a:ahLst/>
              <a:cxnLst/>
              <a:rect l="l" t="t" r="r" b="b"/>
              <a:pathLst>
                <a:path w="14700425" h="16045530" fill="norm" stroke="1" extrusionOk="0">
                  <a:moveTo>
                    <a:pt x="13972968" y="1671034"/>
                  </a:moveTo>
                  <a:cubicBezTo>
                    <a:pt x="14373145" y="1758156"/>
                    <a:pt x="14700424" y="2164429"/>
                    <a:pt x="14700424" y="2573877"/>
                  </a:cubicBezTo>
                  <a:lnTo>
                    <a:pt x="14700424" y="15300928"/>
                  </a:lnTo>
                  <a:cubicBezTo>
                    <a:pt x="14700424" y="15710503"/>
                    <a:pt x="14365398" y="16045530"/>
                    <a:pt x="13955823" y="16045530"/>
                  </a:cubicBezTo>
                  <a:lnTo>
                    <a:pt x="532812" y="16045530"/>
                  </a:lnTo>
                  <a:cubicBezTo>
                    <a:pt x="123237" y="16045530"/>
                    <a:pt x="-97489" y="15730569"/>
                    <a:pt x="41703" y="15345633"/>
                  </a:cubicBezTo>
                  <a:lnTo>
                    <a:pt x="5398436" y="559276"/>
                  </a:lnTo>
                  <a:cubicBezTo>
                    <a:pt x="5538009" y="174339"/>
                    <a:pt x="5979588" y="-69374"/>
                    <a:pt x="6379638" y="17621"/>
                  </a:cubicBezTo>
                  <a:lnTo>
                    <a:pt x="13972968" y="1670907"/>
                  </a:lnTo>
                  <a:close/>
                </a:path>
              </a:pathLst>
            </a:custGeom>
            <a:blipFill rotWithShape="1">
              <a:blip r:embed="rId3"/>
              <a:stretch>
                <a:fillRect l="-31861" t="0" r="-31860" b="0"/>
              </a:stretch>
            </a:blipFill>
          </p:spPr>
        </p:sp>
      </p:grpSp>
      <p:grpSp>
        <p:nvGrpSpPr>
          <p:cNvPr id="1391334457" name="Group 5"/>
          <p:cNvGrpSpPr/>
          <p:nvPr/>
        </p:nvGrpSpPr>
        <p:grpSpPr bwMode="auto">
          <a:xfrm rot="0">
            <a:off x="393106" y="249717"/>
            <a:ext cx="3830269" cy="1846736"/>
            <a:chOff x="0" y="0"/>
            <a:chExt cx="5107026" cy="2462314"/>
          </a:xfrm>
        </p:grpSpPr>
        <p:sp>
          <p:nvSpPr>
            <p:cNvPr id="6" name="Freeform 6"/>
            <p:cNvSpPr/>
            <p:nvPr/>
          </p:nvSpPr>
          <p:spPr bwMode="auto">
            <a:xfrm rot="0" flipH="0" flipV="0">
              <a:off x="0" y="0"/>
              <a:ext cx="5107051" cy="2462276"/>
            </a:xfrm>
            <a:custGeom>
              <a:avLst/>
              <a:gdLst/>
              <a:ahLst/>
              <a:cxnLst/>
              <a:rect l="l" t="t" r="r" b="b"/>
              <a:pathLst>
                <a:path w="5107051" h="2462276" fill="norm" stroke="1" extrusionOk="0">
                  <a:moveTo>
                    <a:pt x="0" y="0"/>
                  </a:moveTo>
                  <a:lnTo>
                    <a:pt x="5107051" y="0"/>
                  </a:lnTo>
                  <a:lnTo>
                    <a:pt x="5107051" y="2462276"/>
                  </a:lnTo>
                  <a:lnTo>
                    <a:pt x="0" y="246227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/>
              <a:stretch>
                <a:fillRect l="0" t="0" r="0" b="-1"/>
              </a:stretch>
            </a:blipFill>
          </p:spPr>
        </p:sp>
      </p:grpSp>
      <p:sp>
        <p:nvSpPr>
          <p:cNvPr id="1928411327" name="TextBox 7"/>
          <p:cNvSpPr txBox="1"/>
          <p:nvPr/>
        </p:nvSpPr>
        <p:spPr bwMode="auto">
          <a:xfrm rot="0">
            <a:off x="393106" y="8868908"/>
            <a:ext cx="8920982" cy="12748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  <a:defRPr/>
            </a:pPr>
            <a:r>
              <a:rPr lang="en-US" sz="2300" b="1">
                <a:solidFill>
                  <a:srgbClr val="724DED"/>
                </a:solidFill>
                <a:latin typeface="Neue Montreal Bold"/>
                <a:ea typeface="Neue Montreal Bold"/>
                <a:cs typeface="Neue Montreal Bold"/>
              </a:rPr>
              <a:t>Véronique LEROUX</a:t>
            </a:r>
            <a:endParaRPr/>
          </a:p>
          <a:p>
            <a:pPr algn="l">
              <a:lnSpc>
                <a:spcPts val="3220"/>
              </a:lnSpc>
              <a:defRPr/>
            </a:pPr>
            <a:r>
              <a:rPr lang="en-US" sz="2300" b="1">
                <a:solidFill>
                  <a:srgbClr val="724DED"/>
                </a:solidFill>
                <a:latin typeface="Neue Montreal Bold"/>
                <a:ea typeface="Neue Montreal Bold"/>
                <a:cs typeface="Neue Montreal Bold"/>
              </a:rPr>
              <a:t>AI Engineer</a:t>
            </a:r>
            <a:endParaRPr/>
          </a:p>
          <a:p>
            <a:pPr algn="l">
              <a:lnSpc>
                <a:spcPts val="3220"/>
              </a:lnSpc>
              <a:defRPr/>
            </a:pPr>
            <a:r>
              <a:rPr lang="en-US" sz="2300" b="1">
                <a:solidFill>
                  <a:srgbClr val="724DED"/>
                </a:solidFill>
                <a:latin typeface="Neue Montreal Bold"/>
                <a:ea typeface="Neue Montreal Bold"/>
                <a:cs typeface="Neue Montreal Bold"/>
              </a:rPr>
              <a:t>Décembre 2025</a:t>
            </a:r>
            <a:endParaRPr/>
          </a:p>
        </p:txBody>
      </p:sp>
      <p:sp>
        <p:nvSpPr>
          <p:cNvPr id="2102251550" name="TextBox 8"/>
          <p:cNvSpPr txBox="1"/>
          <p:nvPr/>
        </p:nvSpPr>
        <p:spPr bwMode="auto">
          <a:xfrm rot="0">
            <a:off x="1010298" y="2988516"/>
            <a:ext cx="9252051" cy="2223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40"/>
              </a:lnSpc>
              <a:defRPr/>
            </a:pPr>
            <a:r>
              <a:rPr lang="en-US" sz="7200">
                <a:solidFill>
                  <a:srgbClr val="724DED"/>
                </a:solidFill>
                <a:latin typeface="Arimo"/>
                <a:ea typeface="Arimo"/>
                <a:cs typeface="Arimo"/>
              </a:rPr>
              <a:t>Projet 3  </a:t>
            </a:r>
            <a:endParaRPr/>
          </a:p>
          <a:p>
            <a:pPr algn="l">
              <a:lnSpc>
                <a:spcPts val="8640"/>
              </a:lnSpc>
              <a:defRPr/>
            </a:pPr>
            <a:r>
              <a:rPr lang="en-US" sz="7200">
                <a:solidFill>
                  <a:srgbClr val="724DED"/>
                </a:solidFill>
                <a:latin typeface="Arimo"/>
                <a:ea typeface="Arimo"/>
                <a:cs typeface="Arimo"/>
              </a:rPr>
              <a:t>Modèle ML supervisé</a:t>
            </a:r>
            <a:endParaRPr/>
          </a:p>
        </p:txBody>
      </p:sp>
      <p:sp>
        <p:nvSpPr>
          <p:cNvPr id="1875418442" name="TextBox 9"/>
          <p:cNvSpPr txBox="1"/>
          <p:nvPr/>
        </p:nvSpPr>
        <p:spPr bwMode="auto">
          <a:xfrm rot="0">
            <a:off x="1181262" y="5648030"/>
            <a:ext cx="6540017" cy="1397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2"/>
              </a:lnSpc>
              <a:defRPr/>
            </a:pPr>
            <a:r>
              <a:rPr lang="en-US" sz="2800" i="1">
                <a:solidFill>
                  <a:srgbClr val="724DED"/>
                </a:solidFill>
                <a:latin typeface="Goudy Italics"/>
                <a:ea typeface="Goudy Italics"/>
                <a:cs typeface="Goudy Italics"/>
              </a:rPr>
              <a:t>Analyse des besoins en consommation d’énergie de la ville de Seattle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12125380" name="Group 2"/>
          <p:cNvGrpSpPr/>
          <p:nvPr/>
        </p:nvGrpSpPr>
        <p:grpSpPr bwMode="auto">
          <a:xfrm rot="0">
            <a:off x="9731292" y="-240554"/>
            <a:ext cx="8989790" cy="10906925"/>
            <a:chOff x="0" y="0"/>
            <a:chExt cx="11986387" cy="14542567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-11" y="0"/>
              <a:ext cx="11986397" cy="14542618"/>
            </a:xfrm>
            <a:custGeom>
              <a:avLst/>
              <a:gdLst/>
              <a:ahLst/>
              <a:cxnLst/>
              <a:rect l="l" t="t" r="r" b="b"/>
              <a:pathLst>
                <a:path w="11986398" h="14542618" fill="norm" stroke="1" extrusionOk="0">
                  <a:moveTo>
                    <a:pt x="11311520" y="0"/>
                  </a:moveTo>
                  <a:cubicBezTo>
                    <a:pt x="11682741" y="0"/>
                    <a:pt x="11986398" y="303657"/>
                    <a:pt x="11986398" y="674878"/>
                  </a:cubicBezTo>
                  <a:lnTo>
                    <a:pt x="11986398" y="13996163"/>
                  </a:lnTo>
                  <a:cubicBezTo>
                    <a:pt x="11986398" y="14367383"/>
                    <a:pt x="11689726" y="14606525"/>
                    <a:pt x="11327141" y="14527530"/>
                  </a:cubicBezTo>
                  <a:lnTo>
                    <a:pt x="3617479" y="12849098"/>
                  </a:lnTo>
                  <a:cubicBezTo>
                    <a:pt x="3254767" y="12770231"/>
                    <a:pt x="2885959" y="12410440"/>
                    <a:pt x="2798202" y="12049760"/>
                  </a:cubicBezTo>
                  <a:lnTo>
                    <a:pt x="18680" y="655447"/>
                  </a:lnTo>
                  <a:cubicBezTo>
                    <a:pt x="-69331" y="295148"/>
                    <a:pt x="162190" y="0"/>
                    <a:pt x="533411" y="0"/>
                  </a:cubicBezTo>
                  <a:lnTo>
                    <a:pt x="11311520" y="0"/>
                  </a:lnTo>
                  <a:close/>
                </a:path>
              </a:pathLst>
            </a:custGeom>
            <a:blipFill rotWithShape="1">
              <a:blip r:embed="rId3"/>
              <a:stretch>
                <a:fillRect l="-40994" t="0" r="-40994" b="0"/>
              </a:stretch>
            </a:blipFill>
          </p:spPr>
        </p:sp>
      </p:grpSp>
      <p:sp>
        <p:nvSpPr>
          <p:cNvPr id="1317402592" name="Freeform 4"/>
          <p:cNvSpPr/>
          <p:nvPr/>
        </p:nvSpPr>
        <p:spPr bwMode="auto">
          <a:xfrm rot="0" flipH="0" flipV="0">
            <a:off x="-152559" y="9691267"/>
            <a:ext cx="19007803" cy="614058"/>
          </a:xfrm>
          <a:custGeom>
            <a:avLst/>
            <a:gdLst/>
            <a:ahLst/>
            <a:cxnLst/>
            <a:rect l="l" t="t" r="r" b="b"/>
            <a:pathLst>
              <a:path w="19007803" h="614058" fill="norm" stroke="1" extrusionOk="0">
                <a:moveTo>
                  <a:pt x="0" y="0"/>
                </a:moveTo>
                <a:lnTo>
                  <a:pt x="19007803" y="0"/>
                </a:lnTo>
                <a:lnTo>
                  <a:pt x="19007803" y="614058"/>
                </a:lnTo>
                <a:lnTo>
                  <a:pt x="0" y="6140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/>
            <a:stretch>
              <a:fillRect l="0" t="0" r="0" b="0"/>
            </a:stretch>
          </a:blipFill>
        </p:spPr>
      </p:sp>
      <p:sp>
        <p:nvSpPr>
          <p:cNvPr id="509935766" name="TextBox 5"/>
          <p:cNvSpPr txBox="1"/>
          <p:nvPr/>
        </p:nvSpPr>
        <p:spPr bwMode="auto">
          <a:xfrm rot="0">
            <a:off x="2127361" y="1329919"/>
            <a:ext cx="12444546" cy="1724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200"/>
              </a:lnSpc>
              <a:defRPr/>
            </a:pPr>
            <a:r>
              <a:rPr lang="en-US" sz="11000" spc="-660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100000">
                      <a:srgbClr val="CB6CE6">
                        <a:alpha val="100000"/>
                      </a:srgbClr>
                    </a:gs>
                  </a:gsLst>
                  <a:lin ang="0" scaled="1"/>
                </a:gradFill>
                <a:latin typeface="Arimo"/>
                <a:ea typeface="Arimo"/>
                <a:cs typeface="Arimo"/>
              </a:rPr>
              <a:t>Sommaire</a:t>
            </a:r>
            <a:endParaRPr/>
          </a:p>
        </p:txBody>
      </p:sp>
      <p:sp>
        <p:nvSpPr>
          <p:cNvPr id="1697864722" name="TextBox 6"/>
          <p:cNvSpPr txBox="1"/>
          <p:nvPr/>
        </p:nvSpPr>
        <p:spPr bwMode="auto">
          <a:xfrm rot="0">
            <a:off x="4606214" y="3496579"/>
            <a:ext cx="8883348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00"/>
              </a:lnSpc>
              <a:defRPr/>
            </a:pPr>
            <a:r>
              <a:rPr lang="en-US" sz="300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Contexte du projet</a:t>
            </a:r>
            <a:endParaRPr/>
          </a:p>
        </p:txBody>
      </p:sp>
      <p:sp>
        <p:nvSpPr>
          <p:cNvPr id="1926857089" name="TextBox 7"/>
          <p:cNvSpPr txBox="1"/>
          <p:nvPr/>
        </p:nvSpPr>
        <p:spPr bwMode="auto">
          <a:xfrm rot="0">
            <a:off x="3698005" y="3358744"/>
            <a:ext cx="908209" cy="752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99"/>
              </a:lnSpc>
              <a:defRPr/>
            </a:pPr>
            <a:r>
              <a:rPr lang="en-US" sz="4000" b="1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100000">
                      <a:srgbClr val="CB6CE6">
                        <a:alpha val="100000"/>
                      </a:srgbClr>
                    </a:gs>
                  </a:gsLst>
                  <a:lin ang="0" scaled="1"/>
                </a:gradFill>
                <a:latin typeface="Goudy Bold"/>
                <a:ea typeface="Goudy Bold"/>
                <a:cs typeface="Goudy Bold"/>
              </a:rPr>
              <a:t>01</a:t>
            </a:r>
            <a:endParaRPr/>
          </a:p>
        </p:txBody>
      </p:sp>
      <p:sp>
        <p:nvSpPr>
          <p:cNvPr id="992616435" name="TextBox 8"/>
          <p:cNvSpPr txBox="1"/>
          <p:nvPr/>
        </p:nvSpPr>
        <p:spPr bwMode="auto">
          <a:xfrm rot="0">
            <a:off x="3698005" y="4169550"/>
            <a:ext cx="908209" cy="752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99"/>
              </a:lnSpc>
              <a:defRPr/>
            </a:pPr>
            <a:r>
              <a:rPr lang="en-US" sz="4000" b="1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100000">
                      <a:srgbClr val="CB6CE6">
                        <a:alpha val="100000"/>
                      </a:srgbClr>
                    </a:gs>
                  </a:gsLst>
                  <a:lin ang="0" scaled="1"/>
                </a:gradFill>
                <a:latin typeface="Goudy Bold"/>
                <a:ea typeface="Goudy Bold"/>
                <a:cs typeface="Goudy Bold"/>
              </a:rPr>
              <a:t>02</a:t>
            </a:r>
            <a:endParaRPr/>
          </a:p>
        </p:txBody>
      </p:sp>
      <p:sp>
        <p:nvSpPr>
          <p:cNvPr id="1917467328" name="TextBox 9"/>
          <p:cNvSpPr txBox="1"/>
          <p:nvPr/>
        </p:nvSpPr>
        <p:spPr bwMode="auto">
          <a:xfrm rot="0">
            <a:off x="4606214" y="4337714"/>
            <a:ext cx="8883348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98"/>
              </a:lnSpc>
              <a:defRPr/>
            </a:pPr>
            <a:r>
              <a:rPr lang="en-US" sz="300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Analyse Exploratoire</a:t>
            </a:r>
            <a:endParaRPr/>
          </a:p>
        </p:txBody>
      </p:sp>
      <p:sp>
        <p:nvSpPr>
          <p:cNvPr id="878025946" name="TextBox 10"/>
          <p:cNvSpPr txBox="1"/>
          <p:nvPr/>
        </p:nvSpPr>
        <p:spPr bwMode="auto">
          <a:xfrm rot="0">
            <a:off x="3698005" y="5004464"/>
            <a:ext cx="908209" cy="752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99"/>
              </a:lnSpc>
              <a:defRPr/>
            </a:pPr>
            <a:r>
              <a:rPr lang="en-US" sz="4000" b="1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100000">
                      <a:srgbClr val="CB6CE6">
                        <a:alpha val="100000"/>
                      </a:srgbClr>
                    </a:gs>
                  </a:gsLst>
                  <a:lin ang="0" scaled="1"/>
                </a:gradFill>
                <a:latin typeface="Goudy Bold"/>
                <a:ea typeface="Goudy Bold"/>
                <a:cs typeface="Goudy Bold"/>
              </a:rPr>
              <a:t>03</a:t>
            </a:r>
            <a:endParaRPr/>
          </a:p>
        </p:txBody>
      </p:sp>
      <p:sp>
        <p:nvSpPr>
          <p:cNvPr id="2037215596" name="TextBox 11"/>
          <p:cNvSpPr txBox="1"/>
          <p:nvPr/>
        </p:nvSpPr>
        <p:spPr bwMode="auto">
          <a:xfrm rot="0">
            <a:off x="3698005" y="5842702"/>
            <a:ext cx="908209" cy="752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99"/>
              </a:lnSpc>
              <a:defRPr/>
            </a:pPr>
            <a:r>
              <a:rPr lang="en-US" sz="4000" b="1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100000">
                      <a:srgbClr val="CB6CE6">
                        <a:alpha val="100000"/>
                      </a:srgbClr>
                    </a:gs>
                  </a:gsLst>
                  <a:lin ang="0" scaled="1"/>
                </a:gradFill>
                <a:latin typeface="Goudy Bold"/>
                <a:ea typeface="Goudy Bold"/>
                <a:cs typeface="Goudy Bold"/>
              </a:rPr>
              <a:t>04</a:t>
            </a:r>
            <a:endParaRPr/>
          </a:p>
        </p:txBody>
      </p:sp>
      <p:sp>
        <p:nvSpPr>
          <p:cNvPr id="1448198586" name="TextBox 12"/>
          <p:cNvSpPr txBox="1"/>
          <p:nvPr/>
        </p:nvSpPr>
        <p:spPr bwMode="auto">
          <a:xfrm rot="0">
            <a:off x="4703578" y="5147347"/>
            <a:ext cx="8883348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98"/>
              </a:lnSpc>
              <a:defRPr/>
            </a:pPr>
            <a:r>
              <a:rPr lang="en-US" sz="300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Modélisation</a:t>
            </a:r>
            <a:endParaRPr/>
          </a:p>
        </p:txBody>
      </p:sp>
      <p:sp>
        <p:nvSpPr>
          <p:cNvPr id="1809861514" name="TextBox 13"/>
          <p:cNvSpPr txBox="1"/>
          <p:nvPr/>
        </p:nvSpPr>
        <p:spPr bwMode="auto">
          <a:xfrm rot="0">
            <a:off x="4703578" y="5956973"/>
            <a:ext cx="8883348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98"/>
              </a:lnSpc>
              <a:defRPr/>
            </a:pPr>
            <a:r>
              <a:rPr lang="en-US" sz="300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Conclusion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423760" name="Freeform 2"/>
          <p:cNvSpPr/>
          <p:nvPr/>
        </p:nvSpPr>
        <p:spPr bwMode="auto">
          <a:xfrm rot="0" flipH="0" flipV="0">
            <a:off x="-920930" y="9855738"/>
            <a:ext cx="19472219" cy="431262"/>
          </a:xfrm>
          <a:custGeom>
            <a:avLst/>
            <a:gdLst/>
            <a:ahLst/>
            <a:cxnLst/>
            <a:rect l="l" t="t" r="r" b="b"/>
            <a:pathLst>
              <a:path w="19472219" h="431262" fill="norm" stroke="1" extrusionOk="0">
                <a:moveTo>
                  <a:pt x="0" y="0"/>
                </a:moveTo>
                <a:lnTo>
                  <a:pt x="19472219" y="0"/>
                </a:lnTo>
                <a:lnTo>
                  <a:pt x="19472219" y="431262"/>
                </a:lnTo>
                <a:lnTo>
                  <a:pt x="0" y="4312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 l="0" t="0" r="0" b="0"/>
            </a:stretch>
          </a:blipFill>
        </p:spPr>
      </p:sp>
      <p:grpSp>
        <p:nvGrpSpPr>
          <p:cNvPr id="866439126" name="Group 3"/>
          <p:cNvGrpSpPr/>
          <p:nvPr/>
        </p:nvGrpSpPr>
        <p:grpSpPr bwMode="auto">
          <a:xfrm rot="5400000">
            <a:off x="424539" y="-501329"/>
            <a:ext cx="6989568" cy="7992237"/>
            <a:chOff x="0" y="0"/>
            <a:chExt cx="9319424" cy="10656316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9319387" cy="10656316"/>
            </a:xfrm>
            <a:custGeom>
              <a:avLst/>
              <a:gdLst/>
              <a:ahLst/>
              <a:cxnLst/>
              <a:rect l="l" t="t" r="r" b="b"/>
              <a:pathLst>
                <a:path w="9319387" h="10656316" fill="norm" stroke="1" extrusionOk="0">
                  <a:moveTo>
                    <a:pt x="0" y="0"/>
                  </a:moveTo>
                  <a:lnTo>
                    <a:pt x="9319387" y="0"/>
                  </a:lnTo>
                  <a:lnTo>
                    <a:pt x="9319387" y="10656316"/>
                  </a:lnTo>
                  <a:lnTo>
                    <a:pt x="0" y="1065631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/>
              <a:stretch>
                <a:fillRect l="0" t="-23" r="0" b="-22"/>
              </a:stretch>
            </a:blipFill>
          </p:spPr>
        </p:sp>
      </p:grpSp>
      <p:sp>
        <p:nvSpPr>
          <p:cNvPr id="528929703" name="TextBox 5"/>
          <p:cNvSpPr txBox="1"/>
          <p:nvPr/>
        </p:nvSpPr>
        <p:spPr bwMode="auto">
          <a:xfrm rot="0">
            <a:off x="4444441" y="4089806"/>
            <a:ext cx="12728200" cy="3057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0"/>
              </a:lnSpc>
              <a:defRPr/>
            </a:pPr>
            <a:r>
              <a:rPr lang="en-US" sz="23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</a:rPr>
              <a:t>Objectif</a:t>
            </a:r>
            <a:r>
              <a:rPr lang="en-US" sz="23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: </a:t>
            </a:r>
            <a:endParaRPr/>
          </a:p>
          <a:p>
            <a:pPr marL="525781" lvl="2" indent="-175260" algn="l">
              <a:lnSpc>
                <a:spcPts val="2990"/>
              </a:lnSpc>
              <a:buFont typeface="Arial"/>
              <a:buChar char="⚬"/>
              <a:defRPr/>
            </a:pPr>
            <a:r>
              <a:rPr lang="en-US" sz="23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Aider la ville de Seattle à atteindre son objectif de neutralité carbone en 2050  </a:t>
            </a:r>
            <a:endParaRPr/>
          </a:p>
          <a:p>
            <a:pPr marL="525781" lvl="2" indent="-175260" algn="l">
              <a:lnSpc>
                <a:spcPts val="2990"/>
              </a:lnSpc>
              <a:buFont typeface="Arial"/>
              <a:buChar char="⚬"/>
              <a:defRPr/>
            </a:pPr>
            <a:r>
              <a:rPr lang="en-US" sz="23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Focus sur des bâtiments non résidentiels à partir de leurs caractéristiques structurelles.</a:t>
            </a:r>
            <a:endParaRPr/>
          </a:p>
          <a:p>
            <a:pPr marL="525781" lvl="2" indent="-175260" algn="l">
              <a:lnSpc>
                <a:spcPts val="2990"/>
              </a:lnSpc>
              <a:defRPr/>
            </a:pPr>
            <a:endParaRPr/>
          </a:p>
          <a:p>
            <a:pPr marL="525781" lvl="2" indent="-175260" algn="l">
              <a:lnSpc>
                <a:spcPts val="2990"/>
              </a:lnSpc>
              <a:defRPr/>
            </a:pPr>
            <a:r>
              <a:rPr lang="en-US" sz="23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</a:rPr>
              <a:t>Moyen :</a:t>
            </a:r>
            <a:endParaRPr/>
          </a:p>
          <a:p>
            <a:pPr marL="525781" lvl="2" indent="-175260" algn="l">
              <a:lnSpc>
                <a:spcPts val="2990"/>
              </a:lnSpc>
              <a:buFont typeface="Arial"/>
              <a:buChar char="⚬"/>
              <a:defRPr/>
            </a:pPr>
            <a:r>
              <a:rPr lang="en-US" sz="23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en prédiction de la consommation d’énergie</a:t>
            </a:r>
            <a:endParaRPr/>
          </a:p>
          <a:p>
            <a:pPr marL="525781" lvl="2" indent="-175260" algn="l">
              <a:lnSpc>
                <a:spcPts val="2990"/>
              </a:lnSpc>
              <a:defRPr/>
            </a:pPr>
            <a:endParaRPr/>
          </a:p>
          <a:p>
            <a:pPr marL="525781" lvl="2" indent="-175260" algn="l">
              <a:lnSpc>
                <a:spcPts val="2990"/>
              </a:lnSpc>
              <a:defRPr/>
            </a:pPr>
            <a:r>
              <a:rPr lang="en-US" sz="23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</a:rPr>
              <a:t>Données</a:t>
            </a:r>
            <a:r>
              <a:rPr lang="en-US" sz="23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: Relevés de consommation énergétique des bâtiments de Seattle en 2016</a:t>
            </a:r>
            <a:endParaRPr/>
          </a:p>
        </p:txBody>
      </p:sp>
      <p:sp>
        <p:nvSpPr>
          <p:cNvPr id="2004620817" name="TextBox 6"/>
          <p:cNvSpPr txBox="1"/>
          <p:nvPr/>
        </p:nvSpPr>
        <p:spPr bwMode="auto">
          <a:xfrm rot="0">
            <a:off x="2870587" y="1387326"/>
            <a:ext cx="10468851" cy="1425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919"/>
              </a:lnSpc>
              <a:defRPr/>
            </a:pPr>
            <a:r>
              <a:rPr lang="en-US" sz="9100" spc="-545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100000">
                      <a:srgbClr val="CB6CE6">
                        <a:alpha val="100000"/>
                      </a:srgbClr>
                    </a:gs>
                  </a:gsLst>
                  <a:lin ang="0" scaled="1"/>
                </a:gradFill>
                <a:latin typeface="Arimo"/>
                <a:ea typeface="Arimo"/>
                <a:cs typeface="Arimo"/>
              </a:rPr>
              <a:t>Contexte</a:t>
            </a:r>
            <a:endParaRPr/>
          </a:p>
        </p:txBody>
      </p:sp>
      <p:sp>
        <p:nvSpPr>
          <p:cNvPr id="248166152" name="TextBox 7"/>
          <p:cNvSpPr txBox="1"/>
          <p:nvPr/>
        </p:nvSpPr>
        <p:spPr bwMode="auto">
          <a:xfrm rot="0">
            <a:off x="3560529" y="3135667"/>
            <a:ext cx="11171970" cy="990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98"/>
              </a:lnSpc>
              <a:defRPr/>
            </a:pP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Anticipez les besoins en consommations d</a:t>
            </a:r>
            <a:r>
              <a:rPr lang="fr-FR" sz="30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’</a:t>
            </a:r>
            <a:r>
              <a:rPr lang="fr-FR" sz="30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énergie des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bâtiments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3563008" name="Freeform 2"/>
          <p:cNvSpPr/>
          <p:nvPr/>
        </p:nvSpPr>
        <p:spPr bwMode="auto">
          <a:xfrm rot="0" flipH="0" flipV="0">
            <a:off x="-18579" y="9871464"/>
            <a:ext cx="18325169" cy="444593"/>
          </a:xfrm>
          <a:custGeom>
            <a:avLst/>
            <a:gdLst/>
            <a:ahLst/>
            <a:cxnLst/>
            <a:rect l="l" t="t" r="r" b="b"/>
            <a:pathLst>
              <a:path w="19264134" h="426654" fill="norm" stroke="1" extrusionOk="0">
                <a:moveTo>
                  <a:pt x="0" y="0"/>
                </a:moveTo>
                <a:lnTo>
                  <a:pt x="19264134" y="0"/>
                </a:lnTo>
                <a:lnTo>
                  <a:pt x="19264134" y="426654"/>
                </a:lnTo>
                <a:lnTo>
                  <a:pt x="0" y="4266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 l="0" t="0" r="0" b="0"/>
            </a:stretch>
          </a:blipFill>
        </p:spPr>
      </p:sp>
      <p:grpSp>
        <p:nvGrpSpPr>
          <p:cNvPr id="1285456024" name="Group 3"/>
          <p:cNvGrpSpPr/>
          <p:nvPr/>
        </p:nvGrpSpPr>
        <p:grpSpPr bwMode="auto">
          <a:xfrm rot="0">
            <a:off x="4229224" y="7252878"/>
            <a:ext cx="3266170" cy="1454915"/>
            <a:chOff x="0" y="0"/>
            <a:chExt cx="4354894" cy="1939887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4354830" cy="1939925"/>
            </a:xfrm>
            <a:custGeom>
              <a:avLst/>
              <a:gdLst/>
              <a:ahLst/>
              <a:cxnLst/>
              <a:rect l="l" t="t" r="r" b="b"/>
              <a:pathLst>
                <a:path w="4354830" h="1939925" fill="norm" stroke="1" extrusionOk="0">
                  <a:moveTo>
                    <a:pt x="0" y="0"/>
                  </a:moveTo>
                  <a:lnTo>
                    <a:pt x="4354830" y="0"/>
                  </a:lnTo>
                  <a:lnTo>
                    <a:pt x="4354830" y="1939925"/>
                  </a:lnTo>
                  <a:lnTo>
                    <a:pt x="0" y="19399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/>
              <a:stretch>
                <a:fillRect l="0" t="-6123" r="-1" b="-6120"/>
              </a:stretch>
            </a:blipFill>
          </p:spPr>
        </p:sp>
      </p:grpSp>
      <p:grpSp>
        <p:nvGrpSpPr>
          <p:cNvPr id="271734118" name="Group 5"/>
          <p:cNvGrpSpPr/>
          <p:nvPr/>
        </p:nvGrpSpPr>
        <p:grpSpPr bwMode="auto">
          <a:xfrm rot="0">
            <a:off x="7895025" y="7493594"/>
            <a:ext cx="828351" cy="973483"/>
            <a:chOff x="0" y="0"/>
            <a:chExt cx="1104468" cy="1297978"/>
          </a:xfrm>
        </p:grpSpPr>
        <p:sp>
          <p:nvSpPr>
            <p:cNvPr id="6" name="Freeform 6"/>
            <p:cNvSpPr/>
            <p:nvPr/>
          </p:nvSpPr>
          <p:spPr bwMode="auto">
            <a:xfrm rot="0" flipH="0" flipV="0">
              <a:off x="0" y="0"/>
              <a:ext cx="1104519" cy="1297940"/>
            </a:xfrm>
            <a:custGeom>
              <a:avLst/>
              <a:gdLst/>
              <a:ahLst/>
              <a:cxnLst/>
              <a:rect l="l" t="t" r="r" b="b"/>
              <a:pathLst>
                <a:path w="1104519" h="1297940" fill="norm" stroke="1" extrusionOk="0">
                  <a:moveTo>
                    <a:pt x="0" y="0"/>
                  </a:moveTo>
                  <a:lnTo>
                    <a:pt x="1104519" y="0"/>
                  </a:lnTo>
                  <a:lnTo>
                    <a:pt x="1104519" y="1297940"/>
                  </a:lnTo>
                  <a:lnTo>
                    <a:pt x="0" y="129794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/>
              <a:stretch>
                <a:fillRect l="-113" t="0" r="-108" b="-1"/>
              </a:stretch>
            </a:blipFill>
          </p:spPr>
        </p:sp>
      </p:grpSp>
      <p:grpSp>
        <p:nvGrpSpPr>
          <p:cNvPr id="582139364" name="Group 7"/>
          <p:cNvGrpSpPr/>
          <p:nvPr/>
        </p:nvGrpSpPr>
        <p:grpSpPr bwMode="auto">
          <a:xfrm rot="0">
            <a:off x="9527448" y="7561450"/>
            <a:ext cx="828351" cy="837771"/>
            <a:chOff x="0" y="0"/>
            <a:chExt cx="1104468" cy="1117028"/>
          </a:xfrm>
        </p:grpSpPr>
        <p:sp>
          <p:nvSpPr>
            <p:cNvPr id="8" name="Freeform 8"/>
            <p:cNvSpPr/>
            <p:nvPr/>
          </p:nvSpPr>
          <p:spPr bwMode="auto">
            <a:xfrm rot="0" flipH="0" flipV="0">
              <a:off x="0" y="0"/>
              <a:ext cx="1104519" cy="1117092"/>
            </a:xfrm>
            <a:custGeom>
              <a:avLst/>
              <a:gdLst/>
              <a:ahLst/>
              <a:cxnLst/>
              <a:rect l="l" t="t" r="r" b="b"/>
              <a:pathLst>
                <a:path w="1104519" h="1117092" fill="norm" stroke="1" extrusionOk="0">
                  <a:moveTo>
                    <a:pt x="0" y="0"/>
                  </a:moveTo>
                  <a:lnTo>
                    <a:pt x="1104519" y="0"/>
                  </a:lnTo>
                  <a:lnTo>
                    <a:pt x="1104519" y="1117092"/>
                  </a:lnTo>
                  <a:lnTo>
                    <a:pt x="0" y="111709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/>
              <a:stretch>
                <a:fillRect l="0" t="-19" r="4" b="-13"/>
              </a:stretch>
            </a:blipFill>
          </p:spPr>
        </p:sp>
      </p:grpSp>
      <p:grpSp>
        <p:nvGrpSpPr>
          <p:cNvPr id="2146757662" name="Group 9"/>
          <p:cNvGrpSpPr/>
          <p:nvPr/>
        </p:nvGrpSpPr>
        <p:grpSpPr bwMode="auto">
          <a:xfrm rot="0">
            <a:off x="11255559" y="7671311"/>
            <a:ext cx="3586715" cy="618049"/>
            <a:chOff x="0" y="0"/>
            <a:chExt cx="4782287" cy="824065"/>
          </a:xfrm>
        </p:grpSpPr>
        <p:sp>
          <p:nvSpPr>
            <p:cNvPr id="10" name="Freeform 10"/>
            <p:cNvSpPr/>
            <p:nvPr/>
          </p:nvSpPr>
          <p:spPr bwMode="auto">
            <a:xfrm rot="0" flipH="0" flipV="0">
              <a:off x="0" y="0"/>
              <a:ext cx="4782312" cy="824102"/>
            </a:xfrm>
            <a:custGeom>
              <a:avLst/>
              <a:gdLst/>
              <a:ahLst/>
              <a:cxnLst/>
              <a:rect l="l" t="t" r="r" b="b"/>
              <a:pathLst>
                <a:path w="4782312" h="824103" fill="norm" stroke="1" extrusionOk="0">
                  <a:moveTo>
                    <a:pt x="0" y="0"/>
                  </a:moveTo>
                  <a:lnTo>
                    <a:pt x="4782312" y="0"/>
                  </a:lnTo>
                  <a:lnTo>
                    <a:pt x="4782312" y="824103"/>
                  </a:lnTo>
                  <a:lnTo>
                    <a:pt x="0" y="82410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/>
              <a:stretch>
                <a:fillRect l="0" t="0" r="0" b="4"/>
              </a:stretch>
            </a:blipFill>
          </p:spPr>
        </p:sp>
      </p:grpSp>
      <p:grpSp>
        <p:nvGrpSpPr>
          <p:cNvPr id="427198635" name="Group 11"/>
          <p:cNvGrpSpPr/>
          <p:nvPr/>
        </p:nvGrpSpPr>
        <p:grpSpPr bwMode="auto">
          <a:xfrm rot="5400000">
            <a:off x="501329" y="-539658"/>
            <a:ext cx="6989568" cy="7992237"/>
            <a:chOff x="0" y="0"/>
            <a:chExt cx="9319424" cy="10656316"/>
          </a:xfrm>
        </p:grpSpPr>
        <p:sp>
          <p:nvSpPr>
            <p:cNvPr id="12" name="Freeform 12"/>
            <p:cNvSpPr/>
            <p:nvPr/>
          </p:nvSpPr>
          <p:spPr bwMode="auto">
            <a:xfrm rot="0" flipH="0" flipV="0">
              <a:off x="0" y="0"/>
              <a:ext cx="9319387" cy="10656316"/>
            </a:xfrm>
            <a:custGeom>
              <a:avLst/>
              <a:gdLst/>
              <a:ahLst/>
              <a:cxnLst/>
              <a:rect l="l" t="t" r="r" b="b"/>
              <a:pathLst>
                <a:path w="9319387" h="10656316" fill="norm" stroke="1" extrusionOk="0">
                  <a:moveTo>
                    <a:pt x="0" y="0"/>
                  </a:moveTo>
                  <a:lnTo>
                    <a:pt x="9319387" y="0"/>
                  </a:lnTo>
                  <a:lnTo>
                    <a:pt x="9319387" y="10656316"/>
                  </a:lnTo>
                  <a:lnTo>
                    <a:pt x="0" y="1065631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/>
              <a:stretch>
                <a:fillRect l="0" t="-23" r="0" b="-22"/>
              </a:stretch>
            </a:blipFill>
          </p:spPr>
        </p:sp>
      </p:grpSp>
      <p:grpSp>
        <p:nvGrpSpPr>
          <p:cNvPr id="649764941" name="Group 13"/>
          <p:cNvGrpSpPr/>
          <p:nvPr/>
        </p:nvGrpSpPr>
        <p:grpSpPr bwMode="auto">
          <a:xfrm rot="0">
            <a:off x="5452710" y="6126966"/>
            <a:ext cx="7315200" cy="64008"/>
            <a:chOff x="0" y="0"/>
            <a:chExt cx="9753600" cy="85344"/>
          </a:xfrm>
        </p:grpSpPr>
        <p:sp>
          <p:nvSpPr>
            <p:cNvPr id="14" name="Freeform 14"/>
            <p:cNvSpPr/>
            <p:nvPr/>
          </p:nvSpPr>
          <p:spPr bwMode="auto">
            <a:xfrm rot="0" flipH="0" flipV="0">
              <a:off x="0" y="0"/>
              <a:ext cx="9753600" cy="85344"/>
            </a:xfrm>
            <a:custGeom>
              <a:avLst/>
              <a:gdLst/>
              <a:ahLst/>
              <a:cxnLst/>
              <a:rect l="l" t="t" r="r" b="b"/>
              <a:pathLst>
                <a:path w="9753600" h="85344" fill="norm" stroke="1" extrusionOk="0">
                  <a:moveTo>
                    <a:pt x="0" y="0"/>
                  </a:moveTo>
                  <a:lnTo>
                    <a:pt x="9753600" y="0"/>
                  </a:lnTo>
                  <a:lnTo>
                    <a:pt x="9753600" y="85344"/>
                  </a:lnTo>
                  <a:lnTo>
                    <a:pt x="0" y="8534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9"/>
              <a:stretch>
                <a:fillRect l="0" t="-1949" r="0" b="-1947"/>
              </a:stretch>
            </a:blipFill>
          </p:spPr>
        </p:sp>
      </p:grpSp>
      <p:sp>
        <p:nvSpPr>
          <p:cNvPr id="593562181" name="TextBox 15"/>
          <p:cNvSpPr txBox="1"/>
          <p:nvPr/>
        </p:nvSpPr>
        <p:spPr bwMode="auto">
          <a:xfrm rot="0">
            <a:off x="3209514" y="4506325"/>
            <a:ext cx="2713711" cy="497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11"/>
              </a:lnSpc>
              <a:defRPr/>
            </a:pPr>
            <a:r>
              <a:rPr lang="en-US" sz="2650">
                <a:solidFill>
                  <a:srgbClr val="004AAD"/>
                </a:solidFill>
                <a:latin typeface="Montserrat"/>
                <a:ea typeface="Montserrat"/>
                <a:cs typeface="Montserrat"/>
              </a:rPr>
              <a:t>Pandas</a:t>
            </a:r>
            <a:endParaRPr/>
          </a:p>
        </p:txBody>
      </p:sp>
      <p:sp>
        <p:nvSpPr>
          <p:cNvPr id="2055579083" name="TextBox 16"/>
          <p:cNvSpPr txBox="1"/>
          <p:nvPr/>
        </p:nvSpPr>
        <p:spPr bwMode="auto">
          <a:xfrm rot="0">
            <a:off x="3209514" y="4950657"/>
            <a:ext cx="2713711" cy="497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11"/>
              </a:lnSpc>
              <a:defRPr/>
            </a:pPr>
            <a:r>
              <a:rPr lang="en-US" sz="2650">
                <a:solidFill>
                  <a:srgbClr val="004AAD"/>
                </a:solidFill>
                <a:latin typeface="Montserrat"/>
                <a:ea typeface="Montserrat"/>
                <a:cs typeface="Montserrat"/>
              </a:rPr>
              <a:t>Numphy</a:t>
            </a:r>
            <a:endParaRPr/>
          </a:p>
        </p:txBody>
      </p:sp>
      <p:sp>
        <p:nvSpPr>
          <p:cNvPr id="673381821" name="TextBox 17"/>
          <p:cNvSpPr txBox="1"/>
          <p:nvPr/>
        </p:nvSpPr>
        <p:spPr bwMode="auto">
          <a:xfrm rot="0">
            <a:off x="3097139" y="4055783"/>
            <a:ext cx="4530185" cy="497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11"/>
              </a:lnSpc>
              <a:defRPr/>
            </a:pPr>
            <a:r>
              <a:rPr lang="en-US" sz="2650" b="1">
                <a:solidFill>
                  <a:srgbClr val="004AAD"/>
                </a:solidFill>
                <a:latin typeface="Montserrat Bold"/>
                <a:ea typeface="Montserrat Bold"/>
                <a:cs typeface="Montserrat Bold"/>
              </a:rPr>
              <a:t>Manipulation de données</a:t>
            </a:r>
            <a:endParaRPr/>
          </a:p>
        </p:txBody>
      </p:sp>
      <p:sp>
        <p:nvSpPr>
          <p:cNvPr id="896800528" name="TextBox 18"/>
          <p:cNvSpPr txBox="1"/>
          <p:nvPr/>
        </p:nvSpPr>
        <p:spPr bwMode="auto">
          <a:xfrm rot="0">
            <a:off x="8583740" y="4095874"/>
            <a:ext cx="2259387" cy="497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11"/>
              </a:lnSpc>
              <a:defRPr/>
            </a:pPr>
            <a:r>
              <a:rPr lang="en-US" sz="2650" b="1">
                <a:solidFill>
                  <a:srgbClr val="004AAD"/>
                </a:solidFill>
                <a:latin typeface="Montserrat Bold"/>
                <a:ea typeface="Montserrat Bold"/>
                <a:cs typeface="Montserrat Bold"/>
              </a:rPr>
              <a:t>Visualisation</a:t>
            </a:r>
            <a:endParaRPr/>
          </a:p>
        </p:txBody>
      </p:sp>
      <p:sp>
        <p:nvSpPr>
          <p:cNvPr id="268070775" name="TextBox 19"/>
          <p:cNvSpPr txBox="1"/>
          <p:nvPr/>
        </p:nvSpPr>
        <p:spPr bwMode="auto">
          <a:xfrm rot="0">
            <a:off x="8744274" y="4533671"/>
            <a:ext cx="2713711" cy="497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11"/>
              </a:lnSpc>
              <a:defRPr/>
            </a:pPr>
            <a:r>
              <a:rPr lang="en-US" sz="2650">
                <a:solidFill>
                  <a:srgbClr val="004AAD"/>
                </a:solidFill>
                <a:latin typeface="Montserrat"/>
                <a:ea typeface="Montserrat"/>
                <a:cs typeface="Montserrat"/>
              </a:rPr>
              <a:t>matplotlib</a:t>
            </a:r>
            <a:endParaRPr/>
          </a:p>
        </p:txBody>
      </p:sp>
      <p:sp>
        <p:nvSpPr>
          <p:cNvPr id="1637538911" name="TextBox 20"/>
          <p:cNvSpPr txBox="1"/>
          <p:nvPr/>
        </p:nvSpPr>
        <p:spPr bwMode="auto">
          <a:xfrm rot="0">
            <a:off x="8744274" y="5011560"/>
            <a:ext cx="2713711" cy="497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11"/>
              </a:lnSpc>
              <a:defRPr/>
            </a:pPr>
            <a:r>
              <a:rPr lang="en-US" sz="2650">
                <a:solidFill>
                  <a:srgbClr val="004AAD"/>
                </a:solidFill>
                <a:latin typeface="Montserrat"/>
                <a:ea typeface="Montserrat"/>
                <a:cs typeface="Montserrat"/>
              </a:rPr>
              <a:t>seaborn</a:t>
            </a:r>
            <a:endParaRPr/>
          </a:p>
        </p:txBody>
      </p:sp>
      <p:sp>
        <p:nvSpPr>
          <p:cNvPr id="1787744494" name="TextBox 21"/>
          <p:cNvSpPr txBox="1"/>
          <p:nvPr/>
        </p:nvSpPr>
        <p:spPr bwMode="auto">
          <a:xfrm rot="0">
            <a:off x="12215365" y="4095874"/>
            <a:ext cx="3171339" cy="497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11"/>
              </a:lnSpc>
              <a:defRPr/>
            </a:pPr>
            <a:r>
              <a:rPr lang="en-US" sz="2650" b="1">
                <a:solidFill>
                  <a:srgbClr val="004AAD"/>
                </a:solidFill>
                <a:latin typeface="Montserrat Bold"/>
                <a:ea typeface="Montserrat Bold"/>
                <a:cs typeface="Montserrat Bold"/>
              </a:rPr>
              <a:t>Machine Learning</a:t>
            </a:r>
            <a:endParaRPr/>
          </a:p>
        </p:txBody>
      </p:sp>
      <p:sp>
        <p:nvSpPr>
          <p:cNvPr id="1555991430" name="TextBox 22"/>
          <p:cNvSpPr txBox="1"/>
          <p:nvPr/>
        </p:nvSpPr>
        <p:spPr bwMode="auto">
          <a:xfrm rot="0">
            <a:off x="12330112" y="4573762"/>
            <a:ext cx="2713711" cy="497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11"/>
              </a:lnSpc>
              <a:defRPr/>
            </a:pPr>
            <a:r>
              <a:rPr lang="en-US" sz="2650">
                <a:solidFill>
                  <a:srgbClr val="004AAD"/>
                </a:solidFill>
                <a:latin typeface="Montserrat"/>
                <a:ea typeface="Montserrat"/>
                <a:cs typeface="Montserrat"/>
              </a:rPr>
              <a:t>scikit-learn</a:t>
            </a:r>
            <a:endParaRPr/>
          </a:p>
        </p:txBody>
      </p:sp>
      <p:sp>
        <p:nvSpPr>
          <p:cNvPr id="856526612" name="TextBox 23"/>
          <p:cNvSpPr txBox="1"/>
          <p:nvPr/>
        </p:nvSpPr>
        <p:spPr bwMode="auto">
          <a:xfrm rot="0">
            <a:off x="5528148" y="833818"/>
            <a:ext cx="6834130" cy="1676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558"/>
              </a:lnSpc>
              <a:defRPr/>
            </a:pPr>
            <a:r>
              <a:rPr lang="en-US" sz="8800" spc="-527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100000">
                      <a:srgbClr val="CB6CE6">
                        <a:alpha val="100000"/>
                      </a:srgbClr>
                    </a:gs>
                  </a:gsLst>
                  <a:lin ang="0" scaled="1"/>
                </a:gradFill>
                <a:latin typeface="Goudy"/>
                <a:ea typeface="Goudy"/>
                <a:cs typeface="Goudy"/>
              </a:rPr>
              <a:t>Environnement</a:t>
            </a:r>
            <a:endParaRPr/>
          </a:p>
        </p:txBody>
      </p:sp>
      <p:sp>
        <p:nvSpPr>
          <p:cNvPr id="1473633479" name="TextBox 24"/>
          <p:cNvSpPr txBox="1"/>
          <p:nvPr/>
        </p:nvSpPr>
        <p:spPr bwMode="auto">
          <a:xfrm rot="0">
            <a:off x="5699846" y="6580994"/>
            <a:ext cx="6888318" cy="788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  <a:defRPr/>
            </a:pPr>
            <a:r>
              <a:rPr lang="en-US" sz="4200" b="1">
                <a:solidFill>
                  <a:srgbClr val="004AAD"/>
                </a:solidFill>
                <a:latin typeface="Montserrat Bold"/>
                <a:ea typeface="Montserrat Bold"/>
                <a:cs typeface="Montserrat Bold"/>
              </a:rPr>
              <a:t>Configuration Système</a:t>
            </a:r>
            <a:endParaRPr/>
          </a:p>
        </p:txBody>
      </p:sp>
      <p:grpSp>
        <p:nvGrpSpPr>
          <p:cNvPr id="275521828" name="Group 25"/>
          <p:cNvGrpSpPr/>
          <p:nvPr/>
        </p:nvGrpSpPr>
        <p:grpSpPr bwMode="auto">
          <a:xfrm rot="0">
            <a:off x="6853123" y="2836488"/>
            <a:ext cx="4319073" cy="1239936"/>
            <a:chOff x="0" y="0"/>
            <a:chExt cx="5758764" cy="1653247"/>
          </a:xfrm>
        </p:grpSpPr>
        <p:sp>
          <p:nvSpPr>
            <p:cNvPr id="26" name="Freeform 26"/>
            <p:cNvSpPr/>
            <p:nvPr/>
          </p:nvSpPr>
          <p:spPr bwMode="auto">
            <a:xfrm rot="0" flipH="0" flipV="0">
              <a:off x="0" y="0"/>
              <a:ext cx="5758815" cy="1653286"/>
            </a:xfrm>
            <a:custGeom>
              <a:avLst/>
              <a:gdLst/>
              <a:ahLst/>
              <a:cxnLst/>
              <a:rect l="l" t="t" r="r" b="b"/>
              <a:pathLst>
                <a:path w="5758815" h="1653286" fill="norm" stroke="1" extrusionOk="0">
                  <a:moveTo>
                    <a:pt x="0" y="0"/>
                  </a:moveTo>
                  <a:lnTo>
                    <a:pt x="5758815" y="0"/>
                  </a:lnTo>
                  <a:lnTo>
                    <a:pt x="5758815" y="1653286"/>
                  </a:lnTo>
                  <a:lnTo>
                    <a:pt x="0" y="165328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0"/>
              <a:stretch>
                <a:fillRect l="-118" t="0" r="-117" b="1"/>
              </a:stretch>
            </a:blipFill>
          </p:spPr>
        </p:sp>
      </p:grpSp>
      <p:sp>
        <p:nvSpPr>
          <p:cNvPr id="565126125" name="TextBox 27"/>
          <p:cNvSpPr txBox="1"/>
          <p:nvPr/>
        </p:nvSpPr>
        <p:spPr bwMode="auto">
          <a:xfrm rot="0">
            <a:off x="7311028" y="2992593"/>
            <a:ext cx="3403254" cy="7283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29"/>
              </a:lnSpc>
              <a:defRPr/>
            </a:pPr>
            <a:r>
              <a:rPr lang="en-US" sz="3950" b="1">
                <a:solidFill>
                  <a:srgbClr val="004AAD"/>
                </a:solidFill>
                <a:latin typeface="Montserrat Bold"/>
                <a:ea typeface="Montserrat Bold"/>
                <a:cs typeface="Montserrat Bold"/>
              </a:rPr>
              <a:t>Bibliothèque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1306755" name="Freeform 2"/>
          <p:cNvSpPr/>
          <p:nvPr/>
        </p:nvSpPr>
        <p:spPr bwMode="auto">
          <a:xfrm rot="0" flipH="0" flipV="0">
            <a:off x="-331991" y="9868201"/>
            <a:ext cx="18909491" cy="418799"/>
          </a:xfrm>
          <a:custGeom>
            <a:avLst/>
            <a:gdLst/>
            <a:ahLst/>
            <a:cxnLst/>
            <a:rect l="l" t="t" r="r" b="b"/>
            <a:pathLst>
              <a:path w="18909491" h="418799" fill="norm" stroke="1" extrusionOk="0">
                <a:moveTo>
                  <a:pt x="0" y="0"/>
                </a:moveTo>
                <a:lnTo>
                  <a:pt x="18909491" y="0"/>
                </a:lnTo>
                <a:lnTo>
                  <a:pt x="18909491" y="418799"/>
                </a:lnTo>
                <a:lnTo>
                  <a:pt x="0" y="4187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 l="0" t="0" r="0" b="0"/>
            </a:stretch>
          </a:blipFill>
        </p:spPr>
      </p:sp>
      <p:grpSp>
        <p:nvGrpSpPr>
          <p:cNvPr id="399536823" name="Group 3"/>
          <p:cNvGrpSpPr/>
          <p:nvPr/>
        </p:nvGrpSpPr>
        <p:grpSpPr bwMode="auto">
          <a:xfrm rot="5400000">
            <a:off x="501329" y="-501329"/>
            <a:ext cx="6989568" cy="7992237"/>
            <a:chOff x="0" y="0"/>
            <a:chExt cx="9319424" cy="10656316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9319387" cy="10656316"/>
            </a:xfrm>
            <a:custGeom>
              <a:avLst/>
              <a:gdLst/>
              <a:ahLst/>
              <a:cxnLst/>
              <a:rect l="l" t="t" r="r" b="b"/>
              <a:pathLst>
                <a:path w="9319387" h="10656316" fill="norm" stroke="1" extrusionOk="0">
                  <a:moveTo>
                    <a:pt x="0" y="0"/>
                  </a:moveTo>
                  <a:lnTo>
                    <a:pt x="9319387" y="0"/>
                  </a:lnTo>
                  <a:lnTo>
                    <a:pt x="9319387" y="10656316"/>
                  </a:lnTo>
                  <a:lnTo>
                    <a:pt x="0" y="1065631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/>
              <a:stretch>
                <a:fillRect l="0" t="-23" r="0" b="-22"/>
              </a:stretch>
            </a:blipFill>
          </p:spPr>
        </p:sp>
      </p:grpSp>
      <p:grpSp>
        <p:nvGrpSpPr>
          <p:cNvPr id="1116402954" name="Group 5"/>
          <p:cNvGrpSpPr/>
          <p:nvPr/>
        </p:nvGrpSpPr>
        <p:grpSpPr bwMode="auto">
          <a:xfrm rot="0">
            <a:off x="6151293" y="4042058"/>
            <a:ext cx="834800" cy="834800"/>
            <a:chOff x="0" y="0"/>
            <a:chExt cx="1113066" cy="1113066"/>
          </a:xfrm>
        </p:grpSpPr>
        <p:sp>
          <p:nvSpPr>
            <p:cNvPr id="6" name="Freeform 6"/>
            <p:cNvSpPr/>
            <p:nvPr/>
          </p:nvSpPr>
          <p:spPr bwMode="auto">
            <a:xfrm rot="0" flipH="0" flipV="0">
              <a:off x="0" y="0"/>
              <a:ext cx="1113028" cy="1113028"/>
            </a:xfrm>
            <a:custGeom>
              <a:avLst/>
              <a:gdLst/>
              <a:ahLst/>
              <a:cxnLst/>
              <a:rect l="l" t="t" r="r" b="b"/>
              <a:pathLst>
                <a:path w="1113028" h="1113028" fill="norm" stroke="1" extrusionOk="0">
                  <a:moveTo>
                    <a:pt x="0" y="0"/>
                  </a:moveTo>
                  <a:lnTo>
                    <a:pt x="1113028" y="0"/>
                  </a:lnTo>
                  <a:lnTo>
                    <a:pt x="1113028" y="1113028"/>
                  </a:lnTo>
                  <a:lnTo>
                    <a:pt x="0" y="111302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/>
              <a:stretch>
                <a:fillRect l="0" t="0" r="-3" b="-3"/>
              </a:stretch>
            </a:blipFill>
          </p:spPr>
        </p:sp>
      </p:grpSp>
      <p:grpSp>
        <p:nvGrpSpPr>
          <p:cNvPr id="1982123346" name="Group 7"/>
          <p:cNvGrpSpPr/>
          <p:nvPr/>
        </p:nvGrpSpPr>
        <p:grpSpPr bwMode="auto">
          <a:xfrm rot="0">
            <a:off x="6151293" y="5014579"/>
            <a:ext cx="834800" cy="834800"/>
            <a:chOff x="0" y="0"/>
            <a:chExt cx="1113066" cy="1113066"/>
          </a:xfrm>
        </p:grpSpPr>
        <p:sp>
          <p:nvSpPr>
            <p:cNvPr id="8" name="Freeform 8"/>
            <p:cNvSpPr/>
            <p:nvPr/>
          </p:nvSpPr>
          <p:spPr bwMode="auto">
            <a:xfrm rot="0" flipH="0" flipV="0">
              <a:off x="0" y="0"/>
              <a:ext cx="1113028" cy="1113028"/>
            </a:xfrm>
            <a:custGeom>
              <a:avLst/>
              <a:gdLst/>
              <a:ahLst/>
              <a:cxnLst/>
              <a:rect l="l" t="t" r="r" b="b"/>
              <a:pathLst>
                <a:path w="1113028" h="1113028" fill="norm" stroke="1" extrusionOk="0">
                  <a:moveTo>
                    <a:pt x="0" y="0"/>
                  </a:moveTo>
                  <a:lnTo>
                    <a:pt x="1113028" y="0"/>
                  </a:lnTo>
                  <a:lnTo>
                    <a:pt x="1113028" y="1113028"/>
                  </a:lnTo>
                  <a:lnTo>
                    <a:pt x="0" y="111302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/>
              <a:stretch>
                <a:fillRect l="0" t="0" r="-3" b="-3"/>
              </a:stretch>
            </a:blipFill>
          </p:spPr>
        </p:sp>
      </p:grpSp>
      <p:grpSp>
        <p:nvGrpSpPr>
          <p:cNvPr id="1394659722" name="Group 9"/>
          <p:cNvGrpSpPr/>
          <p:nvPr/>
        </p:nvGrpSpPr>
        <p:grpSpPr bwMode="auto">
          <a:xfrm rot="0">
            <a:off x="6162494" y="6172276"/>
            <a:ext cx="823598" cy="823598"/>
            <a:chOff x="0" y="0"/>
            <a:chExt cx="1098131" cy="1098131"/>
          </a:xfrm>
        </p:grpSpPr>
        <p:sp>
          <p:nvSpPr>
            <p:cNvPr id="10" name="Freeform 10"/>
            <p:cNvSpPr/>
            <p:nvPr/>
          </p:nvSpPr>
          <p:spPr bwMode="auto">
            <a:xfrm rot="0" flipH="0" flipV="0">
              <a:off x="0" y="0"/>
              <a:ext cx="1098169" cy="1098169"/>
            </a:xfrm>
            <a:custGeom>
              <a:avLst/>
              <a:gdLst/>
              <a:ahLst/>
              <a:cxnLst/>
              <a:rect l="l" t="t" r="r" b="b"/>
              <a:pathLst>
                <a:path w="1098169" h="1098169" fill="norm" stroke="1" extrusionOk="0">
                  <a:moveTo>
                    <a:pt x="0" y="0"/>
                  </a:moveTo>
                  <a:lnTo>
                    <a:pt x="1098169" y="0"/>
                  </a:lnTo>
                  <a:lnTo>
                    <a:pt x="1098169" y="1098169"/>
                  </a:lnTo>
                  <a:lnTo>
                    <a:pt x="0" y="109816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/>
              <a:stretch>
                <a:fillRect l="0" t="0" r="3" b="3"/>
              </a:stretch>
            </a:blipFill>
          </p:spPr>
        </p:sp>
      </p:grpSp>
      <p:grpSp>
        <p:nvGrpSpPr>
          <p:cNvPr id="1394903291" name="Group 11"/>
          <p:cNvGrpSpPr/>
          <p:nvPr/>
        </p:nvGrpSpPr>
        <p:grpSpPr bwMode="auto">
          <a:xfrm rot="0">
            <a:off x="6204452" y="7108946"/>
            <a:ext cx="781641" cy="781641"/>
            <a:chOff x="0" y="0"/>
            <a:chExt cx="1042187" cy="1042187"/>
          </a:xfrm>
        </p:grpSpPr>
        <p:sp>
          <p:nvSpPr>
            <p:cNvPr id="12" name="Freeform 12"/>
            <p:cNvSpPr/>
            <p:nvPr/>
          </p:nvSpPr>
          <p:spPr bwMode="auto">
            <a:xfrm rot="0" flipH="0" flipV="0">
              <a:off x="0" y="0"/>
              <a:ext cx="1042162" cy="1042162"/>
            </a:xfrm>
            <a:custGeom>
              <a:avLst/>
              <a:gdLst/>
              <a:ahLst/>
              <a:cxnLst/>
              <a:rect l="l" t="t" r="r" b="b"/>
              <a:pathLst>
                <a:path w="1042162" h="1042162" fill="norm" stroke="1" extrusionOk="0">
                  <a:moveTo>
                    <a:pt x="0" y="0"/>
                  </a:moveTo>
                  <a:lnTo>
                    <a:pt x="1042162" y="0"/>
                  </a:lnTo>
                  <a:lnTo>
                    <a:pt x="1042162" y="1042162"/>
                  </a:lnTo>
                  <a:lnTo>
                    <a:pt x="0" y="104216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/>
              <a:stretch>
                <a:fillRect l="0" t="0" r="-1" b="-1"/>
              </a:stretch>
            </a:blipFill>
          </p:spPr>
        </p:sp>
      </p:grpSp>
      <p:grpSp>
        <p:nvGrpSpPr>
          <p:cNvPr id="65428878" name="Group 13"/>
          <p:cNvGrpSpPr/>
          <p:nvPr/>
        </p:nvGrpSpPr>
        <p:grpSpPr bwMode="auto">
          <a:xfrm rot="0">
            <a:off x="6232750" y="7981674"/>
            <a:ext cx="828389" cy="828389"/>
            <a:chOff x="0" y="0"/>
            <a:chExt cx="1104519" cy="1104519"/>
          </a:xfrm>
        </p:grpSpPr>
        <p:sp>
          <p:nvSpPr>
            <p:cNvPr id="14" name="Freeform 14"/>
            <p:cNvSpPr/>
            <p:nvPr/>
          </p:nvSpPr>
          <p:spPr bwMode="auto">
            <a:xfrm rot="0" flipH="0" flipV="0">
              <a:off x="0" y="0"/>
              <a:ext cx="1104519" cy="1104519"/>
            </a:xfrm>
            <a:custGeom>
              <a:avLst/>
              <a:gdLst/>
              <a:ahLst/>
              <a:cxnLst/>
              <a:rect l="l" t="t" r="r" b="b"/>
              <a:pathLst>
                <a:path w="1104519" h="1104519" fill="norm" stroke="1" extrusionOk="0">
                  <a:moveTo>
                    <a:pt x="0" y="0"/>
                  </a:moveTo>
                  <a:lnTo>
                    <a:pt x="1104519" y="0"/>
                  </a:lnTo>
                  <a:lnTo>
                    <a:pt x="1104519" y="1104519"/>
                  </a:lnTo>
                  <a:lnTo>
                    <a:pt x="0" y="110451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9"/>
              <a:stretch>
                <a:fillRect l="0" t="0" r="0" b="0"/>
              </a:stretch>
            </a:blipFill>
          </p:spPr>
        </p:sp>
      </p:grpSp>
      <p:sp>
        <p:nvSpPr>
          <p:cNvPr id="1810751910" name="TextBox 15"/>
          <p:cNvSpPr txBox="1"/>
          <p:nvPr/>
        </p:nvSpPr>
        <p:spPr bwMode="auto">
          <a:xfrm rot="0">
            <a:off x="7061140" y="4045372"/>
            <a:ext cx="6423974" cy="708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25"/>
              </a:lnSpc>
              <a:defRPr/>
            </a:pPr>
            <a:r>
              <a:rPr lang="en-US" sz="3250" b="1">
                <a:solidFill>
                  <a:srgbClr val="000000"/>
                </a:solidFill>
                <a:latin typeface="Balloon Extra Bold"/>
                <a:ea typeface="Balloon Extra Bold"/>
                <a:cs typeface="Balloon Extra Bold"/>
              </a:rPr>
              <a:t>Présentation du Dataset</a:t>
            </a:r>
            <a:endParaRPr/>
          </a:p>
        </p:txBody>
      </p:sp>
      <p:sp>
        <p:nvSpPr>
          <p:cNvPr id="271304664" name="TextBox 16"/>
          <p:cNvSpPr txBox="1"/>
          <p:nvPr/>
        </p:nvSpPr>
        <p:spPr bwMode="auto">
          <a:xfrm rot="0">
            <a:off x="7061140" y="5017818"/>
            <a:ext cx="4250322" cy="708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25"/>
              </a:lnSpc>
              <a:defRPr/>
            </a:pPr>
            <a:r>
              <a:rPr lang="en-US" sz="3250" b="1">
                <a:solidFill>
                  <a:srgbClr val="000000"/>
                </a:solidFill>
                <a:latin typeface="Balloon Extra Bold"/>
                <a:ea typeface="Balloon Extra Bold"/>
                <a:cs typeface="Balloon Extra Bold"/>
              </a:rPr>
              <a:t>Méthode de Trie</a:t>
            </a:r>
            <a:endParaRPr/>
          </a:p>
        </p:txBody>
      </p:sp>
      <p:sp>
        <p:nvSpPr>
          <p:cNvPr id="1382031227" name="TextBox 17"/>
          <p:cNvSpPr txBox="1"/>
          <p:nvPr/>
        </p:nvSpPr>
        <p:spPr bwMode="auto">
          <a:xfrm rot="0">
            <a:off x="6986092" y="6113545"/>
            <a:ext cx="4862674" cy="708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25"/>
              </a:lnSpc>
              <a:defRPr/>
            </a:pPr>
            <a:r>
              <a:rPr lang="en-US" sz="3250" b="1">
                <a:solidFill>
                  <a:srgbClr val="000000"/>
                </a:solidFill>
                <a:latin typeface="Balloon Extra Bold"/>
                <a:ea typeface="Balloon Extra Bold"/>
                <a:cs typeface="Balloon Extra Bold"/>
              </a:rPr>
              <a:t>Choix de la Target</a:t>
            </a:r>
            <a:endParaRPr/>
          </a:p>
        </p:txBody>
      </p:sp>
      <p:sp>
        <p:nvSpPr>
          <p:cNvPr id="1451927112" name="TextBox 18"/>
          <p:cNvSpPr txBox="1"/>
          <p:nvPr/>
        </p:nvSpPr>
        <p:spPr bwMode="auto">
          <a:xfrm rot="0">
            <a:off x="7061140" y="7058892"/>
            <a:ext cx="4123230" cy="6743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25"/>
              </a:lnSpc>
              <a:defRPr/>
            </a:pPr>
            <a:r>
              <a:rPr lang="en-US" sz="3250" b="1">
                <a:solidFill>
                  <a:srgbClr val="000000"/>
                </a:solidFill>
                <a:latin typeface="Balloon Extra Bold"/>
                <a:ea typeface="Balloon Extra Bold"/>
                <a:cs typeface="Balloon Extra Bold"/>
              </a:rPr>
              <a:t>Analyse des Outliers </a:t>
            </a:r>
            <a:endParaRPr/>
          </a:p>
        </p:txBody>
      </p:sp>
      <p:sp>
        <p:nvSpPr>
          <p:cNvPr id="1227025768" name="TextBox 19"/>
          <p:cNvSpPr txBox="1"/>
          <p:nvPr/>
        </p:nvSpPr>
        <p:spPr bwMode="auto">
          <a:xfrm rot="0">
            <a:off x="7061140" y="8003143"/>
            <a:ext cx="3688594" cy="708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25"/>
              </a:lnSpc>
              <a:defRPr/>
            </a:pPr>
            <a:r>
              <a:rPr lang="en-US" sz="3250" b="1">
                <a:solidFill>
                  <a:srgbClr val="000000"/>
                </a:solidFill>
                <a:latin typeface="Balloon Extra Bold"/>
                <a:ea typeface="Balloon Extra Bold"/>
                <a:cs typeface="Balloon Extra Bold"/>
              </a:rPr>
              <a:t>Encoding</a:t>
            </a:r>
            <a:endParaRPr/>
          </a:p>
        </p:txBody>
      </p:sp>
      <p:sp>
        <p:nvSpPr>
          <p:cNvPr id="347634468" name="TextBox 20"/>
          <p:cNvSpPr txBox="1"/>
          <p:nvPr/>
        </p:nvSpPr>
        <p:spPr bwMode="auto">
          <a:xfrm rot="0">
            <a:off x="5003101" y="2704843"/>
            <a:ext cx="8902694" cy="10143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84"/>
              </a:lnSpc>
              <a:defRPr/>
            </a:pPr>
            <a:r>
              <a:rPr lang="en-US" sz="6650" spc="-398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</a:rPr>
              <a:t>Analyse Exploratoire</a:t>
            </a:r>
            <a:endParaRPr/>
          </a:p>
        </p:txBody>
      </p:sp>
      <p:sp>
        <p:nvSpPr>
          <p:cNvPr id="757547980" name="TextBox 21"/>
          <p:cNvSpPr txBox="1"/>
          <p:nvPr/>
        </p:nvSpPr>
        <p:spPr bwMode="auto">
          <a:xfrm rot="0">
            <a:off x="3996119" y="1239041"/>
            <a:ext cx="4202954" cy="1242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480"/>
              </a:lnSpc>
              <a:defRPr/>
            </a:pPr>
            <a:r>
              <a:rPr lang="en-US" sz="7900" b="1" spc="-473">
                <a:solidFill>
                  <a:srgbClr val="000000"/>
                </a:solidFill>
                <a:latin typeface="Arimo Bold"/>
                <a:ea typeface="Arimo Bold"/>
                <a:cs typeface="Arimo Bold"/>
              </a:rPr>
              <a:t>Partie 1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4082454" name="Freeform 2"/>
          <p:cNvSpPr/>
          <p:nvPr/>
        </p:nvSpPr>
        <p:spPr bwMode="auto">
          <a:xfrm rot="0" flipH="0" flipV="0">
            <a:off x="-67482" y="9947582"/>
            <a:ext cx="18457227" cy="336188"/>
          </a:xfrm>
          <a:custGeom>
            <a:avLst/>
            <a:gdLst/>
            <a:ahLst/>
            <a:cxnLst/>
            <a:rect l="l" t="t" r="r" b="b"/>
            <a:pathLst>
              <a:path w="18842709" h="417320" fill="norm" stroke="1" extrusionOk="0">
                <a:moveTo>
                  <a:pt x="0" y="0"/>
                </a:moveTo>
                <a:lnTo>
                  <a:pt x="18842710" y="0"/>
                </a:lnTo>
                <a:lnTo>
                  <a:pt x="18842710" y="417320"/>
                </a:lnTo>
                <a:lnTo>
                  <a:pt x="0" y="4173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 l="0" t="0" r="0" b="0"/>
            </a:stretch>
          </a:blipFill>
        </p:spPr>
      </p:sp>
      <p:grpSp>
        <p:nvGrpSpPr>
          <p:cNvPr id="534294854" name="Group 3"/>
          <p:cNvGrpSpPr/>
          <p:nvPr/>
        </p:nvGrpSpPr>
        <p:grpSpPr bwMode="auto">
          <a:xfrm rot="0">
            <a:off x="5167083" y="8578663"/>
            <a:ext cx="458724" cy="185214"/>
            <a:chOff x="0" y="0"/>
            <a:chExt cx="611632" cy="246952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611632" cy="246888"/>
            </a:xfrm>
            <a:custGeom>
              <a:avLst/>
              <a:gdLst/>
              <a:ahLst/>
              <a:cxnLst/>
              <a:rect l="l" t="t" r="r" b="b"/>
              <a:pathLst>
                <a:path w="611632" h="246888" fill="norm" stroke="1" extrusionOk="0">
                  <a:moveTo>
                    <a:pt x="0" y="0"/>
                  </a:moveTo>
                  <a:lnTo>
                    <a:pt x="611632" y="0"/>
                  </a:lnTo>
                  <a:lnTo>
                    <a:pt x="611632" y="246888"/>
                  </a:lnTo>
                  <a:lnTo>
                    <a:pt x="0" y="24688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/>
              <a:stretch>
                <a:fillRect l="-35" t="0" r="-37" b="-25"/>
              </a:stretch>
            </a:blipFill>
          </p:spPr>
        </p:sp>
      </p:grpSp>
      <p:sp>
        <p:nvSpPr>
          <p:cNvPr id="1125118391" name="TextBox 5"/>
          <p:cNvSpPr txBox="1"/>
          <p:nvPr/>
        </p:nvSpPr>
        <p:spPr bwMode="auto">
          <a:xfrm rot="0">
            <a:off x="10624928" y="2000812"/>
            <a:ext cx="4750308" cy="57736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9"/>
              </a:lnSpc>
              <a:defRPr/>
            </a:pPr>
            <a:r>
              <a:rPr lang="en-US" sz="135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D21  LargestPropertyUseType           3356 non-null   object </a:t>
            </a:r>
            <a:endParaRPr/>
          </a:p>
          <a:p>
            <a:pPr algn="l">
              <a:lnSpc>
                <a:spcPts val="1759"/>
              </a:lnSpc>
              <a:defRPr/>
            </a:pPr>
            <a:r>
              <a:rPr lang="en-US" sz="135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 22  LargestPropertyUseTypeGFA        3356 non-null   float64</a:t>
            </a:r>
            <a:endParaRPr/>
          </a:p>
          <a:p>
            <a:pPr algn="l">
              <a:lnSpc>
                <a:spcPts val="1759"/>
              </a:lnSpc>
              <a:defRPr/>
            </a:pPr>
            <a:r>
              <a:rPr lang="en-US" sz="135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 23  SecondLargestPropertyUseType     1679 non-null   object </a:t>
            </a:r>
            <a:endParaRPr/>
          </a:p>
          <a:p>
            <a:pPr algn="l">
              <a:lnSpc>
                <a:spcPts val="1759"/>
              </a:lnSpc>
              <a:defRPr/>
            </a:pPr>
            <a:r>
              <a:rPr lang="en-US" sz="135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 24  SecondLargestPropertyUseTypeGFA  1679 non-null   float64</a:t>
            </a:r>
            <a:endParaRPr/>
          </a:p>
          <a:p>
            <a:pPr algn="l">
              <a:lnSpc>
                <a:spcPts val="1759"/>
              </a:lnSpc>
              <a:defRPr/>
            </a:pPr>
            <a:r>
              <a:rPr lang="en-US" sz="135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 25  ThirdLargestPropertyUseType      596 non-null    object </a:t>
            </a:r>
            <a:endParaRPr/>
          </a:p>
          <a:p>
            <a:pPr algn="l">
              <a:lnSpc>
                <a:spcPts val="1759"/>
              </a:lnSpc>
              <a:defRPr/>
            </a:pPr>
            <a:r>
              <a:rPr lang="en-US" sz="135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 26  ThirdLargestPropertyUseTypeGFA   596 non-null    float64</a:t>
            </a:r>
            <a:endParaRPr/>
          </a:p>
          <a:p>
            <a:pPr algn="l">
              <a:lnSpc>
                <a:spcPts val="1759"/>
              </a:lnSpc>
              <a:defRPr/>
            </a:pPr>
            <a:r>
              <a:rPr lang="en-US" sz="135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 27  YearsENERGYSTARCertified         119 non-null    object </a:t>
            </a:r>
            <a:endParaRPr/>
          </a:p>
          <a:p>
            <a:pPr algn="l">
              <a:lnSpc>
                <a:spcPts val="1759"/>
              </a:lnSpc>
              <a:defRPr/>
            </a:pPr>
            <a:r>
              <a:rPr lang="en-US" sz="135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 28  ENERGYSTARScore                  2533 non-null   float64</a:t>
            </a:r>
            <a:endParaRPr/>
          </a:p>
          <a:p>
            <a:pPr algn="l">
              <a:lnSpc>
                <a:spcPts val="1759"/>
              </a:lnSpc>
              <a:defRPr/>
            </a:pPr>
            <a:r>
              <a:rPr lang="en-US" sz="135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 29  SiteEUI(kBtu/sf)                 3369 non-null   float64</a:t>
            </a:r>
            <a:endParaRPr/>
          </a:p>
          <a:p>
            <a:pPr algn="l">
              <a:lnSpc>
                <a:spcPts val="1759"/>
              </a:lnSpc>
              <a:defRPr/>
            </a:pPr>
            <a:r>
              <a:rPr lang="en-US" sz="135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 30  SiteEUIWN(kBtu/sf)               3370 non-null   float64</a:t>
            </a:r>
            <a:endParaRPr/>
          </a:p>
          <a:p>
            <a:pPr algn="l">
              <a:lnSpc>
                <a:spcPts val="1759"/>
              </a:lnSpc>
              <a:defRPr/>
            </a:pPr>
            <a:r>
              <a:rPr lang="en-US" sz="135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 31  SourceEUI(kBtu/sf)               3367 non-null   float64</a:t>
            </a:r>
            <a:endParaRPr/>
          </a:p>
          <a:p>
            <a:pPr algn="l">
              <a:lnSpc>
                <a:spcPts val="1759"/>
              </a:lnSpc>
              <a:defRPr/>
            </a:pPr>
            <a:r>
              <a:rPr lang="en-US" sz="135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 32  SourceEUIWN(kBtu/sf)             3367 non-null   float64</a:t>
            </a:r>
            <a:endParaRPr/>
          </a:p>
          <a:p>
            <a:pPr algn="l">
              <a:lnSpc>
                <a:spcPts val="1759"/>
              </a:lnSpc>
              <a:defRPr/>
            </a:pPr>
            <a:r>
              <a:rPr lang="en-US" sz="135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 33  SiteEnergyUse(kBtu)              3371 non-null   float64</a:t>
            </a:r>
            <a:endParaRPr/>
          </a:p>
          <a:p>
            <a:pPr algn="l">
              <a:lnSpc>
                <a:spcPts val="1759"/>
              </a:lnSpc>
              <a:defRPr/>
            </a:pPr>
            <a:r>
              <a:rPr lang="en-US" sz="135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 34  SiteEnergyUseWN(kBtu)            3370 non-null   float64</a:t>
            </a:r>
            <a:endParaRPr/>
          </a:p>
          <a:p>
            <a:pPr algn="l">
              <a:lnSpc>
                <a:spcPts val="1759"/>
              </a:lnSpc>
              <a:defRPr/>
            </a:pPr>
            <a:r>
              <a:rPr lang="en-US" sz="135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 35  SteamUse(kBtu)                   3367 non-null   float64</a:t>
            </a:r>
            <a:endParaRPr/>
          </a:p>
          <a:p>
            <a:pPr algn="l">
              <a:lnSpc>
                <a:spcPts val="1759"/>
              </a:lnSpc>
              <a:defRPr/>
            </a:pPr>
            <a:r>
              <a:rPr lang="en-US" sz="135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 36  Electricity(kWh)                 3367 non-null   float64</a:t>
            </a:r>
            <a:endParaRPr/>
          </a:p>
          <a:p>
            <a:pPr algn="l">
              <a:lnSpc>
                <a:spcPts val="1759"/>
              </a:lnSpc>
              <a:defRPr/>
            </a:pPr>
            <a:r>
              <a:rPr lang="en-US" sz="135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 37  Electricity(kBtu)                3367 non-null   float64</a:t>
            </a:r>
            <a:endParaRPr/>
          </a:p>
          <a:p>
            <a:pPr algn="l">
              <a:lnSpc>
                <a:spcPts val="1759"/>
              </a:lnSpc>
              <a:defRPr/>
            </a:pPr>
            <a:r>
              <a:rPr lang="en-US" sz="135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 38  NaturalGas(therms)               3367 non-null   float64</a:t>
            </a:r>
            <a:endParaRPr/>
          </a:p>
          <a:p>
            <a:pPr algn="l">
              <a:lnSpc>
                <a:spcPts val="1759"/>
              </a:lnSpc>
              <a:defRPr/>
            </a:pPr>
            <a:r>
              <a:rPr lang="en-US" sz="135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 39  NaturalGas(kBtu)                 3367 non-null   float64</a:t>
            </a:r>
            <a:endParaRPr/>
          </a:p>
          <a:p>
            <a:pPr algn="l">
              <a:lnSpc>
                <a:spcPts val="1759"/>
              </a:lnSpc>
              <a:defRPr/>
            </a:pPr>
            <a:r>
              <a:rPr lang="en-US" sz="135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 40  DefaultData                      3376 non-null   bool   </a:t>
            </a:r>
            <a:endParaRPr/>
          </a:p>
          <a:p>
            <a:pPr algn="l">
              <a:lnSpc>
                <a:spcPts val="1759"/>
              </a:lnSpc>
              <a:defRPr/>
            </a:pPr>
            <a:r>
              <a:rPr lang="en-US" sz="135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 41  Comments                         0 non-null      float64</a:t>
            </a:r>
            <a:endParaRPr/>
          </a:p>
          <a:p>
            <a:pPr algn="l">
              <a:lnSpc>
                <a:spcPts val="1759"/>
              </a:lnSpc>
              <a:defRPr/>
            </a:pPr>
            <a:r>
              <a:rPr lang="en-US" sz="135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 42  ComplianceStatus                 3376 non-null   object </a:t>
            </a:r>
            <a:endParaRPr/>
          </a:p>
          <a:p>
            <a:pPr algn="l">
              <a:lnSpc>
                <a:spcPts val="1759"/>
              </a:lnSpc>
              <a:defRPr/>
            </a:pPr>
            <a:r>
              <a:rPr lang="en-US" sz="135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 43  Outlier                          32 non-null     object </a:t>
            </a:r>
            <a:endParaRPr/>
          </a:p>
          <a:p>
            <a:pPr algn="l">
              <a:lnSpc>
                <a:spcPts val="1759"/>
              </a:lnSpc>
              <a:defRPr/>
            </a:pPr>
            <a:r>
              <a:rPr lang="en-US" sz="135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 44  TotalGHGEmissions                3367 non-null   float64</a:t>
            </a:r>
            <a:endParaRPr/>
          </a:p>
          <a:p>
            <a:pPr algn="l">
              <a:lnSpc>
                <a:spcPts val="1759"/>
              </a:lnSpc>
              <a:defRPr/>
            </a:pPr>
            <a:r>
              <a:rPr lang="en-US" sz="135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 45  GHGEmissionsIntensity            3367 non-null   float64</a:t>
            </a:r>
            <a:endParaRPr/>
          </a:p>
          <a:p>
            <a:pPr algn="l">
              <a:lnSpc>
                <a:spcPts val="1759"/>
              </a:lnSpc>
              <a:defRPr/>
            </a:pPr>
            <a:r>
              <a:rPr lang="en-US" sz="135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dtypes: bool(1), float64(22), int64(8), object(15)</a:t>
            </a:r>
            <a:endParaRPr/>
          </a:p>
        </p:txBody>
      </p:sp>
      <p:grpSp>
        <p:nvGrpSpPr>
          <p:cNvPr id="1598167044" name="Group 6"/>
          <p:cNvGrpSpPr/>
          <p:nvPr/>
        </p:nvGrpSpPr>
        <p:grpSpPr bwMode="auto">
          <a:xfrm rot="0">
            <a:off x="9538039" y="8591360"/>
            <a:ext cx="521265" cy="210464"/>
            <a:chOff x="0" y="0"/>
            <a:chExt cx="695020" cy="280619"/>
          </a:xfrm>
        </p:grpSpPr>
        <p:sp>
          <p:nvSpPr>
            <p:cNvPr id="7" name="Freeform 7"/>
            <p:cNvSpPr/>
            <p:nvPr/>
          </p:nvSpPr>
          <p:spPr bwMode="auto">
            <a:xfrm rot="0" flipH="0" flipV="0">
              <a:off x="0" y="0"/>
              <a:ext cx="695071" cy="280670"/>
            </a:xfrm>
            <a:custGeom>
              <a:avLst/>
              <a:gdLst/>
              <a:ahLst/>
              <a:cxnLst/>
              <a:rect l="l" t="t" r="r" b="b"/>
              <a:pathLst>
                <a:path w="695071" h="280670" fill="norm" stroke="1" extrusionOk="0">
                  <a:moveTo>
                    <a:pt x="0" y="0"/>
                  </a:moveTo>
                  <a:lnTo>
                    <a:pt x="695071" y="0"/>
                  </a:lnTo>
                  <a:lnTo>
                    <a:pt x="695071" y="280670"/>
                  </a:lnTo>
                  <a:lnTo>
                    <a:pt x="0" y="28067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/>
              <a:stretch>
                <a:fillRect l="-36" t="0" r="-27" b="18"/>
              </a:stretch>
            </a:blipFill>
          </p:spPr>
        </p:sp>
      </p:grpSp>
      <p:grpSp>
        <p:nvGrpSpPr>
          <p:cNvPr id="570528473" name="Group 10"/>
          <p:cNvGrpSpPr/>
          <p:nvPr/>
        </p:nvGrpSpPr>
        <p:grpSpPr bwMode="auto">
          <a:xfrm rot="0">
            <a:off x="9538039" y="9085755"/>
            <a:ext cx="521265" cy="210464"/>
            <a:chOff x="0" y="0"/>
            <a:chExt cx="695020" cy="280619"/>
          </a:xfrm>
        </p:grpSpPr>
        <p:sp>
          <p:nvSpPr>
            <p:cNvPr id="11" name="Freeform 11"/>
            <p:cNvSpPr/>
            <p:nvPr/>
          </p:nvSpPr>
          <p:spPr bwMode="auto">
            <a:xfrm rot="0" flipH="0" flipV="0">
              <a:off x="0" y="0"/>
              <a:ext cx="695071" cy="280670"/>
            </a:xfrm>
            <a:custGeom>
              <a:avLst/>
              <a:gdLst/>
              <a:ahLst/>
              <a:cxnLst/>
              <a:rect l="l" t="t" r="r" b="b"/>
              <a:pathLst>
                <a:path w="695071" h="280670" fill="norm" stroke="1" extrusionOk="0">
                  <a:moveTo>
                    <a:pt x="0" y="0"/>
                  </a:moveTo>
                  <a:lnTo>
                    <a:pt x="695071" y="0"/>
                  </a:lnTo>
                  <a:lnTo>
                    <a:pt x="695071" y="280670"/>
                  </a:lnTo>
                  <a:lnTo>
                    <a:pt x="0" y="28067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/>
              <a:stretch>
                <a:fillRect l="-36" t="0" r="-27" b="18"/>
              </a:stretch>
            </a:blipFill>
          </p:spPr>
        </p:sp>
      </p:grpSp>
      <p:grpSp>
        <p:nvGrpSpPr>
          <p:cNvPr id="635151688" name="Group 12"/>
          <p:cNvGrpSpPr/>
          <p:nvPr/>
        </p:nvGrpSpPr>
        <p:grpSpPr bwMode="auto">
          <a:xfrm rot="5400000">
            <a:off x="501329" y="-501329"/>
            <a:ext cx="6989568" cy="7992237"/>
            <a:chOff x="0" y="0"/>
            <a:chExt cx="9319424" cy="10656316"/>
          </a:xfrm>
        </p:grpSpPr>
        <p:sp>
          <p:nvSpPr>
            <p:cNvPr id="13" name="Freeform 13"/>
            <p:cNvSpPr/>
            <p:nvPr/>
          </p:nvSpPr>
          <p:spPr bwMode="auto">
            <a:xfrm rot="0" flipH="0" flipV="0">
              <a:off x="0" y="0"/>
              <a:ext cx="9319387" cy="10656316"/>
            </a:xfrm>
            <a:custGeom>
              <a:avLst/>
              <a:gdLst/>
              <a:ahLst/>
              <a:cxnLst/>
              <a:rect l="l" t="t" r="r" b="b"/>
              <a:pathLst>
                <a:path w="9319387" h="10656316" fill="norm" stroke="1" extrusionOk="0">
                  <a:moveTo>
                    <a:pt x="0" y="0"/>
                  </a:moveTo>
                  <a:lnTo>
                    <a:pt x="9319387" y="0"/>
                  </a:lnTo>
                  <a:lnTo>
                    <a:pt x="9319387" y="10656316"/>
                  </a:lnTo>
                  <a:lnTo>
                    <a:pt x="0" y="1065631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/>
              <a:stretch>
                <a:fillRect l="0" t="-23" r="0" b="-22"/>
              </a:stretch>
            </a:blipFill>
          </p:spPr>
        </p:sp>
      </p:grpSp>
      <p:grpSp>
        <p:nvGrpSpPr>
          <p:cNvPr id="138531652" name="Group 14"/>
          <p:cNvGrpSpPr/>
          <p:nvPr/>
        </p:nvGrpSpPr>
        <p:grpSpPr bwMode="auto">
          <a:xfrm rot="0">
            <a:off x="2871435" y="1801406"/>
            <a:ext cx="575148" cy="603828"/>
            <a:chOff x="0" y="0"/>
            <a:chExt cx="766864" cy="805104"/>
          </a:xfrm>
        </p:grpSpPr>
        <p:sp>
          <p:nvSpPr>
            <p:cNvPr id="15" name="Freeform 15"/>
            <p:cNvSpPr/>
            <p:nvPr/>
          </p:nvSpPr>
          <p:spPr bwMode="auto">
            <a:xfrm rot="0" flipH="0" flipV="0">
              <a:off x="0" y="0"/>
              <a:ext cx="766826" cy="805053"/>
            </a:xfrm>
            <a:custGeom>
              <a:avLst/>
              <a:gdLst/>
              <a:ahLst/>
              <a:cxnLst/>
              <a:rect l="l" t="t" r="r" b="b"/>
              <a:pathLst>
                <a:path w="766826" h="805053" fill="norm" stroke="1" extrusionOk="0">
                  <a:moveTo>
                    <a:pt x="0" y="0"/>
                  </a:moveTo>
                  <a:lnTo>
                    <a:pt x="766826" y="0"/>
                  </a:lnTo>
                  <a:lnTo>
                    <a:pt x="766826" y="805053"/>
                  </a:lnTo>
                  <a:lnTo>
                    <a:pt x="0" y="80505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/>
              <a:stretch>
                <a:fillRect l="0" t="-6" r="-4" b="-12"/>
              </a:stretch>
            </a:blipFill>
          </p:spPr>
        </p:sp>
      </p:grpSp>
      <p:grpSp>
        <p:nvGrpSpPr>
          <p:cNvPr id="1509534948" name="Group 16"/>
          <p:cNvGrpSpPr/>
          <p:nvPr/>
        </p:nvGrpSpPr>
        <p:grpSpPr bwMode="auto">
          <a:xfrm rot="0">
            <a:off x="3185951" y="7923771"/>
            <a:ext cx="487851" cy="512178"/>
            <a:chOff x="0" y="0"/>
            <a:chExt cx="650469" cy="682904"/>
          </a:xfrm>
        </p:grpSpPr>
        <p:sp>
          <p:nvSpPr>
            <p:cNvPr id="17" name="Freeform 17"/>
            <p:cNvSpPr/>
            <p:nvPr/>
          </p:nvSpPr>
          <p:spPr bwMode="auto">
            <a:xfrm rot="0" flipH="0" flipV="0">
              <a:off x="0" y="0"/>
              <a:ext cx="650494" cy="682879"/>
            </a:xfrm>
            <a:custGeom>
              <a:avLst/>
              <a:gdLst/>
              <a:ahLst/>
              <a:cxnLst/>
              <a:rect l="l" t="t" r="r" b="b"/>
              <a:pathLst>
                <a:path w="650494" h="682879" fill="norm" stroke="1" extrusionOk="0">
                  <a:moveTo>
                    <a:pt x="0" y="0"/>
                  </a:moveTo>
                  <a:lnTo>
                    <a:pt x="650494" y="0"/>
                  </a:lnTo>
                  <a:lnTo>
                    <a:pt x="650494" y="682879"/>
                  </a:lnTo>
                  <a:lnTo>
                    <a:pt x="0" y="68287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/>
              <a:stretch>
                <a:fillRect l="0" t="-5" r="3" b="-10"/>
              </a:stretch>
            </a:blipFill>
          </p:spPr>
        </p:sp>
      </p:grpSp>
      <p:sp>
        <p:nvSpPr>
          <p:cNvPr id="787519702" name="TextBox 18"/>
          <p:cNvSpPr txBox="1"/>
          <p:nvPr/>
        </p:nvSpPr>
        <p:spPr bwMode="auto">
          <a:xfrm rot="0">
            <a:off x="2768498" y="467763"/>
            <a:ext cx="10029844" cy="13794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558"/>
              </a:lnSpc>
              <a:defRPr/>
            </a:pPr>
            <a:r>
              <a:rPr lang="en-US" sz="8800" spc="-526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100000">
                      <a:srgbClr val="CB6CE6">
                        <a:alpha val="100000"/>
                      </a:srgbClr>
                    </a:gs>
                  </a:gsLst>
                  <a:lin ang="0" scaled="1"/>
                </a:gradFill>
                <a:latin typeface="Arimo"/>
                <a:ea typeface="Arimo"/>
                <a:cs typeface="Arimo"/>
              </a:rPr>
              <a:t>I. Analyse Exploratoire</a:t>
            </a:r>
            <a:endParaRPr/>
          </a:p>
        </p:txBody>
      </p:sp>
      <p:sp>
        <p:nvSpPr>
          <p:cNvPr id="1562012222" name="TextBox 19"/>
          <p:cNvSpPr txBox="1"/>
          <p:nvPr/>
        </p:nvSpPr>
        <p:spPr bwMode="auto">
          <a:xfrm rot="0">
            <a:off x="3673802" y="2513124"/>
            <a:ext cx="6026706" cy="4767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83"/>
              </a:lnSpc>
              <a:defRPr/>
            </a:pPr>
            <a:r>
              <a:rPr lang="en-US" sz="135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0   OSEBuildingID                    3376 non-null   int64  </a:t>
            </a:r>
            <a:endParaRPr/>
          </a:p>
          <a:p>
            <a:pPr algn="l">
              <a:lnSpc>
                <a:spcPts val="1783"/>
              </a:lnSpc>
              <a:defRPr/>
            </a:pPr>
            <a:r>
              <a:rPr lang="en-US" sz="135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 1   DataYear                         3376 non-null   int64  </a:t>
            </a:r>
            <a:endParaRPr/>
          </a:p>
          <a:p>
            <a:pPr algn="l">
              <a:lnSpc>
                <a:spcPts val="1783"/>
              </a:lnSpc>
              <a:defRPr/>
            </a:pPr>
            <a:r>
              <a:rPr lang="en-US" sz="135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 2   BuildingType                     3376 non-null   object </a:t>
            </a:r>
            <a:endParaRPr/>
          </a:p>
          <a:p>
            <a:pPr algn="l">
              <a:lnSpc>
                <a:spcPts val="1783"/>
              </a:lnSpc>
              <a:defRPr/>
            </a:pPr>
            <a:r>
              <a:rPr lang="en-US" sz="135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 3   PrimaryPropertyType              3376 non-null   object </a:t>
            </a:r>
            <a:endParaRPr/>
          </a:p>
          <a:p>
            <a:pPr algn="l">
              <a:lnSpc>
                <a:spcPts val="1783"/>
              </a:lnSpc>
              <a:defRPr/>
            </a:pPr>
            <a:r>
              <a:rPr lang="en-US" sz="135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 4   PropertyName                     3376 non-null   object </a:t>
            </a:r>
            <a:endParaRPr/>
          </a:p>
          <a:p>
            <a:pPr algn="l">
              <a:lnSpc>
                <a:spcPts val="1783"/>
              </a:lnSpc>
              <a:defRPr/>
            </a:pPr>
            <a:r>
              <a:rPr lang="en-US" sz="135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 5   Address                          3376 non-null   object </a:t>
            </a:r>
            <a:endParaRPr/>
          </a:p>
          <a:p>
            <a:pPr algn="l">
              <a:lnSpc>
                <a:spcPts val="1783"/>
              </a:lnSpc>
              <a:defRPr/>
            </a:pPr>
            <a:r>
              <a:rPr lang="en-US" sz="135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 6   City                             3376 non-null   object </a:t>
            </a:r>
            <a:endParaRPr/>
          </a:p>
          <a:p>
            <a:pPr algn="l">
              <a:lnSpc>
                <a:spcPts val="1783"/>
              </a:lnSpc>
              <a:defRPr/>
            </a:pPr>
            <a:r>
              <a:rPr lang="en-US" sz="135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 7   State                            3376 non-null   object </a:t>
            </a:r>
            <a:endParaRPr/>
          </a:p>
          <a:p>
            <a:pPr algn="l">
              <a:lnSpc>
                <a:spcPts val="1783"/>
              </a:lnSpc>
              <a:defRPr/>
            </a:pPr>
            <a:r>
              <a:rPr lang="en-US" sz="135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 8   ZipCode                          3360 non-null   float64</a:t>
            </a:r>
            <a:endParaRPr/>
          </a:p>
          <a:p>
            <a:pPr algn="l">
              <a:lnSpc>
                <a:spcPts val="1783"/>
              </a:lnSpc>
              <a:defRPr/>
            </a:pPr>
            <a:r>
              <a:rPr lang="en-US" sz="135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 9   TaxParcelIdentificationNumber    3376 non-null   object </a:t>
            </a:r>
            <a:endParaRPr/>
          </a:p>
          <a:p>
            <a:pPr algn="l">
              <a:lnSpc>
                <a:spcPts val="1783"/>
              </a:lnSpc>
              <a:defRPr/>
            </a:pPr>
            <a:r>
              <a:rPr lang="en-US" sz="135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 10  CouncilDistrictCode              3376 non-null   int64  </a:t>
            </a:r>
            <a:endParaRPr/>
          </a:p>
          <a:p>
            <a:pPr algn="l">
              <a:lnSpc>
                <a:spcPts val="1783"/>
              </a:lnSpc>
              <a:defRPr/>
            </a:pPr>
            <a:r>
              <a:rPr lang="en-US" sz="135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 11  Neighborhood                     3376 non-null   object </a:t>
            </a:r>
            <a:endParaRPr/>
          </a:p>
          <a:p>
            <a:pPr algn="l">
              <a:lnSpc>
                <a:spcPts val="1783"/>
              </a:lnSpc>
              <a:defRPr/>
            </a:pPr>
            <a:r>
              <a:rPr lang="en-US" sz="135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 12  Latitude                         3376 non-null   float64</a:t>
            </a:r>
            <a:endParaRPr/>
          </a:p>
          <a:p>
            <a:pPr algn="l">
              <a:lnSpc>
                <a:spcPts val="1783"/>
              </a:lnSpc>
              <a:defRPr/>
            </a:pPr>
            <a:r>
              <a:rPr lang="en-US" sz="135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 13  Longitude                        3376 non-null   float64</a:t>
            </a:r>
            <a:endParaRPr/>
          </a:p>
          <a:p>
            <a:pPr algn="l">
              <a:lnSpc>
                <a:spcPts val="1783"/>
              </a:lnSpc>
              <a:defRPr/>
            </a:pPr>
            <a:r>
              <a:rPr lang="en-US" sz="135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 14  YearBuilt                        3376 non-null   int64  </a:t>
            </a:r>
            <a:endParaRPr/>
          </a:p>
          <a:p>
            <a:pPr algn="l">
              <a:lnSpc>
                <a:spcPts val="1783"/>
              </a:lnSpc>
              <a:defRPr/>
            </a:pPr>
            <a:r>
              <a:rPr lang="en-US" sz="135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 15  NumberofBuildings                3368 non-null   float64</a:t>
            </a:r>
            <a:endParaRPr/>
          </a:p>
          <a:p>
            <a:pPr algn="l">
              <a:lnSpc>
                <a:spcPts val="1783"/>
              </a:lnSpc>
              <a:defRPr/>
            </a:pPr>
            <a:r>
              <a:rPr lang="en-US" sz="135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 16  NumberofFloors                   3376 non-null   int64  </a:t>
            </a:r>
            <a:endParaRPr/>
          </a:p>
          <a:p>
            <a:pPr algn="l">
              <a:lnSpc>
                <a:spcPts val="1783"/>
              </a:lnSpc>
              <a:defRPr/>
            </a:pPr>
            <a:r>
              <a:rPr lang="en-US" sz="135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 17  PropertyGFATotal                 3376 non-null   int64  </a:t>
            </a:r>
            <a:endParaRPr/>
          </a:p>
          <a:p>
            <a:pPr algn="l">
              <a:lnSpc>
                <a:spcPts val="1783"/>
              </a:lnSpc>
              <a:defRPr/>
            </a:pPr>
            <a:r>
              <a:rPr lang="en-US" sz="135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 18  PropertyGFAParking               3376 non-null   int64  </a:t>
            </a:r>
            <a:endParaRPr/>
          </a:p>
          <a:p>
            <a:pPr algn="l">
              <a:lnSpc>
                <a:spcPts val="1783"/>
              </a:lnSpc>
              <a:defRPr/>
            </a:pPr>
            <a:r>
              <a:rPr lang="en-US" sz="135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 19  PropertyGFABuilding(s)           3376 non-null   int64  </a:t>
            </a:r>
            <a:endParaRPr/>
          </a:p>
          <a:p>
            <a:pPr algn="l">
              <a:lnSpc>
                <a:spcPts val="1783"/>
              </a:lnSpc>
              <a:defRPr/>
            </a:pPr>
            <a:r>
              <a:rPr lang="en-US" sz="135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 20  ListOfAllPropertyUseTypes        3367 non-null   object </a:t>
            </a:r>
            <a:endParaRPr/>
          </a:p>
        </p:txBody>
      </p:sp>
      <p:sp>
        <p:nvSpPr>
          <p:cNvPr id="503309483" name="TextBox 20"/>
          <p:cNvSpPr txBox="1"/>
          <p:nvPr/>
        </p:nvSpPr>
        <p:spPr bwMode="auto">
          <a:xfrm rot="0">
            <a:off x="3638121" y="1962712"/>
            <a:ext cx="6317371" cy="373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0"/>
              </a:lnSpc>
              <a:defRPr/>
            </a:pPr>
            <a:r>
              <a:rPr lang="en-US" sz="2100" b="1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</a:rPr>
              <a:t>Dataset : Dimensions : 3376 lignes × 46 colonnes</a:t>
            </a:r>
            <a:endParaRPr/>
          </a:p>
        </p:txBody>
      </p:sp>
      <p:sp>
        <p:nvSpPr>
          <p:cNvPr id="1581663576" name="TextBox 21"/>
          <p:cNvSpPr txBox="1"/>
          <p:nvPr/>
        </p:nvSpPr>
        <p:spPr bwMode="auto">
          <a:xfrm rot="0">
            <a:off x="3851986" y="7964595"/>
            <a:ext cx="5546227" cy="373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8"/>
              </a:lnSpc>
              <a:defRPr/>
            </a:pPr>
            <a:r>
              <a:rPr lang="en-US" sz="2100" b="1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</a:rPr>
              <a:t>RÉPARTITION DES TYPES DE DONNÉES</a:t>
            </a:r>
            <a:endParaRPr/>
          </a:p>
        </p:txBody>
      </p:sp>
      <p:sp>
        <p:nvSpPr>
          <p:cNvPr id="916576023" name="TextBox 22"/>
          <p:cNvSpPr txBox="1"/>
          <p:nvPr/>
        </p:nvSpPr>
        <p:spPr bwMode="auto">
          <a:xfrm rot="0">
            <a:off x="10172241" y="8413089"/>
            <a:ext cx="3117051" cy="891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0"/>
              </a:lnSpc>
              <a:defRPr/>
            </a:pPr>
            <a:r>
              <a:rPr lang="en-US" sz="18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Variables catégorielles : 1</a:t>
            </a:r>
            <a:r>
              <a:rPr lang="fr-FR" sz="18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5</a:t>
            </a:r>
            <a:endParaRPr/>
          </a:p>
          <a:p>
            <a:pPr algn="l">
              <a:lnSpc>
                <a:spcPts val="3510"/>
              </a:lnSpc>
              <a:defRPr/>
            </a:pPr>
            <a:r>
              <a:rPr lang="en-US" sz="18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Booléen: 1 colonnes</a:t>
            </a:r>
            <a:endParaRPr/>
          </a:p>
        </p:txBody>
      </p:sp>
      <p:sp>
        <p:nvSpPr>
          <p:cNvPr id="998859933" name="TextBox 23"/>
          <p:cNvSpPr txBox="1"/>
          <p:nvPr/>
        </p:nvSpPr>
        <p:spPr bwMode="auto">
          <a:xfrm rot="0">
            <a:off x="5786475" y="8388162"/>
            <a:ext cx="2783164" cy="3924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7"/>
              </a:lnSpc>
              <a:defRPr/>
            </a:pP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Variables numériques :</a:t>
            </a:r>
            <a:r>
              <a:rPr lang="fr-FR" sz="16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fr-FR" sz="16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30</a:t>
            </a:r>
            <a:endParaRPr/>
          </a:p>
        </p:txBody>
      </p:sp>
      <p:sp>
        <p:nvSpPr>
          <p:cNvPr id="363870633" name="TextBox 24"/>
          <p:cNvSpPr txBox="1"/>
          <p:nvPr/>
        </p:nvSpPr>
        <p:spPr bwMode="auto">
          <a:xfrm rot="0">
            <a:off x="6244008" y="8798899"/>
            <a:ext cx="1868087" cy="784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7"/>
              </a:lnSpc>
              <a:defRPr/>
            </a:pP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Entier : </a:t>
            </a:r>
            <a:r>
              <a:rPr lang="fr-FR" sz="16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8</a:t>
            </a: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colonnes</a:t>
            </a:r>
            <a:endParaRPr/>
          </a:p>
          <a:p>
            <a:pPr algn="l">
              <a:lnSpc>
                <a:spcPts val="3087"/>
              </a:lnSpc>
              <a:defRPr/>
            </a:pP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Float : </a:t>
            </a:r>
            <a:r>
              <a:rPr lang="fr-FR" sz="16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22</a:t>
            </a: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colonnes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2050202" name="Freeform 2"/>
          <p:cNvSpPr/>
          <p:nvPr/>
        </p:nvSpPr>
        <p:spPr bwMode="auto">
          <a:xfrm rot="0" flipH="0" flipV="0">
            <a:off x="-438779" y="9881965"/>
            <a:ext cx="18726779" cy="414753"/>
          </a:xfrm>
          <a:custGeom>
            <a:avLst/>
            <a:gdLst/>
            <a:ahLst/>
            <a:cxnLst/>
            <a:rect l="l" t="t" r="r" b="b"/>
            <a:pathLst>
              <a:path w="18726779" h="414753" fill="norm" stroke="1" extrusionOk="0">
                <a:moveTo>
                  <a:pt x="0" y="0"/>
                </a:moveTo>
                <a:lnTo>
                  <a:pt x="18726779" y="0"/>
                </a:lnTo>
                <a:lnTo>
                  <a:pt x="18726779" y="414753"/>
                </a:lnTo>
                <a:lnTo>
                  <a:pt x="0" y="4147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 l="0" t="0" r="0" b="0"/>
            </a:stretch>
          </a:blipFill>
        </p:spPr>
      </p:sp>
      <p:grpSp>
        <p:nvGrpSpPr>
          <p:cNvPr id="231301547" name="Group 3"/>
          <p:cNvGrpSpPr/>
          <p:nvPr/>
        </p:nvGrpSpPr>
        <p:grpSpPr bwMode="auto">
          <a:xfrm rot="5400000">
            <a:off x="358864" y="-760657"/>
            <a:ext cx="6989568" cy="7992237"/>
            <a:chOff x="0" y="0"/>
            <a:chExt cx="9319424" cy="10656316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9319387" cy="10656316"/>
            </a:xfrm>
            <a:custGeom>
              <a:avLst/>
              <a:gdLst/>
              <a:ahLst/>
              <a:cxnLst/>
              <a:rect l="l" t="t" r="r" b="b"/>
              <a:pathLst>
                <a:path w="9319387" h="10656316" fill="norm" stroke="1" extrusionOk="0">
                  <a:moveTo>
                    <a:pt x="0" y="0"/>
                  </a:moveTo>
                  <a:lnTo>
                    <a:pt x="9319387" y="0"/>
                  </a:lnTo>
                  <a:lnTo>
                    <a:pt x="9319387" y="10656316"/>
                  </a:lnTo>
                  <a:lnTo>
                    <a:pt x="0" y="1065631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/>
              <a:stretch>
                <a:fillRect l="0" t="-23" r="0" b="-22"/>
              </a:stretch>
            </a:blipFill>
          </p:spPr>
        </p:sp>
      </p:grpSp>
      <p:grpSp>
        <p:nvGrpSpPr>
          <p:cNvPr id="367060561" name="Group 5"/>
          <p:cNvGrpSpPr/>
          <p:nvPr/>
        </p:nvGrpSpPr>
        <p:grpSpPr bwMode="auto">
          <a:xfrm rot="0">
            <a:off x="5064804" y="3462680"/>
            <a:ext cx="3852720" cy="2226574"/>
            <a:chOff x="0" y="0"/>
            <a:chExt cx="5136960" cy="2968764"/>
          </a:xfrm>
        </p:grpSpPr>
        <p:sp>
          <p:nvSpPr>
            <p:cNvPr id="6" name="Freeform 6"/>
            <p:cNvSpPr/>
            <p:nvPr/>
          </p:nvSpPr>
          <p:spPr bwMode="auto">
            <a:xfrm rot="0" flipH="0" flipV="0">
              <a:off x="0" y="0"/>
              <a:ext cx="5137023" cy="2968752"/>
            </a:xfrm>
            <a:custGeom>
              <a:avLst/>
              <a:gdLst/>
              <a:ahLst/>
              <a:cxnLst/>
              <a:rect l="l" t="t" r="r" b="b"/>
              <a:pathLst>
                <a:path w="5137023" h="2968752" fill="norm" stroke="1" extrusionOk="0">
                  <a:moveTo>
                    <a:pt x="0" y="0"/>
                  </a:moveTo>
                  <a:lnTo>
                    <a:pt x="5137023" y="0"/>
                  </a:lnTo>
                  <a:lnTo>
                    <a:pt x="5137023" y="2968752"/>
                  </a:lnTo>
                  <a:lnTo>
                    <a:pt x="0" y="296875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/>
              <a:stretch>
                <a:fillRect l="0" t="0" r="1" b="0"/>
              </a:stretch>
            </a:blipFill>
          </p:spPr>
        </p:sp>
      </p:grpSp>
      <p:grpSp>
        <p:nvGrpSpPr>
          <p:cNvPr id="1760914363" name="Group 7"/>
          <p:cNvGrpSpPr/>
          <p:nvPr/>
        </p:nvGrpSpPr>
        <p:grpSpPr bwMode="auto">
          <a:xfrm rot="0">
            <a:off x="5064804" y="4128572"/>
            <a:ext cx="237134" cy="645671"/>
            <a:chOff x="0" y="0"/>
            <a:chExt cx="316179" cy="860895"/>
          </a:xfrm>
        </p:grpSpPr>
        <p:sp>
          <p:nvSpPr>
            <p:cNvPr id="8" name="Freeform 8"/>
            <p:cNvSpPr/>
            <p:nvPr/>
          </p:nvSpPr>
          <p:spPr bwMode="auto">
            <a:xfrm rot="0" flipH="0" flipV="0">
              <a:off x="0" y="0"/>
              <a:ext cx="316229" cy="860933"/>
            </a:xfrm>
            <a:custGeom>
              <a:avLst/>
              <a:gdLst/>
              <a:ahLst/>
              <a:cxnLst/>
              <a:rect l="l" t="t" r="r" b="b"/>
              <a:pathLst>
                <a:path w="316230" h="860933" fill="norm" stroke="1" extrusionOk="0">
                  <a:moveTo>
                    <a:pt x="0" y="0"/>
                  </a:moveTo>
                  <a:lnTo>
                    <a:pt x="316230" y="0"/>
                  </a:lnTo>
                  <a:lnTo>
                    <a:pt x="316230" y="860933"/>
                  </a:lnTo>
                  <a:lnTo>
                    <a:pt x="0" y="86093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/>
              <a:stretch>
                <a:fillRect l="0" t="-17" r="16" b="-13"/>
              </a:stretch>
            </a:blipFill>
          </p:spPr>
        </p:sp>
      </p:grpSp>
      <p:grpSp>
        <p:nvGrpSpPr>
          <p:cNvPr id="475050961" name="Group 9"/>
          <p:cNvGrpSpPr/>
          <p:nvPr/>
        </p:nvGrpSpPr>
        <p:grpSpPr bwMode="auto">
          <a:xfrm rot="-4907160">
            <a:off x="1782013" y="8706412"/>
            <a:ext cx="687343" cy="802738"/>
            <a:chOff x="0" y="0"/>
            <a:chExt cx="916457" cy="1070318"/>
          </a:xfrm>
        </p:grpSpPr>
        <p:sp>
          <p:nvSpPr>
            <p:cNvPr id="10" name="Freeform 10"/>
            <p:cNvSpPr/>
            <p:nvPr/>
          </p:nvSpPr>
          <p:spPr bwMode="auto">
            <a:xfrm rot="0" flipH="1" flipV="0">
              <a:off x="0" y="0"/>
              <a:ext cx="916432" cy="1070356"/>
            </a:xfrm>
            <a:custGeom>
              <a:avLst/>
              <a:gdLst/>
              <a:ahLst/>
              <a:cxnLst/>
              <a:rect l="l" t="t" r="r" b="b"/>
              <a:pathLst>
                <a:path w="916432" h="1070356" fill="norm" stroke="1" extrusionOk="0">
                  <a:moveTo>
                    <a:pt x="916432" y="0"/>
                  </a:moveTo>
                  <a:lnTo>
                    <a:pt x="0" y="0"/>
                  </a:lnTo>
                  <a:lnTo>
                    <a:pt x="0" y="1070356"/>
                  </a:lnTo>
                  <a:lnTo>
                    <a:pt x="916432" y="1070356"/>
                  </a:lnTo>
                  <a:lnTo>
                    <a:pt x="916432" y="0"/>
                  </a:lnTo>
                  <a:close/>
                </a:path>
              </a:pathLst>
            </a:custGeom>
            <a:blipFill rotWithShape="1">
              <a:blip r:embed="rId7"/>
              <a:stretch>
                <a:fillRect l="-34" t="0" r="-37" b="3"/>
              </a:stretch>
            </a:blipFill>
          </p:spPr>
        </p:sp>
      </p:grpSp>
      <p:grpSp>
        <p:nvGrpSpPr>
          <p:cNvPr id="461897212" name="Group 11"/>
          <p:cNvGrpSpPr/>
          <p:nvPr/>
        </p:nvGrpSpPr>
        <p:grpSpPr bwMode="auto">
          <a:xfrm rot="0">
            <a:off x="10667543" y="6889518"/>
            <a:ext cx="521265" cy="210464"/>
            <a:chOff x="0" y="0"/>
            <a:chExt cx="695020" cy="280619"/>
          </a:xfrm>
        </p:grpSpPr>
        <p:sp>
          <p:nvSpPr>
            <p:cNvPr id="12" name="Freeform 12"/>
            <p:cNvSpPr/>
            <p:nvPr/>
          </p:nvSpPr>
          <p:spPr bwMode="auto">
            <a:xfrm rot="0" flipH="0" flipV="0">
              <a:off x="0" y="0"/>
              <a:ext cx="695071" cy="280670"/>
            </a:xfrm>
            <a:custGeom>
              <a:avLst/>
              <a:gdLst/>
              <a:ahLst/>
              <a:cxnLst/>
              <a:rect l="l" t="t" r="r" b="b"/>
              <a:pathLst>
                <a:path w="695071" h="280670" fill="norm" stroke="1" extrusionOk="0">
                  <a:moveTo>
                    <a:pt x="0" y="0"/>
                  </a:moveTo>
                  <a:lnTo>
                    <a:pt x="695071" y="0"/>
                  </a:lnTo>
                  <a:lnTo>
                    <a:pt x="695071" y="280670"/>
                  </a:lnTo>
                  <a:lnTo>
                    <a:pt x="0" y="28067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/>
              <a:stretch>
                <a:fillRect l="-36" t="0" r="-27" b="18"/>
              </a:stretch>
            </a:blipFill>
          </p:spPr>
        </p:sp>
      </p:grpSp>
      <p:grpSp>
        <p:nvGrpSpPr>
          <p:cNvPr id="987248008" name="Group 13"/>
          <p:cNvGrpSpPr/>
          <p:nvPr/>
        </p:nvGrpSpPr>
        <p:grpSpPr bwMode="auto">
          <a:xfrm rot="0">
            <a:off x="10601038" y="7422349"/>
            <a:ext cx="521265" cy="210464"/>
            <a:chOff x="0" y="0"/>
            <a:chExt cx="695020" cy="280619"/>
          </a:xfrm>
        </p:grpSpPr>
        <p:sp>
          <p:nvSpPr>
            <p:cNvPr id="14" name="Freeform 14"/>
            <p:cNvSpPr/>
            <p:nvPr/>
          </p:nvSpPr>
          <p:spPr bwMode="auto">
            <a:xfrm rot="0" flipH="0" flipV="0">
              <a:off x="0" y="0"/>
              <a:ext cx="695071" cy="280670"/>
            </a:xfrm>
            <a:custGeom>
              <a:avLst/>
              <a:gdLst/>
              <a:ahLst/>
              <a:cxnLst/>
              <a:rect l="l" t="t" r="r" b="b"/>
              <a:pathLst>
                <a:path w="695071" h="280670" fill="norm" stroke="1" extrusionOk="0">
                  <a:moveTo>
                    <a:pt x="0" y="0"/>
                  </a:moveTo>
                  <a:lnTo>
                    <a:pt x="695071" y="0"/>
                  </a:lnTo>
                  <a:lnTo>
                    <a:pt x="695071" y="280670"/>
                  </a:lnTo>
                  <a:lnTo>
                    <a:pt x="0" y="28067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/>
              <a:stretch>
                <a:fillRect l="-36" t="0" r="-27" b="18"/>
              </a:stretch>
            </a:blipFill>
          </p:spPr>
        </p:sp>
      </p:grpSp>
      <p:grpSp>
        <p:nvGrpSpPr>
          <p:cNvPr id="748704453" name="Group 15"/>
          <p:cNvGrpSpPr/>
          <p:nvPr/>
        </p:nvGrpSpPr>
        <p:grpSpPr bwMode="auto">
          <a:xfrm rot="0">
            <a:off x="10667542" y="7806864"/>
            <a:ext cx="521265" cy="210464"/>
            <a:chOff x="0" y="0"/>
            <a:chExt cx="695020" cy="280619"/>
          </a:xfrm>
        </p:grpSpPr>
        <p:sp>
          <p:nvSpPr>
            <p:cNvPr id="16" name="Freeform 16"/>
            <p:cNvSpPr/>
            <p:nvPr/>
          </p:nvSpPr>
          <p:spPr bwMode="auto">
            <a:xfrm rot="0" flipH="0" flipV="0">
              <a:off x="0" y="0"/>
              <a:ext cx="695071" cy="280670"/>
            </a:xfrm>
            <a:custGeom>
              <a:avLst/>
              <a:gdLst/>
              <a:ahLst/>
              <a:cxnLst/>
              <a:rect l="l" t="t" r="r" b="b"/>
              <a:pathLst>
                <a:path w="695071" h="280670" fill="norm" stroke="1" extrusionOk="0">
                  <a:moveTo>
                    <a:pt x="0" y="0"/>
                  </a:moveTo>
                  <a:lnTo>
                    <a:pt x="695071" y="0"/>
                  </a:lnTo>
                  <a:lnTo>
                    <a:pt x="695071" y="280670"/>
                  </a:lnTo>
                  <a:lnTo>
                    <a:pt x="0" y="28067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/>
              <a:stretch>
                <a:fillRect l="-36" t="0" r="-27" b="18"/>
              </a:stretch>
            </a:blipFill>
          </p:spPr>
        </p:sp>
      </p:grpSp>
      <p:sp>
        <p:nvSpPr>
          <p:cNvPr id="1234455350" name="TextBox 17"/>
          <p:cNvSpPr txBox="1"/>
          <p:nvPr/>
        </p:nvSpPr>
        <p:spPr bwMode="auto">
          <a:xfrm rot="0">
            <a:off x="10109321" y="6254601"/>
            <a:ext cx="2738123" cy="367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59"/>
              </a:lnSpc>
              <a:defRPr/>
            </a:pPr>
            <a:r>
              <a:rPr lang="en-US" sz="22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</a:rPr>
              <a:t>La feature Outlier </a:t>
            </a:r>
            <a:endParaRPr/>
          </a:p>
        </p:txBody>
      </p:sp>
      <p:sp>
        <p:nvSpPr>
          <p:cNvPr id="246866307" name="TextBox 18"/>
          <p:cNvSpPr txBox="1"/>
          <p:nvPr/>
        </p:nvSpPr>
        <p:spPr bwMode="auto">
          <a:xfrm rot="0">
            <a:off x="11291478" y="6810889"/>
            <a:ext cx="5157073" cy="289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  <a:defRPr/>
            </a:pPr>
            <a:r>
              <a:rPr lang="en-US" sz="18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Elle contient des catégories non conformes</a:t>
            </a:r>
            <a:endParaRPr/>
          </a:p>
        </p:txBody>
      </p:sp>
      <p:sp>
        <p:nvSpPr>
          <p:cNvPr id="1003182035" name="TextBox 19"/>
          <p:cNvSpPr txBox="1"/>
          <p:nvPr/>
        </p:nvSpPr>
        <p:spPr bwMode="auto">
          <a:xfrm rot="0">
            <a:off x="11291477" y="7292016"/>
            <a:ext cx="5157073" cy="289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  <a:defRPr/>
            </a:pPr>
            <a:r>
              <a:rPr lang="en-US" sz="18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Suppression des lignes </a:t>
            </a:r>
            <a:endParaRPr/>
          </a:p>
        </p:txBody>
      </p:sp>
      <p:sp>
        <p:nvSpPr>
          <p:cNvPr id="1252067392" name="TextBox 20"/>
          <p:cNvSpPr txBox="1"/>
          <p:nvPr/>
        </p:nvSpPr>
        <p:spPr bwMode="auto">
          <a:xfrm rot="0">
            <a:off x="11291477" y="7725202"/>
            <a:ext cx="5157073" cy="289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  <a:defRPr/>
            </a:pPr>
            <a:r>
              <a:rPr lang="en-US" sz="18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Supression de la colonne Outlier</a:t>
            </a:r>
            <a:endParaRPr/>
          </a:p>
        </p:txBody>
      </p:sp>
      <p:grpSp>
        <p:nvGrpSpPr>
          <p:cNvPr id="943128643" name="Group 21"/>
          <p:cNvGrpSpPr/>
          <p:nvPr/>
        </p:nvGrpSpPr>
        <p:grpSpPr bwMode="auto">
          <a:xfrm rot="0">
            <a:off x="2112836" y="7339659"/>
            <a:ext cx="521265" cy="210464"/>
            <a:chOff x="0" y="0"/>
            <a:chExt cx="695020" cy="280619"/>
          </a:xfrm>
        </p:grpSpPr>
        <p:sp>
          <p:nvSpPr>
            <p:cNvPr id="22" name="Freeform 22"/>
            <p:cNvSpPr/>
            <p:nvPr/>
          </p:nvSpPr>
          <p:spPr bwMode="auto">
            <a:xfrm rot="0" flipH="0" flipV="0">
              <a:off x="0" y="0"/>
              <a:ext cx="695071" cy="280670"/>
            </a:xfrm>
            <a:custGeom>
              <a:avLst/>
              <a:gdLst/>
              <a:ahLst/>
              <a:cxnLst/>
              <a:rect l="l" t="t" r="r" b="b"/>
              <a:pathLst>
                <a:path w="695071" h="280670" fill="norm" stroke="1" extrusionOk="0">
                  <a:moveTo>
                    <a:pt x="0" y="0"/>
                  </a:moveTo>
                  <a:lnTo>
                    <a:pt x="695071" y="0"/>
                  </a:lnTo>
                  <a:lnTo>
                    <a:pt x="695071" y="280670"/>
                  </a:lnTo>
                  <a:lnTo>
                    <a:pt x="0" y="28067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/>
              <a:stretch>
                <a:fillRect l="-36" t="0" r="-27" b="18"/>
              </a:stretch>
            </a:blipFill>
          </p:spPr>
        </p:sp>
      </p:grpSp>
      <p:grpSp>
        <p:nvGrpSpPr>
          <p:cNvPr id="410906184" name="Group 23"/>
          <p:cNvGrpSpPr/>
          <p:nvPr/>
        </p:nvGrpSpPr>
        <p:grpSpPr bwMode="auto">
          <a:xfrm rot="0">
            <a:off x="2112836" y="7756636"/>
            <a:ext cx="521265" cy="210464"/>
            <a:chOff x="0" y="0"/>
            <a:chExt cx="695020" cy="280619"/>
          </a:xfrm>
        </p:grpSpPr>
        <p:sp>
          <p:nvSpPr>
            <p:cNvPr id="24" name="Freeform 24"/>
            <p:cNvSpPr/>
            <p:nvPr/>
          </p:nvSpPr>
          <p:spPr bwMode="auto">
            <a:xfrm rot="0" flipH="0" flipV="0">
              <a:off x="0" y="0"/>
              <a:ext cx="695071" cy="280670"/>
            </a:xfrm>
            <a:custGeom>
              <a:avLst/>
              <a:gdLst/>
              <a:ahLst/>
              <a:cxnLst/>
              <a:rect l="l" t="t" r="r" b="b"/>
              <a:pathLst>
                <a:path w="695071" h="280670" fill="norm" stroke="1" extrusionOk="0">
                  <a:moveTo>
                    <a:pt x="0" y="0"/>
                  </a:moveTo>
                  <a:lnTo>
                    <a:pt x="695071" y="0"/>
                  </a:lnTo>
                  <a:lnTo>
                    <a:pt x="695071" y="280670"/>
                  </a:lnTo>
                  <a:lnTo>
                    <a:pt x="0" y="28067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/>
              <a:stretch>
                <a:fillRect l="-36" t="0" r="-27" b="18"/>
              </a:stretch>
            </a:blipFill>
          </p:spPr>
        </p:sp>
      </p:grpSp>
      <p:sp>
        <p:nvSpPr>
          <p:cNvPr id="1339329008" name="TextBox 25"/>
          <p:cNvSpPr txBox="1"/>
          <p:nvPr/>
        </p:nvSpPr>
        <p:spPr bwMode="auto">
          <a:xfrm rot="0">
            <a:off x="2732608" y="7292016"/>
            <a:ext cx="6002026" cy="289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  <a:defRPr/>
            </a:pPr>
            <a:r>
              <a:rPr lang="en-US" sz="18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Suppression des individus possédant + de 4 bâtiments</a:t>
            </a:r>
            <a:endParaRPr/>
          </a:p>
        </p:txBody>
      </p:sp>
      <p:sp>
        <p:nvSpPr>
          <p:cNvPr id="669805510" name="TextBox 26"/>
          <p:cNvSpPr txBox="1"/>
          <p:nvPr/>
        </p:nvSpPr>
        <p:spPr bwMode="auto">
          <a:xfrm rot="0">
            <a:off x="2732608" y="7648775"/>
            <a:ext cx="4884610" cy="289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340"/>
              </a:lnSpc>
              <a:defRPr/>
            </a:pPr>
            <a:r>
              <a:rPr lang="en-US" sz="18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Cela concerne 41 individus de mon Dataset</a:t>
            </a:r>
            <a:endParaRPr/>
          </a:p>
        </p:txBody>
      </p:sp>
      <p:sp>
        <p:nvSpPr>
          <p:cNvPr id="1313057056" name="TextBox 27"/>
          <p:cNvSpPr txBox="1"/>
          <p:nvPr/>
        </p:nvSpPr>
        <p:spPr bwMode="auto">
          <a:xfrm rot="0">
            <a:off x="1849574" y="6796573"/>
            <a:ext cx="5334352" cy="349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0"/>
              </a:lnSpc>
              <a:defRPr/>
            </a:pPr>
            <a:r>
              <a:rPr lang="en-US" sz="21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</a:rPr>
              <a:t>Individus possédant + de 4 bâtiments</a:t>
            </a:r>
            <a:endParaRPr/>
          </a:p>
        </p:txBody>
      </p:sp>
      <p:grpSp>
        <p:nvGrpSpPr>
          <p:cNvPr id="99324352" name="Group 28"/>
          <p:cNvGrpSpPr/>
          <p:nvPr/>
        </p:nvGrpSpPr>
        <p:grpSpPr bwMode="auto">
          <a:xfrm rot="0">
            <a:off x="9886216" y="2498484"/>
            <a:ext cx="521265" cy="210464"/>
            <a:chOff x="0" y="0"/>
            <a:chExt cx="695020" cy="280619"/>
          </a:xfrm>
        </p:grpSpPr>
        <p:sp>
          <p:nvSpPr>
            <p:cNvPr id="29" name="Freeform 29"/>
            <p:cNvSpPr/>
            <p:nvPr/>
          </p:nvSpPr>
          <p:spPr bwMode="auto">
            <a:xfrm rot="0" flipH="0" flipV="0">
              <a:off x="0" y="0"/>
              <a:ext cx="695071" cy="280670"/>
            </a:xfrm>
            <a:custGeom>
              <a:avLst/>
              <a:gdLst/>
              <a:ahLst/>
              <a:cxnLst/>
              <a:rect l="l" t="t" r="r" b="b"/>
              <a:pathLst>
                <a:path w="695071" h="280670" fill="norm" stroke="1" extrusionOk="0">
                  <a:moveTo>
                    <a:pt x="0" y="0"/>
                  </a:moveTo>
                  <a:lnTo>
                    <a:pt x="695071" y="0"/>
                  </a:lnTo>
                  <a:lnTo>
                    <a:pt x="695071" y="280670"/>
                  </a:lnTo>
                  <a:lnTo>
                    <a:pt x="0" y="28067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/>
              <a:stretch>
                <a:fillRect l="-36" t="0" r="-27" b="18"/>
              </a:stretch>
            </a:blipFill>
          </p:spPr>
        </p:sp>
      </p:grpSp>
      <p:sp>
        <p:nvSpPr>
          <p:cNvPr id="1596629178" name="TextBox 30"/>
          <p:cNvSpPr txBox="1"/>
          <p:nvPr/>
        </p:nvSpPr>
        <p:spPr bwMode="auto">
          <a:xfrm rot="0">
            <a:off x="10466700" y="2626691"/>
            <a:ext cx="5095216" cy="3269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340"/>
              </a:lnSpc>
              <a:defRPr/>
            </a:pPr>
            <a:r>
              <a:rPr lang="en-US" sz="18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Suppression de </a:t>
            </a:r>
            <a:r>
              <a:rPr lang="fr-FR" sz="18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10</a:t>
            </a:r>
            <a:r>
              <a:rPr lang="en-US" sz="18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features non exploitables : </a:t>
            </a:r>
            <a:endParaRPr/>
          </a:p>
          <a:p>
            <a:pPr marL="411480" lvl="2" indent="-137160" algn="just">
              <a:lnSpc>
                <a:spcPts val="2340"/>
              </a:lnSpc>
              <a:buFont typeface="Arial"/>
              <a:buChar char="⚬"/>
              <a:defRPr/>
            </a:pPr>
            <a:r>
              <a:rPr lang="en-US" sz="18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OSEBuildingID</a:t>
            </a:r>
            <a:endParaRPr/>
          </a:p>
          <a:p>
            <a:pPr marL="411480" lvl="2" indent="-137160" algn="just">
              <a:lnSpc>
                <a:spcPts val="2340"/>
              </a:lnSpc>
              <a:buFont typeface="Arial"/>
              <a:buChar char="⚬"/>
              <a:defRPr/>
            </a:pPr>
            <a:r>
              <a:rPr lang="en-US" sz="18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PropertyName</a:t>
            </a:r>
            <a:endParaRPr/>
          </a:p>
          <a:p>
            <a:pPr marL="411480" lvl="2" indent="-137160" algn="just">
              <a:lnSpc>
                <a:spcPts val="2339"/>
              </a:lnSpc>
              <a:buFont typeface="Arial"/>
              <a:buChar char="⚬"/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Electricity(kWh)</a:t>
            </a:r>
            <a:endParaRPr lang="en-US" sz="180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marL="411480" lvl="2" indent="-137160" algn="just">
              <a:lnSpc>
                <a:spcPts val="2339"/>
              </a:lnSpc>
              <a:buFont typeface="Arial"/>
              <a:buChar char="⚬"/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NaturalGas(therms)</a:t>
            </a:r>
            <a:endParaRPr lang="en-US" sz="180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marL="411480" lvl="2" indent="-137160" algn="just">
              <a:lnSpc>
                <a:spcPts val="2339"/>
              </a:lnSpc>
              <a:buFont typeface="Arial"/>
              <a:buChar char="⚬"/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Address</a:t>
            </a:r>
            <a:endParaRPr/>
          </a:p>
          <a:p>
            <a:pPr marL="411480" lvl="2" indent="-137160" algn="just">
              <a:lnSpc>
                <a:spcPts val="2340"/>
              </a:lnSpc>
              <a:buFont typeface="Arial"/>
              <a:buChar char="⚬"/>
              <a:defRPr/>
            </a:pPr>
            <a:r>
              <a:rPr lang="en-US" sz="18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City</a:t>
            </a:r>
            <a:endParaRPr/>
          </a:p>
          <a:p>
            <a:pPr marL="411480" lvl="2" indent="-137160" algn="just">
              <a:lnSpc>
                <a:spcPts val="2340"/>
              </a:lnSpc>
              <a:buFont typeface="Arial"/>
              <a:buChar char="⚬"/>
              <a:defRPr/>
            </a:pPr>
            <a:r>
              <a:rPr lang="en-US" sz="18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State</a:t>
            </a:r>
            <a:endParaRPr/>
          </a:p>
          <a:p>
            <a:pPr marL="411480" lvl="2" indent="-137160" algn="just">
              <a:lnSpc>
                <a:spcPts val="2340"/>
              </a:lnSpc>
              <a:buFont typeface="Arial"/>
              <a:buChar char="⚬"/>
              <a:defRPr/>
            </a:pPr>
            <a:r>
              <a:rPr lang="en-US" sz="18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ZipCode</a:t>
            </a:r>
            <a:endParaRPr/>
          </a:p>
          <a:p>
            <a:pPr marL="411480" lvl="2" indent="-137160" algn="just">
              <a:lnSpc>
                <a:spcPts val="2340"/>
              </a:lnSpc>
              <a:buFont typeface="Arial"/>
              <a:buChar char="⚬"/>
              <a:defRPr/>
            </a:pPr>
            <a:r>
              <a:rPr lang="en-US" sz="18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TaxParcelIdentificationNumber</a:t>
            </a:r>
            <a:endParaRPr/>
          </a:p>
          <a:p>
            <a:pPr marL="411480" lvl="2" indent="-137160" algn="just">
              <a:lnSpc>
                <a:spcPts val="2340"/>
              </a:lnSpc>
              <a:buFont typeface="Arial"/>
              <a:buChar char="⚬"/>
              <a:defRPr/>
            </a:pPr>
            <a:r>
              <a:rPr lang="en-US" sz="18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Comments</a:t>
            </a:r>
            <a:endParaRPr/>
          </a:p>
        </p:txBody>
      </p:sp>
      <p:sp>
        <p:nvSpPr>
          <p:cNvPr id="1522511635" name="TextBox 31"/>
          <p:cNvSpPr txBox="1"/>
          <p:nvPr/>
        </p:nvSpPr>
        <p:spPr bwMode="auto">
          <a:xfrm rot="0">
            <a:off x="10200564" y="2085097"/>
            <a:ext cx="3723218" cy="367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59"/>
              </a:lnSpc>
              <a:defRPr/>
            </a:pPr>
            <a:r>
              <a:rPr lang="en-US" sz="22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</a:rPr>
              <a:t>Features non exploitables</a:t>
            </a:r>
            <a:endParaRPr/>
          </a:p>
        </p:txBody>
      </p:sp>
      <p:grpSp>
        <p:nvGrpSpPr>
          <p:cNvPr id="227377513" name="Group 32"/>
          <p:cNvGrpSpPr/>
          <p:nvPr/>
        </p:nvGrpSpPr>
        <p:grpSpPr bwMode="auto">
          <a:xfrm rot="0">
            <a:off x="2112836" y="5974661"/>
            <a:ext cx="521265" cy="210464"/>
            <a:chOff x="0" y="0"/>
            <a:chExt cx="695020" cy="280619"/>
          </a:xfrm>
        </p:grpSpPr>
        <p:sp>
          <p:nvSpPr>
            <p:cNvPr id="33" name="Freeform 33"/>
            <p:cNvSpPr/>
            <p:nvPr/>
          </p:nvSpPr>
          <p:spPr bwMode="auto">
            <a:xfrm rot="0" flipH="0" flipV="0">
              <a:off x="0" y="0"/>
              <a:ext cx="695071" cy="280670"/>
            </a:xfrm>
            <a:custGeom>
              <a:avLst/>
              <a:gdLst/>
              <a:ahLst/>
              <a:cxnLst/>
              <a:rect l="l" t="t" r="r" b="b"/>
              <a:pathLst>
                <a:path w="695071" h="280670" fill="norm" stroke="1" extrusionOk="0">
                  <a:moveTo>
                    <a:pt x="0" y="0"/>
                  </a:moveTo>
                  <a:lnTo>
                    <a:pt x="695071" y="0"/>
                  </a:lnTo>
                  <a:lnTo>
                    <a:pt x="695071" y="280670"/>
                  </a:lnTo>
                  <a:lnTo>
                    <a:pt x="0" y="28067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/>
              <a:stretch>
                <a:fillRect l="-36" t="0" r="-27" b="18"/>
              </a:stretch>
            </a:blipFill>
          </p:spPr>
        </p:sp>
      </p:grpSp>
      <p:grpSp>
        <p:nvGrpSpPr>
          <p:cNvPr id="1182830463" name="Group 34"/>
          <p:cNvGrpSpPr/>
          <p:nvPr/>
        </p:nvGrpSpPr>
        <p:grpSpPr bwMode="auto">
          <a:xfrm rot="0">
            <a:off x="2169471" y="3190723"/>
            <a:ext cx="521265" cy="210464"/>
            <a:chOff x="0" y="0"/>
            <a:chExt cx="695020" cy="280619"/>
          </a:xfrm>
        </p:grpSpPr>
        <p:sp>
          <p:nvSpPr>
            <p:cNvPr id="35" name="Freeform 35"/>
            <p:cNvSpPr/>
            <p:nvPr/>
          </p:nvSpPr>
          <p:spPr bwMode="auto">
            <a:xfrm rot="0" flipH="0" flipV="0">
              <a:off x="0" y="0"/>
              <a:ext cx="695071" cy="280670"/>
            </a:xfrm>
            <a:custGeom>
              <a:avLst/>
              <a:gdLst/>
              <a:ahLst/>
              <a:cxnLst/>
              <a:rect l="l" t="t" r="r" b="b"/>
              <a:pathLst>
                <a:path w="695071" h="280670" fill="norm" stroke="1" extrusionOk="0">
                  <a:moveTo>
                    <a:pt x="0" y="0"/>
                  </a:moveTo>
                  <a:lnTo>
                    <a:pt x="695071" y="0"/>
                  </a:lnTo>
                  <a:lnTo>
                    <a:pt x="695071" y="280670"/>
                  </a:lnTo>
                  <a:lnTo>
                    <a:pt x="0" y="28067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/>
              <a:stretch>
                <a:fillRect l="-36" t="0" r="-27" b="18"/>
              </a:stretch>
            </a:blipFill>
          </p:spPr>
        </p:sp>
      </p:grpSp>
      <p:sp>
        <p:nvSpPr>
          <p:cNvPr id="1982249394" name="TextBox 36"/>
          <p:cNvSpPr txBox="1"/>
          <p:nvPr/>
        </p:nvSpPr>
        <p:spPr bwMode="auto">
          <a:xfrm rot="0">
            <a:off x="2814561" y="3097854"/>
            <a:ext cx="6430470" cy="289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  <a:defRPr/>
            </a:pPr>
            <a:r>
              <a:rPr lang="en-US" sz="18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Suppression des individus ayant une utilisation RESIDENTIEL</a:t>
            </a:r>
            <a:endParaRPr/>
          </a:p>
        </p:txBody>
      </p:sp>
      <p:sp>
        <p:nvSpPr>
          <p:cNvPr id="1057798482" name="TextBox 37"/>
          <p:cNvSpPr txBox="1"/>
          <p:nvPr/>
        </p:nvSpPr>
        <p:spPr bwMode="auto">
          <a:xfrm rot="0">
            <a:off x="2732608" y="4201106"/>
            <a:ext cx="2450763" cy="4839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991"/>
              </a:lnSpc>
              <a:defRPr/>
            </a:pPr>
            <a:r>
              <a:rPr lang="en-US" sz="155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concerne principalement </a:t>
            </a:r>
            <a:endParaRPr/>
          </a:p>
          <a:p>
            <a:pPr algn="just">
              <a:lnSpc>
                <a:spcPts val="1991"/>
              </a:lnSpc>
              <a:defRPr/>
            </a:pPr>
            <a:r>
              <a:rPr lang="en-US" sz="155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les Multifamily</a:t>
            </a:r>
            <a:endParaRPr/>
          </a:p>
        </p:txBody>
      </p:sp>
      <p:sp>
        <p:nvSpPr>
          <p:cNvPr id="1759421267" name="TextBox 38"/>
          <p:cNvSpPr txBox="1"/>
          <p:nvPr/>
        </p:nvSpPr>
        <p:spPr bwMode="auto">
          <a:xfrm rot="0">
            <a:off x="2734332" y="5896032"/>
            <a:ext cx="4884610" cy="289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340"/>
              </a:lnSpc>
              <a:defRPr/>
            </a:pPr>
            <a:r>
              <a:rPr lang="en-US" sz="18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Cela concerne 1675 individus de mon Dataset</a:t>
            </a:r>
            <a:endParaRPr/>
          </a:p>
        </p:txBody>
      </p:sp>
      <p:sp>
        <p:nvSpPr>
          <p:cNvPr id="1001840045" name="TextBox 39"/>
          <p:cNvSpPr txBox="1"/>
          <p:nvPr/>
        </p:nvSpPr>
        <p:spPr bwMode="auto">
          <a:xfrm rot="0">
            <a:off x="1849574" y="2545880"/>
            <a:ext cx="6430470" cy="349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0"/>
              </a:lnSpc>
              <a:defRPr/>
            </a:pPr>
            <a:r>
              <a:rPr lang="en-US" sz="21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</a:rPr>
              <a:t>Individus ayant une utilisation RESIDENTIEL</a:t>
            </a:r>
            <a:endParaRPr/>
          </a:p>
        </p:txBody>
      </p:sp>
      <p:grpSp>
        <p:nvGrpSpPr>
          <p:cNvPr id="1422513410" name="Group 40"/>
          <p:cNvGrpSpPr/>
          <p:nvPr/>
        </p:nvGrpSpPr>
        <p:grpSpPr bwMode="auto">
          <a:xfrm rot="0">
            <a:off x="1104186" y="2399071"/>
            <a:ext cx="575148" cy="603828"/>
            <a:chOff x="0" y="0"/>
            <a:chExt cx="766864" cy="805104"/>
          </a:xfrm>
        </p:grpSpPr>
        <p:sp>
          <p:nvSpPr>
            <p:cNvPr id="41" name="Freeform 41"/>
            <p:cNvSpPr/>
            <p:nvPr/>
          </p:nvSpPr>
          <p:spPr bwMode="auto">
            <a:xfrm rot="0" flipH="0" flipV="0">
              <a:off x="0" y="0"/>
              <a:ext cx="766826" cy="805053"/>
            </a:xfrm>
            <a:custGeom>
              <a:avLst/>
              <a:gdLst/>
              <a:ahLst/>
              <a:cxnLst/>
              <a:rect l="l" t="t" r="r" b="b"/>
              <a:pathLst>
                <a:path w="766826" h="805053" fill="norm" stroke="1" extrusionOk="0">
                  <a:moveTo>
                    <a:pt x="0" y="0"/>
                  </a:moveTo>
                  <a:lnTo>
                    <a:pt x="766826" y="0"/>
                  </a:lnTo>
                  <a:lnTo>
                    <a:pt x="766826" y="805053"/>
                  </a:lnTo>
                  <a:lnTo>
                    <a:pt x="0" y="80505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9"/>
              <a:stretch>
                <a:fillRect l="0" t="-6" r="-4" b="-12"/>
              </a:stretch>
            </a:blipFill>
          </p:spPr>
        </p:sp>
      </p:grpSp>
      <p:grpSp>
        <p:nvGrpSpPr>
          <p:cNvPr id="176560831" name="Group 42"/>
          <p:cNvGrpSpPr/>
          <p:nvPr/>
        </p:nvGrpSpPr>
        <p:grpSpPr bwMode="auto">
          <a:xfrm rot="0">
            <a:off x="1191482" y="6730241"/>
            <a:ext cx="487851" cy="512178"/>
            <a:chOff x="0" y="0"/>
            <a:chExt cx="650469" cy="682904"/>
          </a:xfrm>
        </p:grpSpPr>
        <p:sp>
          <p:nvSpPr>
            <p:cNvPr id="43" name="Freeform 43"/>
            <p:cNvSpPr/>
            <p:nvPr/>
          </p:nvSpPr>
          <p:spPr bwMode="auto">
            <a:xfrm rot="0" flipH="0" flipV="0">
              <a:off x="0" y="0"/>
              <a:ext cx="650494" cy="682879"/>
            </a:xfrm>
            <a:custGeom>
              <a:avLst/>
              <a:gdLst/>
              <a:ahLst/>
              <a:cxnLst/>
              <a:rect l="l" t="t" r="r" b="b"/>
              <a:pathLst>
                <a:path w="650494" h="682879" fill="norm" stroke="1" extrusionOk="0">
                  <a:moveTo>
                    <a:pt x="0" y="0"/>
                  </a:moveTo>
                  <a:lnTo>
                    <a:pt x="650494" y="0"/>
                  </a:lnTo>
                  <a:lnTo>
                    <a:pt x="650494" y="682879"/>
                  </a:lnTo>
                  <a:lnTo>
                    <a:pt x="0" y="68287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0"/>
              <a:stretch>
                <a:fillRect l="0" t="-5" r="3" b="-10"/>
              </a:stretch>
            </a:blipFill>
          </p:spPr>
        </p:sp>
      </p:grpSp>
      <p:grpSp>
        <p:nvGrpSpPr>
          <p:cNvPr id="657340674" name="Group 44"/>
          <p:cNvGrpSpPr/>
          <p:nvPr/>
        </p:nvGrpSpPr>
        <p:grpSpPr bwMode="auto">
          <a:xfrm rot="0">
            <a:off x="9506292" y="1977249"/>
            <a:ext cx="484994" cy="509178"/>
            <a:chOff x="0" y="0"/>
            <a:chExt cx="646659" cy="678904"/>
          </a:xfrm>
        </p:grpSpPr>
        <p:sp>
          <p:nvSpPr>
            <p:cNvPr id="45" name="Freeform 45"/>
            <p:cNvSpPr/>
            <p:nvPr/>
          </p:nvSpPr>
          <p:spPr bwMode="auto">
            <a:xfrm rot="0" flipH="0" flipV="0">
              <a:off x="0" y="0"/>
              <a:ext cx="646684" cy="678942"/>
            </a:xfrm>
            <a:custGeom>
              <a:avLst/>
              <a:gdLst/>
              <a:ahLst/>
              <a:cxnLst/>
              <a:rect l="l" t="t" r="r" b="b"/>
              <a:pathLst>
                <a:path w="646684" h="678942" fill="norm" stroke="1" extrusionOk="0">
                  <a:moveTo>
                    <a:pt x="0" y="0"/>
                  </a:moveTo>
                  <a:lnTo>
                    <a:pt x="646684" y="0"/>
                  </a:lnTo>
                  <a:lnTo>
                    <a:pt x="646684" y="678942"/>
                  </a:lnTo>
                  <a:lnTo>
                    <a:pt x="0" y="67894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1"/>
              <a:stretch>
                <a:fillRect l="0" t="-5" r="3" b="-1"/>
              </a:stretch>
            </a:blipFill>
          </p:spPr>
        </p:sp>
      </p:grpSp>
      <p:grpSp>
        <p:nvGrpSpPr>
          <p:cNvPr id="268145807" name="Group 46"/>
          <p:cNvGrpSpPr/>
          <p:nvPr/>
        </p:nvGrpSpPr>
        <p:grpSpPr bwMode="auto">
          <a:xfrm rot="0">
            <a:off x="9363065" y="6070692"/>
            <a:ext cx="628221" cy="659549"/>
            <a:chOff x="0" y="0"/>
            <a:chExt cx="837628" cy="879399"/>
          </a:xfrm>
        </p:grpSpPr>
        <p:sp>
          <p:nvSpPr>
            <p:cNvPr id="47" name="Freeform 47"/>
            <p:cNvSpPr/>
            <p:nvPr/>
          </p:nvSpPr>
          <p:spPr bwMode="auto">
            <a:xfrm rot="0" flipH="0" flipV="0">
              <a:off x="0" y="0"/>
              <a:ext cx="837565" cy="879348"/>
            </a:xfrm>
            <a:custGeom>
              <a:avLst/>
              <a:gdLst/>
              <a:ahLst/>
              <a:cxnLst/>
              <a:rect l="l" t="t" r="r" b="b"/>
              <a:pathLst>
                <a:path w="837565" h="879348" fill="norm" stroke="1" extrusionOk="0">
                  <a:moveTo>
                    <a:pt x="0" y="0"/>
                  </a:moveTo>
                  <a:lnTo>
                    <a:pt x="837565" y="0"/>
                  </a:lnTo>
                  <a:lnTo>
                    <a:pt x="837565" y="879348"/>
                  </a:lnTo>
                  <a:lnTo>
                    <a:pt x="0" y="87934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2"/>
              <a:stretch>
                <a:fillRect l="0" t="-5" r="-7" b="-13"/>
              </a:stretch>
            </a:blipFill>
          </p:spPr>
        </p:sp>
      </p:grpSp>
      <p:sp>
        <p:nvSpPr>
          <p:cNvPr id="907950827" name="TextBox 48"/>
          <p:cNvSpPr txBox="1"/>
          <p:nvPr/>
        </p:nvSpPr>
        <p:spPr bwMode="auto">
          <a:xfrm rot="0">
            <a:off x="2169681" y="606962"/>
            <a:ext cx="10704500" cy="1512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558"/>
              </a:lnSpc>
              <a:defRPr/>
            </a:pPr>
            <a:r>
              <a:rPr lang="en-US" sz="8800" spc="-527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100000">
                      <a:srgbClr val="CB6CE6">
                        <a:alpha val="100000"/>
                      </a:srgbClr>
                    </a:gs>
                  </a:gsLst>
                  <a:lin ang="0" scaled="1"/>
                </a:gradFill>
                <a:latin typeface="Goudy"/>
                <a:ea typeface="Goudy"/>
                <a:cs typeface="Goudy"/>
              </a:rPr>
              <a:t>Méthode de trie</a:t>
            </a:r>
            <a:endParaRPr/>
          </a:p>
        </p:txBody>
      </p:sp>
      <p:sp>
        <p:nvSpPr>
          <p:cNvPr id="2120002161" name="TextBox 49"/>
          <p:cNvSpPr txBox="1"/>
          <p:nvPr/>
        </p:nvSpPr>
        <p:spPr bwMode="auto">
          <a:xfrm rot="0">
            <a:off x="2590324" y="8999163"/>
            <a:ext cx="12523851" cy="354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28"/>
              </a:lnSpc>
              <a:defRPr/>
            </a:pPr>
            <a:r>
              <a:rPr lang="en-US" sz="21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</a:rPr>
              <a:t>Nouveau dataset </a:t>
            </a:r>
            <a:r>
              <a:rPr lang="en-US" sz="2100" b="1" i="1">
                <a:solidFill>
                  <a:srgbClr val="000000"/>
                </a:solidFill>
                <a:latin typeface="Open Sans Bold Italics"/>
                <a:ea typeface="Open Sans Bold Italics"/>
                <a:cs typeface="Open Sans Bold Italics"/>
              </a:rPr>
              <a:t>df-clean</a:t>
            </a:r>
            <a:r>
              <a:rPr lang="en-US" sz="21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</a:rPr>
              <a:t> qui ne contient que  les individus de types non résidentiels</a:t>
            </a:r>
            <a:endParaRPr/>
          </a:p>
        </p:txBody>
      </p:sp>
      <p:sp>
        <p:nvSpPr>
          <p:cNvPr id="1957853271" name=""/>
          <p:cNvSpPr/>
          <p:nvPr/>
        </p:nvSpPr>
        <p:spPr bwMode="auto">
          <a:xfrm rot="0" flipH="0" flipV="0">
            <a:off x="12062173" y="4079630"/>
            <a:ext cx="290593" cy="1210804"/>
          </a:xfrm>
          <a:prstGeom prst="rightBrace">
            <a:avLst>
              <a:gd name="adj1" fmla="val 8333"/>
              <a:gd name="adj2" fmla="val 50000"/>
            </a:avLst>
          </a:prstGeom>
          <a:noFill/>
          <a:ln w="38099" cap="flat" cmpd="sng" algn="ctr">
            <a:solidFill>
              <a:srgbClr val="000000">
                <a:alpha val="99999"/>
              </a:srgbClr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19769281" name=""/>
          <p:cNvSpPr txBox="1"/>
          <p:nvPr/>
        </p:nvSpPr>
        <p:spPr bwMode="auto">
          <a:xfrm rot="0" flipH="0" flipV="0">
            <a:off x="12563691" y="4079630"/>
            <a:ext cx="3382797" cy="1067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b="0" i="0" u="none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CouncilDistrictCode </a:t>
            </a:r>
            <a:endParaRPr sz="1600">
              <a:latin typeface="Open Sans"/>
              <a:cs typeface="Open Sans"/>
            </a:endParaRPr>
          </a:p>
          <a:p>
            <a:pPr>
              <a:defRPr/>
            </a:pPr>
            <a:r>
              <a:rPr sz="1600" b="0" i="0" u="none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Neighborhood</a:t>
            </a:r>
            <a:endParaRPr sz="1600">
              <a:latin typeface="Open Sans"/>
              <a:cs typeface="Open Sans"/>
            </a:endParaRPr>
          </a:p>
          <a:p>
            <a:pPr>
              <a:defRPr/>
            </a:pPr>
            <a:r>
              <a:rPr lang="fr-FR" sz="1600">
                <a:latin typeface="Open Sans"/>
                <a:ea typeface="Open Sans"/>
                <a:cs typeface="Open Sans"/>
              </a:rPr>
              <a:t>Latitude</a:t>
            </a:r>
            <a:endParaRPr sz="1600">
              <a:latin typeface="Open Sans"/>
              <a:cs typeface="Open Sans"/>
            </a:endParaRPr>
          </a:p>
          <a:p>
            <a:pPr>
              <a:defRPr/>
            </a:pPr>
            <a:r>
              <a:rPr lang="fr-FR" sz="1600">
                <a:latin typeface="Open Sans"/>
                <a:ea typeface="Open Sans"/>
                <a:cs typeface="Open Sans"/>
              </a:rPr>
              <a:t>Longitude</a:t>
            </a:r>
            <a:endParaRPr>
              <a:latin typeface="Open Sans"/>
              <a:cs typeface="Open Sans"/>
            </a:endParaRPr>
          </a:p>
        </p:txBody>
      </p:sp>
      <p:sp>
        <p:nvSpPr>
          <p:cNvPr id="1791317045" name=""/>
          <p:cNvSpPr txBox="1"/>
          <p:nvPr/>
        </p:nvSpPr>
        <p:spPr bwMode="auto">
          <a:xfrm rot="0" flipH="0" flipV="0">
            <a:off x="11188846" y="8143832"/>
            <a:ext cx="5658708" cy="38898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just">
              <a:lnSpc>
                <a:spcPts val="2339"/>
              </a:lnSpc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Cela concerne</a:t>
            </a:r>
            <a:r>
              <a:rPr lang="fr-FR" sz="1800" b="0" i="0" u="none" strike="noStrike" cap="none" spc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32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individus de mon Dataset</a:t>
            </a:r>
            <a:endParaRPr sz="1800"/>
          </a:p>
        </p:txBody>
      </p:sp>
      <p:grpSp>
        <p:nvGrpSpPr>
          <p:cNvPr id="330696807" name="Group 23"/>
          <p:cNvGrpSpPr/>
          <p:nvPr/>
        </p:nvGrpSpPr>
        <p:grpSpPr bwMode="auto">
          <a:xfrm rot="0">
            <a:off x="10659142" y="8300275"/>
            <a:ext cx="521264" cy="210463"/>
            <a:chOff x="0" y="0"/>
            <a:chExt cx="695019" cy="280618"/>
          </a:xfrm>
        </p:grpSpPr>
        <p:sp>
          <p:nvSpPr>
            <p:cNvPr id="356821862" name="Freeform 24"/>
            <p:cNvSpPr/>
            <p:nvPr/>
          </p:nvSpPr>
          <p:spPr bwMode="auto">
            <a:xfrm rot="0" flipH="0" flipV="0">
              <a:off x="0" y="0"/>
              <a:ext cx="695070" cy="280669"/>
            </a:xfrm>
            <a:custGeom>
              <a:avLst/>
              <a:gdLst/>
              <a:ahLst/>
              <a:cxnLst/>
              <a:rect l="l" t="t" r="r" b="b"/>
              <a:pathLst>
                <a:path w="695071" h="280670" fill="norm" stroke="1" extrusionOk="0">
                  <a:moveTo>
                    <a:pt x="0" y="0"/>
                  </a:moveTo>
                  <a:lnTo>
                    <a:pt x="695071" y="0"/>
                  </a:lnTo>
                  <a:lnTo>
                    <a:pt x="695071" y="280670"/>
                  </a:lnTo>
                  <a:lnTo>
                    <a:pt x="0" y="28067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/>
              <a:stretch>
                <a:fillRect l="-35" t="0" r="-27" b="18"/>
              </a:stretch>
            </a:blipFill>
          </p:spPr>
        </p:sp>
      </p:grpSp>
      <p:sp>
        <p:nvSpPr>
          <p:cNvPr id="1653807813" name=""/>
          <p:cNvSpPr/>
          <p:nvPr/>
        </p:nvSpPr>
        <p:spPr bwMode="auto">
          <a:xfrm rot="0" flipH="0" flipV="0">
            <a:off x="13075116" y="3386937"/>
            <a:ext cx="290591" cy="732144"/>
          </a:xfrm>
          <a:prstGeom prst="rightBrace">
            <a:avLst>
              <a:gd name="adj1" fmla="val 8333"/>
              <a:gd name="adj2" fmla="val 50000"/>
            </a:avLst>
          </a:prstGeom>
          <a:noFill/>
          <a:ln w="38099" cap="flat" cmpd="sng" algn="ctr">
            <a:solidFill>
              <a:srgbClr val="000000">
                <a:alpha val="99999"/>
              </a:srgbClr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98962427" name=""/>
          <p:cNvSpPr txBox="1"/>
          <p:nvPr/>
        </p:nvSpPr>
        <p:spPr bwMode="auto">
          <a:xfrm rot="0" flipH="0" flipV="0">
            <a:off x="13526892" y="3497035"/>
            <a:ext cx="3171184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/>
              <a:t>conserve norme KBtu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7750969" name="Freeform 2"/>
          <p:cNvSpPr/>
          <p:nvPr/>
        </p:nvSpPr>
        <p:spPr bwMode="auto">
          <a:xfrm rot="0" flipH="0" flipV="0">
            <a:off x="-567042" y="9881965"/>
            <a:ext cx="19083530" cy="422654"/>
          </a:xfrm>
          <a:custGeom>
            <a:avLst/>
            <a:gdLst/>
            <a:ahLst/>
            <a:cxnLst/>
            <a:rect l="l" t="t" r="r" b="b"/>
            <a:pathLst>
              <a:path w="19083530" h="422654" fill="norm" stroke="1" extrusionOk="0">
                <a:moveTo>
                  <a:pt x="0" y="0"/>
                </a:moveTo>
                <a:lnTo>
                  <a:pt x="19083530" y="0"/>
                </a:lnTo>
                <a:lnTo>
                  <a:pt x="19083530" y="422654"/>
                </a:lnTo>
                <a:lnTo>
                  <a:pt x="0" y="4226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 l="0" t="0" r="0" b="0"/>
            </a:stretch>
          </a:blipFill>
        </p:spPr>
      </p:sp>
      <p:grpSp>
        <p:nvGrpSpPr>
          <p:cNvPr id="1565687281" name="Group 3"/>
          <p:cNvGrpSpPr/>
          <p:nvPr/>
        </p:nvGrpSpPr>
        <p:grpSpPr bwMode="auto">
          <a:xfrm rot="5400000">
            <a:off x="-65708" y="-772849"/>
            <a:ext cx="6989568" cy="7992237"/>
            <a:chOff x="0" y="0"/>
            <a:chExt cx="9319424" cy="10656316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9319387" cy="10656316"/>
            </a:xfrm>
            <a:custGeom>
              <a:avLst/>
              <a:gdLst/>
              <a:ahLst/>
              <a:cxnLst/>
              <a:rect l="l" t="t" r="r" b="b"/>
              <a:pathLst>
                <a:path w="9319387" h="10656316" fill="norm" stroke="1" extrusionOk="0">
                  <a:moveTo>
                    <a:pt x="0" y="0"/>
                  </a:moveTo>
                  <a:lnTo>
                    <a:pt x="9319387" y="0"/>
                  </a:lnTo>
                  <a:lnTo>
                    <a:pt x="9319387" y="10656316"/>
                  </a:lnTo>
                  <a:lnTo>
                    <a:pt x="0" y="1065631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/>
              <a:stretch>
                <a:fillRect l="0" t="-23" r="0" b="-22"/>
              </a:stretch>
            </a:blipFill>
          </p:spPr>
        </p:sp>
        <p:sp>
          <p:nvSpPr>
            <p:cNvPr id="5" name="TextBox 5"/>
            <p:cNvSpPr txBox="1"/>
            <p:nvPr/>
          </p:nvSpPr>
          <p:spPr bwMode="auto">
            <a:xfrm>
              <a:off x="0" y="-38100"/>
              <a:ext cx="9319424" cy="1069441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</a:rPr>
                <a:t>g</a:t>
              </a:r>
              <a:endParaRPr/>
            </a:p>
          </p:txBody>
        </p:sp>
      </p:grpSp>
      <p:grpSp>
        <p:nvGrpSpPr>
          <p:cNvPr id="1157699275" name="Group 6"/>
          <p:cNvGrpSpPr/>
          <p:nvPr/>
        </p:nvGrpSpPr>
        <p:grpSpPr bwMode="auto">
          <a:xfrm rot="0">
            <a:off x="4280503" y="2630947"/>
            <a:ext cx="575148" cy="603828"/>
            <a:chOff x="0" y="0"/>
            <a:chExt cx="766864" cy="805104"/>
          </a:xfrm>
        </p:grpSpPr>
        <p:sp>
          <p:nvSpPr>
            <p:cNvPr id="7" name="Freeform 7"/>
            <p:cNvSpPr/>
            <p:nvPr/>
          </p:nvSpPr>
          <p:spPr bwMode="auto">
            <a:xfrm rot="0" flipH="0" flipV="0">
              <a:off x="0" y="0"/>
              <a:ext cx="766826" cy="805053"/>
            </a:xfrm>
            <a:custGeom>
              <a:avLst/>
              <a:gdLst/>
              <a:ahLst/>
              <a:cxnLst/>
              <a:rect l="l" t="t" r="r" b="b"/>
              <a:pathLst>
                <a:path w="766826" h="805053" fill="norm" stroke="1" extrusionOk="0">
                  <a:moveTo>
                    <a:pt x="0" y="0"/>
                  </a:moveTo>
                  <a:lnTo>
                    <a:pt x="766826" y="0"/>
                  </a:lnTo>
                  <a:lnTo>
                    <a:pt x="766826" y="805053"/>
                  </a:lnTo>
                  <a:lnTo>
                    <a:pt x="0" y="80505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/>
              <a:stretch>
                <a:fillRect l="0" t="-6" r="-4" b="-12"/>
              </a:stretch>
            </a:blipFill>
          </p:spPr>
        </p:sp>
      </p:grpSp>
      <p:grpSp>
        <p:nvGrpSpPr>
          <p:cNvPr id="259930289" name="Group 8"/>
          <p:cNvGrpSpPr/>
          <p:nvPr/>
        </p:nvGrpSpPr>
        <p:grpSpPr bwMode="auto">
          <a:xfrm rot="0">
            <a:off x="12279436" y="2682522"/>
            <a:ext cx="487851" cy="512178"/>
            <a:chOff x="0" y="0"/>
            <a:chExt cx="650469" cy="682904"/>
          </a:xfrm>
        </p:grpSpPr>
        <p:sp>
          <p:nvSpPr>
            <p:cNvPr id="9" name="Freeform 9"/>
            <p:cNvSpPr/>
            <p:nvPr/>
          </p:nvSpPr>
          <p:spPr bwMode="auto">
            <a:xfrm rot="0" flipH="0" flipV="0">
              <a:off x="0" y="0"/>
              <a:ext cx="650494" cy="682879"/>
            </a:xfrm>
            <a:custGeom>
              <a:avLst/>
              <a:gdLst/>
              <a:ahLst/>
              <a:cxnLst/>
              <a:rect l="l" t="t" r="r" b="b"/>
              <a:pathLst>
                <a:path w="650494" h="682879" fill="norm" stroke="1" extrusionOk="0">
                  <a:moveTo>
                    <a:pt x="0" y="0"/>
                  </a:moveTo>
                  <a:lnTo>
                    <a:pt x="650494" y="0"/>
                  </a:lnTo>
                  <a:lnTo>
                    <a:pt x="650494" y="682879"/>
                  </a:lnTo>
                  <a:lnTo>
                    <a:pt x="0" y="68287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/>
              <a:stretch>
                <a:fillRect l="0" t="-5" r="3" b="-10"/>
              </a:stretch>
            </a:blipFill>
          </p:spPr>
        </p:sp>
      </p:grpSp>
      <p:grpSp>
        <p:nvGrpSpPr>
          <p:cNvPr id="1667657363" name="Group 10"/>
          <p:cNvGrpSpPr/>
          <p:nvPr/>
        </p:nvGrpSpPr>
        <p:grpSpPr bwMode="auto">
          <a:xfrm rot="0">
            <a:off x="1577473" y="3223270"/>
            <a:ext cx="3139583" cy="1114549"/>
            <a:chOff x="0" y="0"/>
            <a:chExt cx="4186110" cy="1486065"/>
          </a:xfrm>
        </p:grpSpPr>
        <p:sp>
          <p:nvSpPr>
            <p:cNvPr id="11" name="Freeform 11"/>
            <p:cNvSpPr/>
            <p:nvPr/>
          </p:nvSpPr>
          <p:spPr bwMode="auto">
            <a:xfrm rot="0" flipH="0" flipV="0">
              <a:off x="0" y="0"/>
              <a:ext cx="4186174" cy="1486027"/>
            </a:xfrm>
            <a:custGeom>
              <a:avLst/>
              <a:gdLst/>
              <a:ahLst/>
              <a:cxnLst/>
              <a:rect l="l" t="t" r="r" b="b"/>
              <a:pathLst>
                <a:path w="4186174" h="1486027" fill="norm" stroke="1" extrusionOk="0">
                  <a:moveTo>
                    <a:pt x="0" y="0"/>
                  </a:moveTo>
                  <a:lnTo>
                    <a:pt x="4186174" y="0"/>
                  </a:lnTo>
                  <a:lnTo>
                    <a:pt x="4186174" y="1486027"/>
                  </a:lnTo>
                  <a:lnTo>
                    <a:pt x="0" y="148602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/>
              <a:stretch>
                <a:fillRect l="-6" t="0" r="-4" b="-1"/>
              </a:stretch>
            </a:blipFill>
          </p:spPr>
        </p:sp>
      </p:grpSp>
      <p:grpSp>
        <p:nvGrpSpPr>
          <p:cNvPr id="1003403706" name="Group 12"/>
          <p:cNvGrpSpPr/>
          <p:nvPr/>
        </p:nvGrpSpPr>
        <p:grpSpPr bwMode="auto">
          <a:xfrm rot="-5731377">
            <a:off x="3725304" y="3937530"/>
            <a:ext cx="963635" cy="1451800"/>
            <a:chOff x="0" y="0"/>
            <a:chExt cx="1284846" cy="1935734"/>
          </a:xfrm>
        </p:grpSpPr>
        <p:sp>
          <p:nvSpPr>
            <p:cNvPr id="13" name="Freeform 13"/>
            <p:cNvSpPr/>
            <p:nvPr/>
          </p:nvSpPr>
          <p:spPr bwMode="auto">
            <a:xfrm rot="0" flipH="0" flipV="0">
              <a:off x="0" y="0"/>
              <a:ext cx="1284859" cy="1935734"/>
            </a:xfrm>
            <a:custGeom>
              <a:avLst/>
              <a:gdLst/>
              <a:ahLst/>
              <a:cxnLst/>
              <a:rect l="l" t="t" r="r" b="b"/>
              <a:pathLst>
                <a:path w="1284859" h="1935734" fill="norm" stroke="1" extrusionOk="0">
                  <a:moveTo>
                    <a:pt x="0" y="0"/>
                  </a:moveTo>
                  <a:lnTo>
                    <a:pt x="1284859" y="0"/>
                  </a:lnTo>
                  <a:lnTo>
                    <a:pt x="1284859" y="1935734"/>
                  </a:lnTo>
                  <a:lnTo>
                    <a:pt x="0" y="193573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/>
              <a:stretch>
                <a:fillRect l="0" t="-67" r="0" b="-66"/>
              </a:stretch>
            </a:blipFill>
          </p:spPr>
        </p:sp>
      </p:grpSp>
      <p:grpSp>
        <p:nvGrpSpPr>
          <p:cNvPr id="1285193705" name="Group 14"/>
          <p:cNvGrpSpPr/>
          <p:nvPr/>
        </p:nvGrpSpPr>
        <p:grpSpPr bwMode="auto">
          <a:xfrm rot="-4087076">
            <a:off x="3354790" y="4268158"/>
            <a:ext cx="1538954" cy="1217695"/>
            <a:chOff x="0" y="0"/>
            <a:chExt cx="2051939" cy="1623593"/>
          </a:xfrm>
        </p:grpSpPr>
        <p:sp>
          <p:nvSpPr>
            <p:cNvPr id="15" name="Freeform 15"/>
            <p:cNvSpPr/>
            <p:nvPr/>
          </p:nvSpPr>
          <p:spPr bwMode="auto">
            <a:xfrm rot="0" flipH="1" flipV="0">
              <a:off x="0" y="0"/>
              <a:ext cx="2051939" cy="1623568"/>
            </a:xfrm>
            <a:custGeom>
              <a:avLst/>
              <a:gdLst/>
              <a:ahLst/>
              <a:cxnLst/>
              <a:rect l="l" t="t" r="r" b="b"/>
              <a:pathLst>
                <a:path w="2051939" h="1623568" fill="norm" stroke="1" extrusionOk="0">
                  <a:moveTo>
                    <a:pt x="2051939" y="0"/>
                  </a:moveTo>
                  <a:lnTo>
                    <a:pt x="0" y="0"/>
                  </a:lnTo>
                  <a:lnTo>
                    <a:pt x="0" y="1623568"/>
                  </a:lnTo>
                  <a:lnTo>
                    <a:pt x="2051939" y="1623568"/>
                  </a:lnTo>
                  <a:lnTo>
                    <a:pt x="2051939" y="0"/>
                  </a:lnTo>
                  <a:close/>
                </a:path>
              </a:pathLst>
            </a:custGeom>
            <a:blipFill rotWithShape="1">
              <a:blip r:embed="rId9"/>
              <a:stretch>
                <a:fillRect l="0" t="-553" r="0" b="-554"/>
              </a:stretch>
            </a:blipFill>
          </p:spPr>
        </p:sp>
      </p:grpSp>
      <p:grpSp>
        <p:nvGrpSpPr>
          <p:cNvPr id="1574911324" name="Group 16"/>
          <p:cNvGrpSpPr/>
          <p:nvPr/>
        </p:nvGrpSpPr>
        <p:grpSpPr bwMode="auto">
          <a:xfrm rot="2561820">
            <a:off x="3664629" y="5846426"/>
            <a:ext cx="1200217" cy="949671"/>
            <a:chOff x="0" y="0"/>
            <a:chExt cx="1600289" cy="1266228"/>
          </a:xfrm>
        </p:grpSpPr>
        <p:sp>
          <p:nvSpPr>
            <p:cNvPr id="17" name="Freeform 17"/>
            <p:cNvSpPr/>
            <p:nvPr/>
          </p:nvSpPr>
          <p:spPr bwMode="auto">
            <a:xfrm rot="0" flipH="1" flipV="1">
              <a:off x="0" y="0"/>
              <a:ext cx="1600327" cy="1266190"/>
            </a:xfrm>
            <a:custGeom>
              <a:avLst/>
              <a:gdLst/>
              <a:ahLst/>
              <a:cxnLst/>
              <a:rect l="l" t="t" r="r" b="b"/>
              <a:pathLst>
                <a:path w="1600327" h="1266190" fill="norm" stroke="1" extrusionOk="0">
                  <a:moveTo>
                    <a:pt x="1600327" y="1266190"/>
                  </a:moveTo>
                  <a:lnTo>
                    <a:pt x="0" y="1266190"/>
                  </a:lnTo>
                  <a:lnTo>
                    <a:pt x="0" y="0"/>
                  </a:lnTo>
                  <a:lnTo>
                    <a:pt x="1600327" y="0"/>
                  </a:lnTo>
                  <a:lnTo>
                    <a:pt x="1600327" y="1266190"/>
                  </a:lnTo>
                  <a:close/>
                </a:path>
              </a:pathLst>
            </a:custGeom>
            <a:blipFill rotWithShape="1">
              <a:blip r:embed="rId9"/>
              <a:stretch>
                <a:fillRect l="0" t="-552" r="1" b="-555"/>
              </a:stretch>
            </a:blipFill>
          </p:spPr>
        </p:sp>
      </p:grpSp>
      <p:grpSp>
        <p:nvGrpSpPr>
          <p:cNvPr id="1634764724" name="Group 18"/>
          <p:cNvGrpSpPr/>
          <p:nvPr/>
        </p:nvGrpSpPr>
        <p:grpSpPr bwMode="auto">
          <a:xfrm rot="-355080">
            <a:off x="3476625" y="5584088"/>
            <a:ext cx="1511684" cy="394926"/>
            <a:chOff x="0" y="0"/>
            <a:chExt cx="2015579" cy="526567"/>
          </a:xfrm>
        </p:grpSpPr>
        <p:sp>
          <p:nvSpPr>
            <p:cNvPr id="19" name="Freeform 19"/>
            <p:cNvSpPr/>
            <p:nvPr/>
          </p:nvSpPr>
          <p:spPr bwMode="auto">
            <a:xfrm rot="0" flipH="1" flipV="1">
              <a:off x="0" y="0"/>
              <a:ext cx="2015617" cy="526542"/>
            </a:xfrm>
            <a:custGeom>
              <a:avLst/>
              <a:gdLst/>
              <a:ahLst/>
              <a:cxnLst/>
              <a:rect l="l" t="t" r="r" b="b"/>
              <a:pathLst>
                <a:path w="2015617" h="526542" fill="norm" stroke="1" extrusionOk="0">
                  <a:moveTo>
                    <a:pt x="2015617" y="526542"/>
                  </a:moveTo>
                  <a:lnTo>
                    <a:pt x="0" y="526542"/>
                  </a:lnTo>
                  <a:lnTo>
                    <a:pt x="0" y="0"/>
                  </a:lnTo>
                  <a:lnTo>
                    <a:pt x="2015617" y="0"/>
                  </a:lnTo>
                  <a:lnTo>
                    <a:pt x="2015617" y="526542"/>
                  </a:lnTo>
                  <a:close/>
                </a:path>
              </a:pathLst>
            </a:custGeom>
            <a:blipFill rotWithShape="1">
              <a:blip r:embed="rId10"/>
              <a:stretch>
                <a:fillRect l="-463" t="0" r="-459" b="-4"/>
              </a:stretch>
            </a:blipFill>
          </p:spPr>
        </p:sp>
      </p:grpSp>
      <p:grpSp>
        <p:nvGrpSpPr>
          <p:cNvPr id="1290743550" name="Group 20"/>
          <p:cNvGrpSpPr/>
          <p:nvPr/>
        </p:nvGrpSpPr>
        <p:grpSpPr bwMode="auto">
          <a:xfrm rot="0">
            <a:off x="1577473" y="5098371"/>
            <a:ext cx="2104777" cy="2095138"/>
            <a:chOff x="0" y="0"/>
            <a:chExt cx="2806370" cy="2793517"/>
          </a:xfrm>
        </p:grpSpPr>
        <p:sp>
          <p:nvSpPr>
            <p:cNvPr id="21" name="Freeform 21"/>
            <p:cNvSpPr/>
            <p:nvPr/>
          </p:nvSpPr>
          <p:spPr bwMode="auto">
            <a:xfrm rot="0" flipH="0" flipV="0">
              <a:off x="0" y="0"/>
              <a:ext cx="2806319" cy="2793492"/>
            </a:xfrm>
            <a:custGeom>
              <a:avLst/>
              <a:gdLst/>
              <a:ahLst/>
              <a:cxnLst/>
              <a:rect l="l" t="t" r="r" b="b"/>
              <a:pathLst>
                <a:path w="2806319" h="2793492" fill="norm" stroke="1" extrusionOk="0">
                  <a:moveTo>
                    <a:pt x="0" y="0"/>
                  </a:moveTo>
                  <a:lnTo>
                    <a:pt x="2806319" y="0"/>
                  </a:lnTo>
                  <a:lnTo>
                    <a:pt x="2806319" y="2793492"/>
                  </a:lnTo>
                  <a:lnTo>
                    <a:pt x="0" y="279349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1"/>
              <a:stretch>
                <a:fillRect l="0" t="-7" r="-1" b="-7"/>
              </a:stretch>
            </a:blipFill>
          </p:spPr>
        </p:sp>
      </p:grpSp>
      <p:sp>
        <p:nvSpPr>
          <p:cNvPr id="435360525" name="TextBox 22"/>
          <p:cNvSpPr txBox="1"/>
          <p:nvPr/>
        </p:nvSpPr>
        <p:spPr bwMode="auto">
          <a:xfrm rot="0">
            <a:off x="12819307" y="3095463"/>
            <a:ext cx="3891220" cy="4469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0"/>
              </a:lnSpc>
              <a:defRPr/>
            </a:pPr>
            <a:r>
              <a:rPr lang="en-US" sz="21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</a:rPr>
              <a:t>SiteEnergyUse(kBtu)</a:t>
            </a:r>
            <a:r>
              <a:rPr lang="en-US" sz="21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</a:t>
            </a:r>
            <a:endParaRPr/>
          </a:p>
          <a:p>
            <a:pPr algn="l">
              <a:lnSpc>
                <a:spcPts val="2730"/>
              </a:lnSpc>
              <a:defRPr/>
            </a:pPr>
            <a:r>
              <a:rPr lang="en-US" sz="21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(consommation d'énergie)</a:t>
            </a:r>
            <a:endParaRPr/>
          </a:p>
          <a:p>
            <a:pPr algn="l">
              <a:lnSpc>
                <a:spcPts val="2730"/>
              </a:lnSpc>
              <a:defRPr/>
            </a:pPr>
            <a:r>
              <a:rPr lang="en-US" sz="21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count   1.623000e+03</a:t>
            </a:r>
            <a:endParaRPr/>
          </a:p>
          <a:p>
            <a:pPr algn="l">
              <a:lnSpc>
                <a:spcPts val="2730"/>
              </a:lnSpc>
              <a:defRPr/>
            </a:pPr>
            <a:r>
              <a:rPr lang="en-US" sz="21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mean    7.134049e+06</a:t>
            </a:r>
            <a:endParaRPr/>
          </a:p>
          <a:p>
            <a:pPr algn="l">
              <a:lnSpc>
                <a:spcPts val="2730"/>
              </a:lnSpc>
              <a:defRPr/>
            </a:pPr>
            <a:r>
              <a:rPr lang="en-US" sz="21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std         1.765470e+07</a:t>
            </a:r>
            <a:endParaRPr/>
          </a:p>
          <a:p>
            <a:pPr algn="l">
              <a:lnSpc>
                <a:spcPts val="2730"/>
              </a:lnSpc>
              <a:defRPr/>
            </a:pPr>
            <a:r>
              <a:rPr lang="en-US" sz="21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min        0.000000e+00</a:t>
            </a:r>
            <a:endParaRPr/>
          </a:p>
          <a:p>
            <a:pPr algn="l">
              <a:lnSpc>
                <a:spcPts val="2730"/>
              </a:lnSpc>
              <a:defRPr/>
            </a:pPr>
            <a:r>
              <a:rPr lang="en-US" sz="21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25%.      1.242739e+06</a:t>
            </a:r>
            <a:endParaRPr/>
          </a:p>
          <a:p>
            <a:pPr algn="l">
              <a:lnSpc>
                <a:spcPts val="2730"/>
              </a:lnSpc>
              <a:defRPr/>
            </a:pPr>
            <a:r>
              <a:rPr lang="en-US" sz="21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50%        2.502131e+06</a:t>
            </a:r>
            <a:endParaRPr/>
          </a:p>
          <a:p>
            <a:pPr algn="l">
              <a:lnSpc>
                <a:spcPts val="2730"/>
              </a:lnSpc>
              <a:defRPr/>
            </a:pPr>
            <a:r>
              <a:rPr lang="en-US" sz="21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75%        6.780804e+06</a:t>
            </a:r>
            <a:endParaRPr/>
          </a:p>
          <a:p>
            <a:pPr algn="l">
              <a:lnSpc>
                <a:spcPts val="2730"/>
              </a:lnSpc>
              <a:defRPr/>
            </a:pPr>
            <a:r>
              <a:rPr lang="en-US" sz="21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max       4.483853e+08</a:t>
            </a:r>
            <a:endParaRPr/>
          </a:p>
          <a:p>
            <a:pPr algn="l">
              <a:lnSpc>
                <a:spcPts val="2730"/>
              </a:lnSpc>
              <a:defRPr/>
            </a:pPr>
            <a:r>
              <a:rPr lang="en-US" sz="21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dtype: float64</a:t>
            </a:r>
            <a:endParaRPr/>
          </a:p>
          <a:p>
            <a:pPr algn="l">
              <a:lnSpc>
                <a:spcPts val="2730"/>
              </a:lnSpc>
              <a:defRPr/>
            </a:pPr>
            <a:endParaRPr/>
          </a:p>
          <a:p>
            <a:pPr algn="l">
              <a:lnSpc>
                <a:spcPts val="2730"/>
              </a:lnSpc>
              <a:defRPr/>
            </a:pPr>
            <a:r>
              <a:rPr lang="en-US" sz="21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Valeurs manquantes : 2 (0.1%)</a:t>
            </a:r>
            <a:endParaRPr/>
          </a:p>
        </p:txBody>
      </p:sp>
      <p:grpSp>
        <p:nvGrpSpPr>
          <p:cNvPr id="1224361675" name="Group 23"/>
          <p:cNvGrpSpPr/>
          <p:nvPr/>
        </p:nvGrpSpPr>
        <p:grpSpPr bwMode="auto">
          <a:xfrm rot="-4087076">
            <a:off x="11232547" y="4233901"/>
            <a:ext cx="1536821" cy="1216009"/>
            <a:chOff x="0" y="0"/>
            <a:chExt cx="2049094" cy="1621346"/>
          </a:xfrm>
        </p:grpSpPr>
        <p:sp>
          <p:nvSpPr>
            <p:cNvPr id="24" name="Freeform 24"/>
            <p:cNvSpPr/>
            <p:nvPr/>
          </p:nvSpPr>
          <p:spPr bwMode="auto">
            <a:xfrm rot="0" flipH="1" flipV="0">
              <a:off x="0" y="0"/>
              <a:ext cx="2049145" cy="1621282"/>
            </a:xfrm>
            <a:custGeom>
              <a:avLst/>
              <a:gdLst/>
              <a:ahLst/>
              <a:cxnLst/>
              <a:rect l="l" t="t" r="r" b="b"/>
              <a:pathLst>
                <a:path w="2049145" h="1621282" fill="norm" stroke="1" extrusionOk="0">
                  <a:moveTo>
                    <a:pt x="2049145" y="0"/>
                  </a:moveTo>
                  <a:lnTo>
                    <a:pt x="0" y="0"/>
                  </a:lnTo>
                  <a:lnTo>
                    <a:pt x="0" y="1621282"/>
                  </a:lnTo>
                  <a:lnTo>
                    <a:pt x="2049145" y="1621282"/>
                  </a:lnTo>
                  <a:lnTo>
                    <a:pt x="2049145" y="0"/>
                  </a:lnTo>
                  <a:close/>
                </a:path>
              </a:pathLst>
            </a:custGeom>
            <a:blipFill rotWithShape="1">
              <a:blip r:embed="rId9"/>
              <a:stretch>
                <a:fillRect l="0" t="-553" r="1" b="-555"/>
              </a:stretch>
            </a:blipFill>
          </p:spPr>
        </p:sp>
      </p:grpSp>
      <p:grpSp>
        <p:nvGrpSpPr>
          <p:cNvPr id="1660913945" name="Group 25"/>
          <p:cNvGrpSpPr/>
          <p:nvPr/>
        </p:nvGrpSpPr>
        <p:grpSpPr bwMode="auto">
          <a:xfrm rot="2561820">
            <a:off x="11710245" y="6007437"/>
            <a:ext cx="964463" cy="763133"/>
            <a:chOff x="0" y="0"/>
            <a:chExt cx="1285951" cy="1017511"/>
          </a:xfrm>
        </p:grpSpPr>
        <p:sp>
          <p:nvSpPr>
            <p:cNvPr id="26" name="Freeform 26"/>
            <p:cNvSpPr/>
            <p:nvPr/>
          </p:nvSpPr>
          <p:spPr bwMode="auto">
            <a:xfrm rot="0" flipH="1" flipV="1">
              <a:off x="0" y="0"/>
              <a:ext cx="1286002" cy="1017524"/>
            </a:xfrm>
            <a:custGeom>
              <a:avLst/>
              <a:gdLst/>
              <a:ahLst/>
              <a:cxnLst/>
              <a:rect l="l" t="t" r="r" b="b"/>
              <a:pathLst>
                <a:path w="1286002" h="1017524" fill="norm" stroke="1" extrusionOk="0">
                  <a:moveTo>
                    <a:pt x="1286002" y="1017524"/>
                  </a:moveTo>
                  <a:lnTo>
                    <a:pt x="0" y="1017524"/>
                  </a:lnTo>
                  <a:lnTo>
                    <a:pt x="0" y="0"/>
                  </a:lnTo>
                  <a:lnTo>
                    <a:pt x="1286002" y="0"/>
                  </a:lnTo>
                  <a:lnTo>
                    <a:pt x="1286002" y="1017524"/>
                  </a:lnTo>
                  <a:close/>
                </a:path>
              </a:pathLst>
            </a:custGeom>
            <a:blipFill rotWithShape="1">
              <a:blip r:embed="rId9"/>
              <a:stretch>
                <a:fillRect l="0" t="-552" r="3" b="-551"/>
              </a:stretch>
            </a:blipFill>
          </p:spPr>
        </p:sp>
      </p:grpSp>
      <p:grpSp>
        <p:nvGrpSpPr>
          <p:cNvPr id="795026435" name="Group 27"/>
          <p:cNvGrpSpPr/>
          <p:nvPr/>
        </p:nvGrpSpPr>
        <p:grpSpPr bwMode="auto">
          <a:xfrm rot="-355080">
            <a:off x="11592144" y="5580936"/>
            <a:ext cx="1187758" cy="310305"/>
            <a:chOff x="0" y="0"/>
            <a:chExt cx="1583677" cy="413741"/>
          </a:xfrm>
        </p:grpSpPr>
        <p:sp>
          <p:nvSpPr>
            <p:cNvPr id="28" name="Freeform 28"/>
            <p:cNvSpPr/>
            <p:nvPr/>
          </p:nvSpPr>
          <p:spPr bwMode="auto">
            <a:xfrm rot="0" flipH="1" flipV="1">
              <a:off x="0" y="0"/>
              <a:ext cx="1583690" cy="413765"/>
            </a:xfrm>
            <a:custGeom>
              <a:avLst/>
              <a:gdLst/>
              <a:ahLst/>
              <a:cxnLst/>
              <a:rect l="l" t="t" r="r" b="b"/>
              <a:pathLst>
                <a:path w="1583690" h="413766" fill="norm" stroke="1" extrusionOk="0">
                  <a:moveTo>
                    <a:pt x="1583690" y="413766"/>
                  </a:moveTo>
                  <a:lnTo>
                    <a:pt x="0" y="413766"/>
                  </a:lnTo>
                  <a:lnTo>
                    <a:pt x="0" y="0"/>
                  </a:lnTo>
                  <a:lnTo>
                    <a:pt x="1583690" y="0"/>
                  </a:lnTo>
                  <a:lnTo>
                    <a:pt x="1583690" y="413766"/>
                  </a:lnTo>
                  <a:close/>
                </a:path>
              </a:pathLst>
            </a:custGeom>
            <a:blipFill rotWithShape="1">
              <a:blip r:embed="rId10"/>
              <a:stretch>
                <a:fillRect l="-463" t="0" r="-462" b="6"/>
              </a:stretch>
            </a:blipFill>
          </p:spPr>
        </p:sp>
      </p:grpSp>
      <p:grpSp>
        <p:nvGrpSpPr>
          <p:cNvPr id="184066436" name="Group 29"/>
          <p:cNvGrpSpPr/>
          <p:nvPr/>
        </p:nvGrpSpPr>
        <p:grpSpPr bwMode="auto">
          <a:xfrm rot="0">
            <a:off x="9187320" y="4963297"/>
            <a:ext cx="2494426" cy="2482995"/>
            <a:chOff x="0" y="0"/>
            <a:chExt cx="3325901" cy="3310661"/>
          </a:xfrm>
        </p:grpSpPr>
        <p:sp>
          <p:nvSpPr>
            <p:cNvPr id="30" name="Freeform 30"/>
            <p:cNvSpPr/>
            <p:nvPr/>
          </p:nvSpPr>
          <p:spPr bwMode="auto">
            <a:xfrm rot="0" flipH="0" flipV="0">
              <a:off x="0" y="0"/>
              <a:ext cx="3325876" cy="3310636"/>
            </a:xfrm>
            <a:custGeom>
              <a:avLst/>
              <a:gdLst/>
              <a:ahLst/>
              <a:cxnLst/>
              <a:rect l="l" t="t" r="r" b="b"/>
              <a:pathLst>
                <a:path w="3325876" h="3310636" fill="norm" stroke="1" extrusionOk="0">
                  <a:moveTo>
                    <a:pt x="0" y="0"/>
                  </a:moveTo>
                  <a:lnTo>
                    <a:pt x="3325876" y="0"/>
                  </a:lnTo>
                  <a:lnTo>
                    <a:pt x="3325876" y="3310636"/>
                  </a:lnTo>
                  <a:lnTo>
                    <a:pt x="0" y="331063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1"/>
              <a:stretch>
                <a:fillRect l="0" t="-7" r="0" b="-7"/>
              </a:stretch>
            </a:blipFill>
          </p:spPr>
        </p:sp>
      </p:grpSp>
      <p:grpSp>
        <p:nvGrpSpPr>
          <p:cNvPr id="2073069591" name="Group 31"/>
          <p:cNvGrpSpPr/>
          <p:nvPr/>
        </p:nvGrpSpPr>
        <p:grpSpPr bwMode="auto">
          <a:xfrm rot="0" flipH="0" flipV="0">
            <a:off x="9268947" y="2992373"/>
            <a:ext cx="2717990" cy="1528130"/>
            <a:chOff x="0" y="0"/>
            <a:chExt cx="2717990" cy="1528130"/>
          </a:xfrm>
        </p:grpSpPr>
        <p:sp>
          <p:nvSpPr>
            <p:cNvPr id="32" name="Freeform 32"/>
            <p:cNvSpPr/>
            <p:nvPr/>
          </p:nvSpPr>
          <p:spPr bwMode="auto">
            <a:xfrm rot="0" flipH="0" flipV="0">
              <a:off x="0" y="0"/>
              <a:ext cx="2718032" cy="1528141"/>
            </a:xfrm>
            <a:custGeom>
              <a:avLst/>
              <a:gdLst/>
              <a:ahLst/>
              <a:cxnLst/>
              <a:rect l="l" t="t" r="r" b="b"/>
              <a:pathLst>
                <a:path w="4186174" h="1830070" fill="norm" stroke="1" extrusionOk="0">
                  <a:moveTo>
                    <a:pt x="0" y="0"/>
                  </a:moveTo>
                  <a:lnTo>
                    <a:pt x="4186174" y="0"/>
                  </a:lnTo>
                  <a:lnTo>
                    <a:pt x="4186174" y="1830070"/>
                  </a:lnTo>
                  <a:lnTo>
                    <a:pt x="0" y="183007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/>
              <a:stretch>
                <a:fillRect l="-11581" t="0" r="-11579" b="0"/>
              </a:stretch>
            </a:blipFill>
          </p:spPr>
        </p:sp>
      </p:grpSp>
      <p:grpSp>
        <p:nvGrpSpPr>
          <p:cNvPr id="2097466661" name="Group 33"/>
          <p:cNvGrpSpPr/>
          <p:nvPr/>
        </p:nvGrpSpPr>
        <p:grpSpPr bwMode="auto">
          <a:xfrm rot="-5731377">
            <a:off x="11436487" y="3929034"/>
            <a:ext cx="960376" cy="1446895"/>
            <a:chOff x="0" y="0"/>
            <a:chExt cx="1280503" cy="1929194"/>
          </a:xfrm>
        </p:grpSpPr>
        <p:sp>
          <p:nvSpPr>
            <p:cNvPr id="34" name="Freeform 34"/>
            <p:cNvSpPr/>
            <p:nvPr/>
          </p:nvSpPr>
          <p:spPr bwMode="auto">
            <a:xfrm rot="0" flipH="0" flipV="0">
              <a:off x="0" y="0"/>
              <a:ext cx="1280541" cy="1929257"/>
            </a:xfrm>
            <a:custGeom>
              <a:avLst/>
              <a:gdLst/>
              <a:ahLst/>
              <a:cxnLst/>
              <a:rect l="l" t="t" r="r" b="b"/>
              <a:pathLst>
                <a:path w="1280541" h="1929257" fill="norm" stroke="1" extrusionOk="0">
                  <a:moveTo>
                    <a:pt x="0" y="0"/>
                  </a:moveTo>
                  <a:lnTo>
                    <a:pt x="1280541" y="0"/>
                  </a:lnTo>
                  <a:lnTo>
                    <a:pt x="1280541" y="1929257"/>
                  </a:lnTo>
                  <a:lnTo>
                    <a:pt x="0" y="192925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/>
              <a:stretch>
                <a:fillRect l="0" t="-67" r="1" b="-63"/>
              </a:stretch>
            </a:blipFill>
          </p:spPr>
        </p:sp>
      </p:grpSp>
      <p:grpSp>
        <p:nvGrpSpPr>
          <p:cNvPr id="1840449957" name="Group 35"/>
          <p:cNvGrpSpPr/>
          <p:nvPr/>
        </p:nvGrpSpPr>
        <p:grpSpPr bwMode="auto">
          <a:xfrm rot="-3626638">
            <a:off x="4660964" y="8185223"/>
            <a:ext cx="687343" cy="802738"/>
            <a:chOff x="0" y="0"/>
            <a:chExt cx="916457" cy="1070318"/>
          </a:xfrm>
        </p:grpSpPr>
        <p:sp>
          <p:nvSpPr>
            <p:cNvPr id="36" name="Freeform 36"/>
            <p:cNvSpPr/>
            <p:nvPr/>
          </p:nvSpPr>
          <p:spPr bwMode="auto">
            <a:xfrm rot="0" flipH="1" flipV="0">
              <a:off x="0" y="0"/>
              <a:ext cx="916432" cy="1070356"/>
            </a:xfrm>
            <a:custGeom>
              <a:avLst/>
              <a:gdLst/>
              <a:ahLst/>
              <a:cxnLst/>
              <a:rect l="l" t="t" r="r" b="b"/>
              <a:pathLst>
                <a:path w="916432" h="1070356" fill="norm" stroke="1" extrusionOk="0">
                  <a:moveTo>
                    <a:pt x="916432" y="0"/>
                  </a:moveTo>
                  <a:lnTo>
                    <a:pt x="0" y="0"/>
                  </a:lnTo>
                  <a:lnTo>
                    <a:pt x="0" y="1070356"/>
                  </a:lnTo>
                  <a:lnTo>
                    <a:pt x="916432" y="1070356"/>
                  </a:lnTo>
                  <a:lnTo>
                    <a:pt x="916432" y="0"/>
                  </a:lnTo>
                  <a:close/>
                </a:path>
              </a:pathLst>
            </a:custGeom>
            <a:blipFill rotWithShape="1">
              <a:blip r:embed="rId12"/>
              <a:stretch>
                <a:fillRect l="-34" t="0" r="-37" b="3"/>
              </a:stretch>
            </a:blipFill>
          </p:spPr>
        </p:sp>
      </p:grpSp>
      <p:sp>
        <p:nvSpPr>
          <p:cNvPr id="1312719264" name="TextBox 37"/>
          <p:cNvSpPr txBox="1"/>
          <p:nvPr/>
        </p:nvSpPr>
        <p:spPr bwMode="auto">
          <a:xfrm rot="0">
            <a:off x="3466071" y="369570"/>
            <a:ext cx="11435582" cy="1512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558"/>
              </a:lnSpc>
              <a:defRPr/>
            </a:pPr>
            <a:r>
              <a:rPr lang="en-US" sz="8800" spc="-527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100000">
                      <a:srgbClr val="CB6CE6">
                        <a:alpha val="100000"/>
                      </a:srgbClr>
                    </a:gs>
                  </a:gsLst>
                  <a:lin ang="0" scaled="1"/>
                </a:gradFill>
                <a:latin typeface="Goudy"/>
                <a:ea typeface="Goudy"/>
                <a:cs typeface="Goudy"/>
              </a:rPr>
              <a:t>Choix de la Target</a:t>
            </a:r>
            <a:endParaRPr/>
          </a:p>
        </p:txBody>
      </p:sp>
      <p:sp>
        <p:nvSpPr>
          <p:cNvPr id="515223016" name="TextBox 38"/>
          <p:cNvSpPr txBox="1"/>
          <p:nvPr/>
        </p:nvSpPr>
        <p:spPr bwMode="auto">
          <a:xfrm rot="0">
            <a:off x="5429096" y="8236362"/>
            <a:ext cx="7366874" cy="1006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42"/>
              </a:lnSpc>
              <a:defRPr/>
            </a:pPr>
            <a:r>
              <a:rPr lang="en-US" sz="205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Target cible choisi SiteEnergyUse(kBtu) </a:t>
            </a:r>
            <a:endParaRPr/>
          </a:p>
          <a:p>
            <a:pPr marL="466726" lvl="2" indent="-155575" algn="just">
              <a:lnSpc>
                <a:spcPts val="2642"/>
              </a:lnSpc>
              <a:buFont typeface="Arial"/>
              <a:buChar char="⚬"/>
              <a:defRPr/>
            </a:pPr>
            <a:r>
              <a:rPr lang="en-US" sz="205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pas de minimum négatif</a:t>
            </a:r>
            <a:endParaRPr/>
          </a:p>
          <a:p>
            <a:pPr marL="466726" lvl="2" indent="-155575" algn="just">
              <a:lnSpc>
                <a:spcPts val="2642"/>
              </a:lnSpc>
              <a:buFont typeface="Arial"/>
              <a:buChar char="⚬"/>
              <a:defRPr/>
            </a:pPr>
            <a:r>
              <a:rPr lang="en-US" sz="205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une moyenne et un</a:t>
            </a:r>
            <a:r>
              <a:rPr lang="fr-FR" sz="205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e médiane</a:t>
            </a:r>
            <a:r>
              <a:rPr lang="en-US" sz="205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sur une même grandeur.</a:t>
            </a:r>
            <a:endParaRPr/>
          </a:p>
        </p:txBody>
      </p:sp>
      <p:sp>
        <p:nvSpPr>
          <p:cNvPr id="2126425355" name="TextBox 39"/>
          <p:cNvSpPr txBox="1"/>
          <p:nvPr/>
        </p:nvSpPr>
        <p:spPr bwMode="auto">
          <a:xfrm rot="0">
            <a:off x="4937503" y="2007870"/>
            <a:ext cx="6212862" cy="39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  <a:defRPr/>
            </a:pPr>
            <a:r>
              <a:rPr lang="en-US" sz="24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</a:rPr>
              <a:t>Analyse des 2 variables cibles  possibles</a:t>
            </a:r>
            <a:endParaRPr/>
          </a:p>
        </p:txBody>
      </p:sp>
      <p:sp>
        <p:nvSpPr>
          <p:cNvPr id="1016689569" name="TextBox 40"/>
          <p:cNvSpPr txBox="1"/>
          <p:nvPr/>
        </p:nvSpPr>
        <p:spPr bwMode="auto">
          <a:xfrm rot="0">
            <a:off x="5004606" y="3095463"/>
            <a:ext cx="3896963" cy="4812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0"/>
              </a:lnSpc>
              <a:defRPr/>
            </a:pPr>
            <a:r>
              <a:rPr lang="en-US" sz="21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</a:rPr>
              <a:t>TotalGHGEmissions </a:t>
            </a:r>
            <a:endParaRPr/>
          </a:p>
          <a:p>
            <a:pPr algn="l">
              <a:lnSpc>
                <a:spcPts val="2730"/>
              </a:lnSpc>
              <a:defRPr/>
            </a:pPr>
            <a:r>
              <a:rPr lang="en-US" sz="21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(émissions de CO2)</a:t>
            </a:r>
            <a:endParaRPr/>
          </a:p>
          <a:p>
            <a:pPr algn="l">
              <a:lnSpc>
                <a:spcPts val="2730"/>
              </a:lnSpc>
              <a:defRPr/>
            </a:pPr>
            <a:r>
              <a:rPr lang="en-US" sz="21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count       1623.000000</a:t>
            </a:r>
            <a:endParaRPr/>
          </a:p>
          <a:p>
            <a:pPr algn="l">
              <a:lnSpc>
                <a:spcPts val="2730"/>
              </a:lnSpc>
              <a:defRPr/>
            </a:pPr>
            <a:r>
              <a:rPr lang="en-US" sz="21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mean       151.368133</a:t>
            </a:r>
            <a:endParaRPr/>
          </a:p>
          <a:p>
            <a:pPr algn="l">
              <a:lnSpc>
                <a:spcPts val="2730"/>
              </a:lnSpc>
              <a:defRPr/>
            </a:pPr>
            <a:r>
              <a:rPr lang="en-US" sz="21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std            525.611570</a:t>
            </a:r>
            <a:endParaRPr/>
          </a:p>
          <a:p>
            <a:pPr algn="l">
              <a:lnSpc>
                <a:spcPts val="2730"/>
              </a:lnSpc>
              <a:defRPr/>
            </a:pPr>
            <a:r>
              <a:rPr lang="en-US" sz="21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min          -0.800000</a:t>
            </a:r>
            <a:endParaRPr/>
          </a:p>
          <a:p>
            <a:pPr algn="l">
              <a:lnSpc>
                <a:spcPts val="2730"/>
              </a:lnSpc>
              <a:defRPr/>
            </a:pPr>
            <a:r>
              <a:rPr lang="en-US" sz="21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25%          20.110000</a:t>
            </a:r>
            <a:endParaRPr/>
          </a:p>
          <a:p>
            <a:pPr algn="l">
              <a:lnSpc>
                <a:spcPts val="2730"/>
              </a:lnSpc>
              <a:defRPr/>
            </a:pPr>
            <a:r>
              <a:rPr lang="en-US" sz="21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50%          49.440000</a:t>
            </a:r>
            <a:endParaRPr/>
          </a:p>
          <a:p>
            <a:pPr algn="l">
              <a:lnSpc>
                <a:spcPts val="2730"/>
              </a:lnSpc>
              <a:defRPr/>
            </a:pPr>
            <a:r>
              <a:rPr lang="en-US" sz="21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75%         134.745000</a:t>
            </a:r>
            <a:endParaRPr/>
          </a:p>
          <a:p>
            <a:pPr algn="l">
              <a:lnSpc>
                <a:spcPts val="2730"/>
              </a:lnSpc>
              <a:defRPr/>
            </a:pPr>
            <a:r>
              <a:rPr lang="en-US" sz="21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max         16870.980000</a:t>
            </a:r>
            <a:endParaRPr/>
          </a:p>
          <a:p>
            <a:pPr algn="l">
              <a:lnSpc>
                <a:spcPts val="2730"/>
              </a:lnSpc>
              <a:defRPr/>
            </a:pPr>
            <a:r>
              <a:rPr lang="en-US" sz="21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dtype: float64</a:t>
            </a:r>
            <a:endParaRPr/>
          </a:p>
          <a:p>
            <a:pPr algn="l">
              <a:lnSpc>
                <a:spcPts val="2730"/>
              </a:lnSpc>
              <a:defRPr/>
            </a:pPr>
            <a:endParaRPr/>
          </a:p>
          <a:p>
            <a:pPr algn="l">
              <a:lnSpc>
                <a:spcPts val="2730"/>
              </a:lnSpc>
              <a:defRPr/>
            </a:pPr>
            <a:r>
              <a:rPr lang="en-US" sz="21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Valeurs manquantes : 2 (0.1%)</a:t>
            </a:r>
            <a:endParaRPr/>
          </a:p>
          <a:p>
            <a:pPr algn="l">
              <a:lnSpc>
                <a:spcPts val="2730"/>
              </a:lnSpc>
              <a:defRPr/>
            </a:pPr>
            <a:endParaRPr/>
          </a:p>
        </p:txBody>
      </p:sp>
      <p:sp>
        <p:nvSpPr>
          <p:cNvPr id="547312984" name="TextBox 41"/>
          <p:cNvSpPr txBox="1"/>
          <p:nvPr/>
        </p:nvSpPr>
        <p:spPr bwMode="auto">
          <a:xfrm rot="0">
            <a:off x="2083670" y="3553854"/>
            <a:ext cx="1945310" cy="550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22"/>
              </a:lnSpc>
              <a:defRPr/>
            </a:pPr>
            <a:r>
              <a:rPr lang="en-US" sz="165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émission négative</a:t>
            </a:r>
            <a:endParaRPr/>
          </a:p>
          <a:p>
            <a:pPr algn="ctr">
              <a:lnSpc>
                <a:spcPts val="2122"/>
              </a:lnSpc>
              <a:defRPr/>
            </a:pPr>
            <a:r>
              <a:rPr lang="en-US" sz="165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valeur impossible! </a:t>
            </a:r>
            <a:endParaRPr/>
          </a:p>
        </p:txBody>
      </p:sp>
      <p:sp>
        <p:nvSpPr>
          <p:cNvPr id="1564496006" name="TextBox 42"/>
          <p:cNvSpPr txBox="1"/>
          <p:nvPr/>
        </p:nvSpPr>
        <p:spPr bwMode="auto">
          <a:xfrm rot="0">
            <a:off x="1712500" y="5572592"/>
            <a:ext cx="1766487" cy="1097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22"/>
              </a:lnSpc>
              <a:defRPr/>
            </a:pPr>
            <a:r>
              <a:rPr lang="en-US" sz="165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La moyenne, la médiane et le maximum sont très éloignés</a:t>
            </a:r>
            <a:endParaRPr/>
          </a:p>
        </p:txBody>
      </p:sp>
      <p:sp>
        <p:nvSpPr>
          <p:cNvPr id="1841783844" name="TextBox 43"/>
          <p:cNvSpPr txBox="1"/>
          <p:nvPr/>
        </p:nvSpPr>
        <p:spPr bwMode="auto">
          <a:xfrm rot="0">
            <a:off x="9555965" y="5432946"/>
            <a:ext cx="1767563" cy="1636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22"/>
              </a:lnSpc>
              <a:defRPr/>
            </a:pPr>
            <a:r>
              <a:rPr lang="en-US" sz="165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Présence d’un Outlier car le maximum très supérieur à la moyenne et à la médiane</a:t>
            </a:r>
            <a:endParaRPr/>
          </a:p>
        </p:txBody>
      </p:sp>
      <p:sp>
        <p:nvSpPr>
          <p:cNvPr id="17029151" name="TextBox 44"/>
          <p:cNvSpPr txBox="1"/>
          <p:nvPr/>
        </p:nvSpPr>
        <p:spPr bwMode="auto">
          <a:xfrm rot="0">
            <a:off x="9744306" y="3415293"/>
            <a:ext cx="1966189" cy="827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22"/>
              </a:lnSpc>
              <a:defRPr/>
            </a:pPr>
            <a:r>
              <a:rPr lang="en-US" sz="165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Bâtiments qui ne consomment pas d’énergie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2960160" name="Freeform 2"/>
          <p:cNvSpPr/>
          <p:nvPr/>
        </p:nvSpPr>
        <p:spPr bwMode="auto">
          <a:xfrm rot="0" flipH="0" flipV="0">
            <a:off x="-152400" y="9864452"/>
            <a:ext cx="18570626" cy="411294"/>
          </a:xfrm>
          <a:custGeom>
            <a:avLst/>
            <a:gdLst/>
            <a:ahLst/>
            <a:cxnLst/>
            <a:rect l="l" t="t" r="r" b="b"/>
            <a:pathLst>
              <a:path w="18570626" h="411294" fill="norm" stroke="1" extrusionOk="0">
                <a:moveTo>
                  <a:pt x="0" y="0"/>
                </a:moveTo>
                <a:lnTo>
                  <a:pt x="18570626" y="0"/>
                </a:lnTo>
                <a:lnTo>
                  <a:pt x="18570626" y="411294"/>
                </a:lnTo>
                <a:lnTo>
                  <a:pt x="0" y="4112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 l="0" t="0" r="0" b="0"/>
            </a:stretch>
          </a:blipFill>
        </p:spPr>
      </p:sp>
      <p:grpSp>
        <p:nvGrpSpPr>
          <p:cNvPr id="1426414153" name="Group 3"/>
          <p:cNvGrpSpPr/>
          <p:nvPr/>
        </p:nvGrpSpPr>
        <p:grpSpPr bwMode="auto">
          <a:xfrm rot="5400000">
            <a:off x="-252882" y="-902328"/>
            <a:ext cx="6989568" cy="7992237"/>
            <a:chOff x="0" y="0"/>
            <a:chExt cx="9319424" cy="10656316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9319387" cy="10656316"/>
            </a:xfrm>
            <a:custGeom>
              <a:avLst/>
              <a:gdLst/>
              <a:ahLst/>
              <a:cxnLst/>
              <a:rect l="l" t="t" r="r" b="b"/>
              <a:pathLst>
                <a:path w="9319387" h="10656316" fill="norm" stroke="1" extrusionOk="0">
                  <a:moveTo>
                    <a:pt x="0" y="0"/>
                  </a:moveTo>
                  <a:lnTo>
                    <a:pt x="9319387" y="0"/>
                  </a:lnTo>
                  <a:lnTo>
                    <a:pt x="9319387" y="10656316"/>
                  </a:lnTo>
                  <a:lnTo>
                    <a:pt x="0" y="1065631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/>
              <a:stretch>
                <a:fillRect l="0" t="-23" r="0" b="-22"/>
              </a:stretch>
            </a:blipFill>
          </p:spPr>
        </p:sp>
      </p:grpSp>
      <p:sp>
        <p:nvSpPr>
          <p:cNvPr id="1603853727" name="TextBox 5"/>
          <p:cNvSpPr txBox="1"/>
          <p:nvPr/>
        </p:nvSpPr>
        <p:spPr bwMode="auto">
          <a:xfrm rot="0">
            <a:off x="6541112" y="4776253"/>
            <a:ext cx="5669676" cy="3930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2"/>
              </a:lnSpc>
              <a:defRPr/>
            </a:pPr>
            <a:endParaRPr/>
          </a:p>
        </p:txBody>
      </p:sp>
      <p:sp>
        <p:nvSpPr>
          <p:cNvPr id="474982751" name="TextBox 9"/>
          <p:cNvSpPr txBox="1"/>
          <p:nvPr/>
        </p:nvSpPr>
        <p:spPr bwMode="auto">
          <a:xfrm rot="0">
            <a:off x="2526203" y="6290278"/>
            <a:ext cx="12003745" cy="274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/>
            </a:pPr>
            <a:endParaRPr/>
          </a:p>
        </p:txBody>
      </p:sp>
      <p:sp>
        <p:nvSpPr>
          <p:cNvPr id="141205264" name="TextBox 10"/>
          <p:cNvSpPr txBox="1"/>
          <p:nvPr/>
        </p:nvSpPr>
        <p:spPr bwMode="auto">
          <a:xfrm rot="0" flipH="0" flipV="0">
            <a:off x="3913789" y="7122704"/>
            <a:ext cx="9228573" cy="7928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  <a:defRPr/>
            </a:pPr>
            <a:r>
              <a:rPr lang="en-US" sz="240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L’IQR prend une dispersion entre 25% et 75% des valeurs </a:t>
            </a:r>
            <a:endParaRPr lang="en-US" sz="2400">
              <a:solidFill>
                <a:srgbClr val="000000"/>
              </a:solidFill>
              <a:latin typeface="Neue Montreal"/>
              <a:ea typeface="Neue Montreal"/>
              <a:cs typeface="Neue Montreal"/>
            </a:endParaRPr>
          </a:p>
          <a:p>
            <a:pPr algn="l">
              <a:lnSpc>
                <a:spcPts val="3119"/>
              </a:lnSpc>
              <a:defRPr/>
            </a:pPr>
            <a:r>
              <a:rPr lang="en-US" sz="240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ce qui donne une vision plus 'nomale' des données. </a:t>
            </a:r>
            <a:endParaRPr/>
          </a:p>
        </p:txBody>
      </p:sp>
      <p:sp>
        <p:nvSpPr>
          <p:cNvPr id="1906797461" name="TextBox 13"/>
          <p:cNvSpPr txBox="1"/>
          <p:nvPr/>
        </p:nvSpPr>
        <p:spPr bwMode="auto">
          <a:xfrm rot="0" flipH="0" flipV="0">
            <a:off x="2857500" y="876627"/>
            <a:ext cx="12094190" cy="2621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319"/>
              </a:lnSpc>
              <a:defRPr/>
            </a:pPr>
            <a:r>
              <a:rPr lang="en-US" sz="8600" spc="-514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100000">
                      <a:srgbClr val="CB6CE6">
                        <a:alpha val="100000"/>
                      </a:srgbClr>
                    </a:gs>
                  </a:gsLst>
                  <a:lin ang="0" scaled="1"/>
                </a:gradFill>
                <a:latin typeface="Goudy"/>
                <a:ea typeface="Goudy"/>
                <a:cs typeface="Goudy"/>
              </a:rPr>
              <a:t>Visualisation des Outliers </a:t>
            </a:r>
            <a:endParaRPr lang="en-US" sz="8600" spc="-513">
              <a:gradFill>
                <a:gsLst>
                  <a:gs pos="0">
                    <a:srgbClr val="004AAD">
                      <a:alpha val="100000"/>
                    </a:srgbClr>
                  </a:gs>
                  <a:gs pos="100000">
                    <a:srgbClr val="CB6CE6">
                      <a:alpha val="100000"/>
                    </a:srgbClr>
                  </a:gs>
                </a:gsLst>
                <a:lin ang="0" scaled="1"/>
              </a:gradFill>
              <a:latin typeface="Goudy"/>
              <a:ea typeface="Goudy"/>
              <a:cs typeface="Goudy"/>
            </a:endParaRPr>
          </a:p>
          <a:p>
            <a:pPr algn="l">
              <a:lnSpc>
                <a:spcPts val="10318"/>
              </a:lnSpc>
              <a:defRPr/>
            </a:pPr>
            <a:r>
              <a:rPr lang="en-US" sz="8600" spc="-513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100000">
                      <a:srgbClr val="CB6CE6">
                        <a:alpha val="100000"/>
                      </a:srgbClr>
                    </a:gs>
                  </a:gsLst>
                  <a:lin ang="0" scaled="1"/>
                </a:gradFill>
                <a:latin typeface="Goudy"/>
                <a:ea typeface="Goudy"/>
                <a:cs typeface="Goudy"/>
              </a:rPr>
              <a:t>de la Target</a:t>
            </a:r>
            <a:endParaRPr/>
          </a:p>
        </p:txBody>
      </p:sp>
      <p:sp>
        <p:nvSpPr>
          <p:cNvPr id="1227092259" name="TextBox 14"/>
          <p:cNvSpPr txBox="1"/>
          <p:nvPr/>
        </p:nvSpPr>
        <p:spPr bwMode="auto">
          <a:xfrm rot="0">
            <a:off x="4816928" y="4185020"/>
            <a:ext cx="6509052" cy="2499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8"/>
              </a:lnSpc>
              <a:defRPr/>
            </a:pPr>
            <a:r>
              <a:rPr lang="en-US" sz="2500" b="1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</a:rPr>
              <a:t>MÉTHODE IQR (Interquartile Range)</a:t>
            </a:r>
            <a:endParaRPr/>
          </a:p>
          <a:p>
            <a:pPr algn="l">
              <a:lnSpc>
                <a:spcPts val="3268"/>
              </a:lnSpc>
              <a:defRPr/>
            </a:pPr>
            <a:endParaRPr/>
          </a:p>
          <a:p>
            <a:pPr algn="l">
              <a:lnSpc>
                <a:spcPts val="3268"/>
              </a:lnSpc>
              <a:defRPr/>
            </a:pPr>
            <a:r>
              <a:rPr lang="en-US" sz="250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   Limite basse : -7,064,358</a:t>
            </a:r>
            <a:endParaRPr/>
          </a:p>
          <a:p>
            <a:pPr algn="l">
              <a:lnSpc>
                <a:spcPts val="3268"/>
              </a:lnSpc>
              <a:defRPr/>
            </a:pPr>
            <a:r>
              <a:rPr lang="en-US" sz="250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   Limite haute : 15,087,902</a:t>
            </a:r>
            <a:endParaRPr/>
          </a:p>
          <a:p>
            <a:pPr algn="l">
              <a:lnSpc>
                <a:spcPts val="3268"/>
              </a:lnSpc>
              <a:defRPr/>
            </a:pPr>
            <a:r>
              <a:rPr lang="en-US" sz="250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   IQR : 5,538,065</a:t>
            </a:r>
            <a:endParaRPr/>
          </a:p>
          <a:p>
            <a:pPr algn="l">
              <a:lnSpc>
                <a:spcPts val="3268"/>
              </a:lnSpc>
              <a:defRPr/>
            </a:pPr>
            <a:r>
              <a:rPr lang="en-US" sz="250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   Nombre d'outliers détectés : 174 (10.7%)</a:t>
            </a:r>
            <a:endParaRPr/>
          </a:p>
        </p:txBody>
      </p:sp>
      <p:sp>
        <p:nvSpPr>
          <p:cNvPr id="1197298549" name="TextBox 15"/>
          <p:cNvSpPr txBox="1"/>
          <p:nvPr/>
        </p:nvSpPr>
        <p:spPr bwMode="auto">
          <a:xfrm rot="0">
            <a:off x="2368276" y="1983876"/>
            <a:ext cx="6776442" cy="406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1"/>
              </a:lnSpc>
              <a:defRPr/>
            </a:pPr>
            <a:endParaRPr/>
          </a:p>
        </p:txBody>
      </p:sp>
      <p:sp>
        <p:nvSpPr>
          <p:cNvPr id="1955210776" name="TextBox 16"/>
          <p:cNvSpPr txBox="1"/>
          <p:nvPr/>
        </p:nvSpPr>
        <p:spPr bwMode="auto">
          <a:xfrm rot="0">
            <a:off x="2139809" y="9201150"/>
            <a:ext cx="12466165" cy="396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  <a:defRPr/>
            </a:pPr>
            <a:endParaRPr/>
          </a:p>
        </p:txBody>
      </p:sp>
      <p:grpSp>
        <p:nvGrpSpPr>
          <p:cNvPr id="1697291367" name="Group 17"/>
          <p:cNvGrpSpPr/>
          <p:nvPr/>
        </p:nvGrpSpPr>
        <p:grpSpPr bwMode="auto">
          <a:xfrm rot="0">
            <a:off x="4709877" y="4704018"/>
            <a:ext cx="6559829" cy="143123"/>
            <a:chOff x="0" y="0"/>
            <a:chExt cx="8746439" cy="190830"/>
          </a:xfrm>
        </p:grpSpPr>
        <p:sp>
          <p:nvSpPr>
            <p:cNvPr id="18" name="Freeform 18"/>
            <p:cNvSpPr/>
            <p:nvPr/>
          </p:nvSpPr>
          <p:spPr bwMode="auto">
            <a:xfrm rot="0" flipH="0" flipV="0">
              <a:off x="0" y="0"/>
              <a:ext cx="8746490" cy="190881"/>
            </a:xfrm>
            <a:custGeom>
              <a:avLst/>
              <a:gdLst/>
              <a:ahLst/>
              <a:cxnLst/>
              <a:rect l="l" t="t" r="r" b="b"/>
              <a:pathLst>
                <a:path w="8746490" h="190881" fill="norm" stroke="1" extrusionOk="0">
                  <a:moveTo>
                    <a:pt x="0" y="0"/>
                  </a:moveTo>
                  <a:lnTo>
                    <a:pt x="8746490" y="0"/>
                  </a:lnTo>
                  <a:lnTo>
                    <a:pt x="8746490" y="190881"/>
                  </a:lnTo>
                  <a:lnTo>
                    <a:pt x="0" y="19088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/>
              <a:stretch>
                <a:fillRect l="-9781" t="0" r="-9780" b="25"/>
              </a:stretch>
            </a:blipFill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2697420" name="Freeform 2"/>
          <p:cNvSpPr/>
          <p:nvPr/>
        </p:nvSpPr>
        <p:spPr bwMode="auto">
          <a:xfrm rot="0" flipH="0" flipV="0">
            <a:off x="-184049" y="9873813"/>
            <a:ext cx="18656098" cy="413187"/>
          </a:xfrm>
          <a:custGeom>
            <a:avLst/>
            <a:gdLst/>
            <a:ahLst/>
            <a:cxnLst/>
            <a:rect l="l" t="t" r="r" b="b"/>
            <a:pathLst>
              <a:path w="18656098" h="413187" fill="norm" stroke="1" extrusionOk="0">
                <a:moveTo>
                  <a:pt x="0" y="0"/>
                </a:moveTo>
                <a:lnTo>
                  <a:pt x="18656098" y="0"/>
                </a:lnTo>
                <a:lnTo>
                  <a:pt x="18656098" y="413187"/>
                </a:lnTo>
                <a:lnTo>
                  <a:pt x="0" y="4131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 l="0" t="0" r="0" b="0"/>
            </a:stretch>
          </a:blipFill>
        </p:spPr>
      </p:sp>
      <p:grpSp>
        <p:nvGrpSpPr>
          <p:cNvPr id="139343244" name="Group 3"/>
          <p:cNvGrpSpPr/>
          <p:nvPr/>
        </p:nvGrpSpPr>
        <p:grpSpPr bwMode="auto">
          <a:xfrm rot="5400000">
            <a:off x="-99349" y="-1164368"/>
            <a:ext cx="6989568" cy="7992237"/>
            <a:chOff x="0" y="0"/>
            <a:chExt cx="9319424" cy="10656316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9319387" cy="10656316"/>
            </a:xfrm>
            <a:custGeom>
              <a:avLst/>
              <a:gdLst/>
              <a:ahLst/>
              <a:cxnLst/>
              <a:rect l="l" t="t" r="r" b="b"/>
              <a:pathLst>
                <a:path w="9319387" h="10656316" fill="norm" stroke="1" extrusionOk="0">
                  <a:moveTo>
                    <a:pt x="0" y="0"/>
                  </a:moveTo>
                  <a:lnTo>
                    <a:pt x="9319387" y="0"/>
                  </a:lnTo>
                  <a:lnTo>
                    <a:pt x="9319387" y="10656316"/>
                  </a:lnTo>
                  <a:lnTo>
                    <a:pt x="0" y="1065631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/>
              <a:stretch>
                <a:fillRect l="0" t="-23" r="0" b="-22"/>
              </a:stretch>
            </a:blipFill>
          </p:spPr>
        </p:sp>
      </p:grpSp>
      <p:grpSp>
        <p:nvGrpSpPr>
          <p:cNvPr id="1154380629" name="Group 5"/>
          <p:cNvGrpSpPr/>
          <p:nvPr/>
        </p:nvGrpSpPr>
        <p:grpSpPr bwMode="auto">
          <a:xfrm rot="0">
            <a:off x="868766" y="3166605"/>
            <a:ext cx="16550459" cy="5906110"/>
            <a:chOff x="0" y="0"/>
            <a:chExt cx="22067279" cy="7874813"/>
          </a:xfrm>
        </p:grpSpPr>
        <p:sp>
          <p:nvSpPr>
            <p:cNvPr id="6" name="Freeform 6"/>
            <p:cNvSpPr/>
            <p:nvPr/>
          </p:nvSpPr>
          <p:spPr bwMode="auto">
            <a:xfrm rot="0" flipH="0" flipV="0">
              <a:off x="0" y="0"/>
              <a:ext cx="22067265" cy="7874762"/>
            </a:xfrm>
            <a:custGeom>
              <a:avLst/>
              <a:gdLst/>
              <a:ahLst/>
              <a:cxnLst/>
              <a:rect l="l" t="t" r="r" b="b"/>
              <a:pathLst>
                <a:path w="22067265" h="7874762" fill="norm" stroke="1" extrusionOk="0">
                  <a:moveTo>
                    <a:pt x="0" y="0"/>
                  </a:moveTo>
                  <a:lnTo>
                    <a:pt x="22067265" y="0"/>
                  </a:lnTo>
                  <a:lnTo>
                    <a:pt x="22067265" y="7874762"/>
                  </a:lnTo>
                  <a:lnTo>
                    <a:pt x="0" y="787476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/>
              <a:stretch>
                <a:fillRect l="0" t="0" r="0" b="0"/>
              </a:stretch>
            </a:blipFill>
          </p:spPr>
        </p:sp>
      </p:grpSp>
      <p:sp>
        <p:nvSpPr>
          <p:cNvPr id="877785423" name="TextBox 7"/>
          <p:cNvSpPr txBox="1"/>
          <p:nvPr/>
        </p:nvSpPr>
        <p:spPr bwMode="auto">
          <a:xfrm rot="0">
            <a:off x="1384783" y="647700"/>
            <a:ext cx="14933695" cy="1913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558"/>
              </a:lnSpc>
              <a:defRPr/>
            </a:pPr>
            <a:r>
              <a:rPr lang="en-US" sz="7200" spc="-527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100000">
                      <a:srgbClr val="CB6CE6">
                        <a:alpha val="100000"/>
                      </a:srgbClr>
                    </a:gs>
                  </a:gsLst>
                  <a:lin ang="0" scaled="1"/>
                </a:gradFill>
                <a:latin typeface="Arimo"/>
                <a:ea typeface="Arimo"/>
                <a:cs typeface="Arimo"/>
              </a:rPr>
              <a:t>Histogramme des Outliers de la Target</a:t>
            </a:r>
            <a:endParaRPr/>
          </a:p>
          <a:p>
            <a:pPr algn="l">
              <a:lnSpc>
                <a:spcPts val="3600"/>
              </a:lnSpc>
              <a:defRPr/>
            </a:pPr>
            <a:r>
              <a:rPr lang="en-US" sz="7200" spc="-335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100000">
                      <a:srgbClr val="CB6CE6">
                        <a:alpha val="100000"/>
                      </a:srgbClr>
                    </a:gs>
                  </a:gsLst>
                  <a:lin ang="0" scaled="1"/>
                </a:gradFill>
                <a:latin typeface="Arimo"/>
                <a:ea typeface="Arimo"/>
                <a:cs typeface="Arimo"/>
              </a:rPr>
              <a:t>via la méthode IQR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3734805" name="Freeform 2"/>
          <p:cNvSpPr/>
          <p:nvPr/>
        </p:nvSpPr>
        <p:spPr bwMode="auto">
          <a:xfrm rot="0" flipH="0" flipV="0">
            <a:off x="0" y="9876877"/>
            <a:ext cx="18517729" cy="410123"/>
          </a:xfrm>
          <a:custGeom>
            <a:avLst/>
            <a:gdLst/>
            <a:ahLst/>
            <a:cxnLst/>
            <a:rect l="l" t="t" r="r" b="b"/>
            <a:pathLst>
              <a:path w="18517729" h="410123" fill="norm" stroke="1" extrusionOk="0">
                <a:moveTo>
                  <a:pt x="0" y="0"/>
                </a:moveTo>
                <a:lnTo>
                  <a:pt x="18517729" y="0"/>
                </a:lnTo>
                <a:lnTo>
                  <a:pt x="18517729" y="410123"/>
                </a:lnTo>
                <a:lnTo>
                  <a:pt x="0" y="4101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 l="0" t="0" r="0" b="0"/>
            </a:stretch>
          </a:blipFill>
        </p:spPr>
      </p:sp>
      <p:grpSp>
        <p:nvGrpSpPr>
          <p:cNvPr id="115347104" name="Group 3"/>
          <p:cNvGrpSpPr/>
          <p:nvPr/>
        </p:nvGrpSpPr>
        <p:grpSpPr bwMode="auto">
          <a:xfrm rot="5400000">
            <a:off x="-434682" y="-501334"/>
            <a:ext cx="6989568" cy="7992237"/>
            <a:chOff x="0" y="0"/>
            <a:chExt cx="9319424" cy="10656316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9319387" cy="10656316"/>
            </a:xfrm>
            <a:custGeom>
              <a:avLst/>
              <a:gdLst/>
              <a:ahLst/>
              <a:cxnLst/>
              <a:rect l="l" t="t" r="r" b="b"/>
              <a:pathLst>
                <a:path w="9319387" h="10656316" fill="norm" stroke="1" extrusionOk="0">
                  <a:moveTo>
                    <a:pt x="0" y="0"/>
                  </a:moveTo>
                  <a:lnTo>
                    <a:pt x="9319387" y="0"/>
                  </a:lnTo>
                  <a:lnTo>
                    <a:pt x="9319387" y="10656316"/>
                  </a:lnTo>
                  <a:lnTo>
                    <a:pt x="0" y="1065631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/>
              <a:stretch>
                <a:fillRect l="0" t="-23" r="0" b="-22"/>
              </a:stretch>
            </a:blipFill>
          </p:spPr>
        </p:sp>
      </p:grpSp>
      <p:graphicFrame>
        <p:nvGraphicFramePr>
          <p:cNvPr id="1474110223" name="Table 5"/>
          <p:cNvGraphicFramePr>
            <a:graphicFrameLocks xmlns:a="http://schemas.openxmlformats.org/drawingml/2006/main" noGrp="1"/>
          </p:cNvGraphicFramePr>
          <p:nvPr/>
        </p:nvGraphicFramePr>
        <p:xfrm rot="0">
          <a:off x="478256" y="2409315"/>
          <a:ext cx="9666164" cy="4267527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1890000"/>
                <a:gridCol w="2610000"/>
                <a:gridCol w="2430000"/>
                <a:gridCol w="2700000"/>
              </a:tblGrid>
              <a:tr h="711465">
                <a:tc>
                  <a:txBody>
                    <a:bodyPr/>
                    <a:p>
                      <a:pPr>
                        <a:defRPr/>
                      </a:pPr>
                      <a:r>
                        <a:rPr lang="fr-FR" sz="1700" b="1">
                          <a:solidFill>
                            <a:srgbClr val="000000"/>
                          </a:solidFill>
                          <a:latin typeface="Libre Baskerville Bold"/>
                          <a:ea typeface="Libre Baskerville Bold"/>
                          <a:cs typeface="Libre Baskerville Bold"/>
                        </a:rPr>
                        <a:t>BuildingType</a:t>
                      </a:r>
                      <a:endParaRPr lang="en-US" sz="1700" b="1">
                        <a:solidFill>
                          <a:srgbClr val="000000"/>
                        </a:solidFill>
                        <a:latin typeface="Libre Baskerville Bold"/>
                        <a:ea typeface="Libre Baskerville Bold"/>
                        <a:cs typeface="Libre Baskerville Bold"/>
                      </a:endParaRPr>
                    </a:p>
                  </a:txBody>
                  <a:tcPr marL="180822" marR="180822" marT="180822" marB="180822" anchor="ctr">
                    <a:lnL w="36164" algn="ctr">
                      <a:solidFill>
                        <a:srgbClr val="000000"/>
                      </a:solidFill>
                    </a:lnL>
                    <a:lnR w="36164" algn="ctr">
                      <a:solidFill>
                        <a:srgbClr val="000000"/>
                      </a:solidFill>
                    </a:lnR>
                    <a:lnT w="36164" algn="ctr">
                      <a:solidFill>
                        <a:srgbClr val="000000"/>
                      </a:solidFill>
                    </a:lnT>
                    <a:lnB w="36164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ts val="2391"/>
                        </a:lnSpc>
                        <a:defRPr/>
                      </a:pPr>
                      <a:r>
                        <a:rPr lang="en-US" sz="1700" b="1">
                          <a:solidFill>
                            <a:srgbClr val="000000"/>
                          </a:solidFill>
                          <a:latin typeface="Libre Baskerville Bold"/>
                          <a:ea typeface="Libre Baskerville Bold"/>
                          <a:cs typeface="Libre Baskerville Bold"/>
                        </a:rPr>
                        <a:t>PrimaryPropertyType</a:t>
                      </a:r>
                      <a:endParaRPr lang="en-US" sz="1100"/>
                    </a:p>
                  </a:txBody>
                  <a:tcPr marL="180823" marR="180823" marT="180823" marB="180823" anchor="ctr">
                    <a:lnL w="36165" algn="ctr">
                      <a:solidFill>
                        <a:srgbClr val="000000"/>
                      </a:solidFill>
                    </a:lnL>
                    <a:lnR w="36165" algn="ctr">
                      <a:solidFill>
                        <a:srgbClr val="000000"/>
                      </a:solidFill>
                    </a:lnR>
                    <a:lnT w="36165" algn="ctr">
                      <a:solidFill>
                        <a:srgbClr val="000000"/>
                      </a:solidFill>
                    </a:lnT>
                    <a:lnB w="3616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ts val="2391"/>
                        </a:lnSpc>
                        <a:defRPr/>
                      </a:pPr>
                      <a:r>
                        <a:rPr lang="en-US" sz="1700" b="1">
                          <a:solidFill>
                            <a:srgbClr val="000000"/>
                          </a:solidFill>
                          <a:latin typeface="Libre Baskerville Bold"/>
                          <a:ea typeface="Libre Baskerville Bold"/>
                          <a:cs typeface="Libre Baskerville Bold"/>
                        </a:rPr>
                        <a:t>PropertyGFATotal</a:t>
                      </a:r>
                      <a:endParaRPr lang="en-US" sz="1100"/>
                    </a:p>
                  </a:txBody>
                  <a:tcPr marL="180823" marR="180823" marT="180823" marB="180823" anchor="ctr">
                    <a:lnL w="36165" algn="ctr">
                      <a:solidFill>
                        <a:srgbClr val="000000"/>
                      </a:solidFill>
                    </a:lnL>
                    <a:lnR w="36165" algn="ctr">
                      <a:solidFill>
                        <a:srgbClr val="000000"/>
                      </a:solidFill>
                    </a:lnR>
                    <a:lnT w="36165" algn="ctr">
                      <a:solidFill>
                        <a:srgbClr val="000000"/>
                      </a:solidFill>
                    </a:lnT>
                    <a:lnB w="3616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ts val="2391"/>
                        </a:lnSpc>
                        <a:defRPr/>
                      </a:pPr>
                      <a:r>
                        <a:rPr lang="en-US" sz="1700" b="1">
                          <a:solidFill>
                            <a:srgbClr val="000000"/>
                          </a:solidFill>
                          <a:latin typeface="Libre Baskerville Bold"/>
                          <a:ea typeface="Libre Baskerville Bold"/>
                          <a:cs typeface="Libre Baskerville Bold"/>
                        </a:rPr>
                        <a:t>SiteEnergyUse(kBtu)</a:t>
                      </a:r>
                      <a:endParaRPr lang="en-US" sz="1100"/>
                    </a:p>
                  </a:txBody>
                  <a:tcPr marL="180823" marR="180823" marT="180823" marB="180823" anchor="ctr">
                    <a:lnL w="36165" algn="ctr">
                      <a:solidFill>
                        <a:srgbClr val="000000"/>
                      </a:solidFill>
                    </a:lnL>
                    <a:lnR w="36165" algn="ctr">
                      <a:solidFill>
                        <a:srgbClr val="000000"/>
                      </a:solidFill>
                    </a:lnR>
                    <a:lnT w="36165" algn="ctr">
                      <a:solidFill>
                        <a:srgbClr val="000000"/>
                      </a:solidFill>
                    </a:lnT>
                    <a:lnB w="36165" algn="ctr">
                      <a:solidFill>
                        <a:srgbClr val="000000"/>
                      </a:solidFill>
                    </a:lnB>
                  </a:tcPr>
                </a:tc>
              </a:tr>
              <a:tr h="674700">
                <a:tc>
                  <a:txBody>
                    <a:bodyPr/>
                    <a:p>
                      <a:pPr>
                        <a:defRPr/>
                      </a:pPr>
                      <a:r>
                        <a:rPr lang="fr-FR" sz="1700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</a:rPr>
                        <a:t>Campus</a:t>
                      </a:r>
                      <a:endParaRPr lang="en-US" sz="1700">
                        <a:solidFill>
                          <a:srgbClr val="000000"/>
                        </a:solidFill>
                        <a:latin typeface="Libre Baskerville"/>
                        <a:ea typeface="Libre Baskerville"/>
                        <a:cs typeface="Libre Baskerville"/>
                      </a:endParaRPr>
                    </a:p>
                  </a:txBody>
                  <a:tcPr marL="180822" marR="180822" marT="180822" marB="180822" anchor="ctr">
                    <a:lnL w="36164" algn="ctr">
                      <a:solidFill>
                        <a:srgbClr val="000000"/>
                      </a:solidFill>
                    </a:lnL>
                    <a:lnR w="36164" algn="ctr">
                      <a:solidFill>
                        <a:srgbClr val="000000"/>
                      </a:solidFill>
                    </a:lnR>
                    <a:lnT w="36164" algn="ctr">
                      <a:solidFill>
                        <a:srgbClr val="000000"/>
                      </a:solidFill>
                    </a:lnT>
                    <a:lnB w="36164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ts val="2391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</a:rPr>
                        <a:t>Mixed Use Property</a:t>
                      </a:r>
                      <a:endParaRPr lang="en-US" sz="1100"/>
                    </a:p>
                  </a:txBody>
                  <a:tcPr marL="180823" marR="180823" marT="180823" marB="180823" anchor="ctr">
                    <a:lnL w="36165" algn="ctr">
                      <a:solidFill>
                        <a:srgbClr val="000000"/>
                      </a:solidFill>
                    </a:lnL>
                    <a:lnR w="36165" algn="ctr">
                      <a:solidFill>
                        <a:srgbClr val="000000"/>
                      </a:solidFill>
                    </a:lnR>
                    <a:lnT w="36165" algn="ctr">
                      <a:solidFill>
                        <a:srgbClr val="000000"/>
                      </a:solidFill>
                    </a:lnT>
                    <a:lnB w="3616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ts val="2391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</a:rPr>
                        <a:t>494</a:t>
                      </a:r>
                      <a:r>
                        <a:rPr lang="fr-FR" sz="1700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</a:rPr>
                        <a:t> </a:t>
                      </a:r>
                      <a:r>
                        <a:rPr lang="en-US" sz="1700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</a:rPr>
                        <a:t>835 </a:t>
                      </a:r>
                      <a:endParaRPr lang="en-US" sz="1100"/>
                    </a:p>
                  </a:txBody>
                  <a:tcPr marL="180823" marR="180823" marT="180823" marB="180823" anchor="ctr">
                    <a:lnL w="36165" algn="ctr">
                      <a:solidFill>
                        <a:srgbClr val="000000"/>
                      </a:solidFill>
                    </a:lnL>
                    <a:lnR w="36165" algn="ctr">
                      <a:solidFill>
                        <a:srgbClr val="000000"/>
                      </a:solidFill>
                    </a:lnR>
                    <a:lnT w="36165" algn="ctr">
                      <a:solidFill>
                        <a:srgbClr val="000000"/>
                      </a:solidFill>
                    </a:lnT>
                    <a:lnB w="3616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ts val="2391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</a:rPr>
                        <a:t>448 385 312.0</a:t>
                      </a:r>
                      <a:endParaRPr lang="en-US" sz="1100"/>
                    </a:p>
                  </a:txBody>
                  <a:tcPr marL="180823" marR="180823" marT="180823" marB="180823" anchor="ctr">
                    <a:lnL w="36165" algn="ctr">
                      <a:solidFill>
                        <a:srgbClr val="000000"/>
                      </a:solidFill>
                    </a:lnL>
                    <a:lnR w="36165" algn="ctr">
                      <a:solidFill>
                        <a:srgbClr val="000000"/>
                      </a:solidFill>
                    </a:lnR>
                    <a:lnT w="36165" algn="ctr">
                      <a:solidFill>
                        <a:srgbClr val="000000"/>
                      </a:solidFill>
                    </a:lnT>
                    <a:lnB w="36165" algn="ctr">
                      <a:solidFill>
                        <a:srgbClr val="000000"/>
                      </a:solidFill>
                    </a:lnB>
                  </a:tcPr>
                </a:tc>
              </a:tr>
              <a:tr h="711465">
                <a:tc>
                  <a:txBody>
                    <a:bodyPr/>
                    <a:p>
                      <a:pPr>
                        <a:defRPr/>
                      </a:pPr>
                      <a:r>
                        <a:rPr lang="fr-FR" sz="1700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</a:rPr>
                        <a:t>NonResidential</a:t>
                      </a:r>
                      <a:endParaRPr lang="fr-FR" sz="1700">
                        <a:solidFill>
                          <a:srgbClr val="000000"/>
                        </a:solidFill>
                        <a:latin typeface="Libre Baskerville"/>
                        <a:ea typeface="Libre Baskerville"/>
                        <a:cs typeface="Libre Baskerville"/>
                      </a:endParaRPr>
                    </a:p>
                  </a:txBody>
                  <a:tcPr marL="180822" marR="180822" marT="180822" marB="180822" anchor="ctr">
                    <a:lnL w="36164" algn="ctr">
                      <a:solidFill>
                        <a:srgbClr val="000000"/>
                      </a:solidFill>
                    </a:lnL>
                    <a:lnR w="36164" algn="ctr">
                      <a:solidFill>
                        <a:srgbClr val="000000"/>
                      </a:solidFill>
                    </a:lnR>
                    <a:lnT w="36164" algn="ctr">
                      <a:solidFill>
                        <a:srgbClr val="000000"/>
                      </a:solidFill>
                    </a:lnT>
                    <a:lnB w="36164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ts val="2391"/>
                        </a:lnSpc>
                        <a:defRPr/>
                      </a:pPr>
                      <a:r>
                        <a:rPr lang="fr-FR" sz="1700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</a:rPr>
                        <a:t>Other</a:t>
                      </a:r>
                      <a:endParaRPr lang="en-US" sz="1100"/>
                    </a:p>
                  </a:txBody>
                  <a:tcPr marL="180823" marR="180823" marT="180823" marB="180823" anchor="ctr">
                    <a:lnL w="36165" algn="ctr">
                      <a:solidFill>
                        <a:srgbClr val="000000"/>
                      </a:solidFill>
                    </a:lnL>
                    <a:lnR w="36165" algn="ctr">
                      <a:solidFill>
                        <a:srgbClr val="000000"/>
                      </a:solidFill>
                    </a:lnR>
                    <a:lnT w="36165" algn="ctr">
                      <a:solidFill>
                        <a:srgbClr val="000000"/>
                      </a:solidFill>
                    </a:lnT>
                    <a:lnB w="3616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ts val="2391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</a:rPr>
                        <a:t>429</a:t>
                      </a:r>
                      <a:r>
                        <a:rPr lang="fr-FR" sz="1700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</a:rPr>
                        <a:t> </a:t>
                      </a:r>
                      <a:r>
                        <a:rPr lang="en-US" sz="1700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</a:rPr>
                        <a:t>405</a:t>
                      </a:r>
                      <a:endParaRPr lang="en-US" sz="1100"/>
                    </a:p>
                  </a:txBody>
                  <a:tcPr marL="180823" marR="180823" marT="180823" marB="180823" anchor="ctr">
                    <a:lnL w="36165" algn="ctr">
                      <a:solidFill>
                        <a:srgbClr val="000000"/>
                      </a:solidFill>
                    </a:lnL>
                    <a:lnR w="36165" algn="ctr">
                      <a:solidFill>
                        <a:srgbClr val="000000"/>
                      </a:solidFill>
                    </a:lnR>
                    <a:lnT w="36165" algn="ctr">
                      <a:solidFill>
                        <a:srgbClr val="000000"/>
                      </a:solidFill>
                    </a:lnT>
                    <a:lnB w="3616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ts val="2391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</a:rPr>
                        <a:t>274</a:t>
                      </a:r>
                      <a:r>
                        <a:rPr lang="fr-FR" sz="1700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</a:rPr>
                        <a:t> </a:t>
                      </a:r>
                      <a:r>
                        <a:rPr lang="en-US" sz="1700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</a:rPr>
                        <a:t>682</a:t>
                      </a:r>
                      <a:r>
                        <a:rPr lang="fr-FR" sz="1700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</a:rPr>
                        <a:t> </a:t>
                      </a:r>
                      <a:r>
                        <a:rPr lang="en-US" sz="1700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</a:rPr>
                        <a:t>208.0</a:t>
                      </a:r>
                      <a:endParaRPr lang="en-US" sz="1100"/>
                    </a:p>
                  </a:txBody>
                  <a:tcPr marL="180823" marR="180823" marT="180823" marB="180823" anchor="ctr">
                    <a:lnL w="36165" algn="ctr">
                      <a:solidFill>
                        <a:srgbClr val="000000"/>
                      </a:solidFill>
                    </a:lnL>
                    <a:lnR w="36165" algn="ctr">
                      <a:solidFill>
                        <a:srgbClr val="000000"/>
                      </a:solidFill>
                    </a:lnR>
                    <a:lnT w="36165" algn="ctr">
                      <a:solidFill>
                        <a:srgbClr val="000000"/>
                      </a:solidFill>
                    </a:lnT>
                    <a:lnB w="36165" algn="ctr">
                      <a:solidFill>
                        <a:srgbClr val="000000"/>
                      </a:solidFill>
                    </a:lnB>
                  </a:tcPr>
                </a:tc>
              </a:tr>
              <a:tr h="711465">
                <a:tc>
                  <a:txBody>
                    <a:bodyPr/>
                    <a:p>
                      <a:pPr>
                        <a:defRPr/>
                      </a:pPr>
                      <a:r>
                        <a:rPr lang="fr-FR" sz="1700" b="0" i="0" u="none" strike="noStrike" cap="none" spc="0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</a:rPr>
                        <a:t>NonResidential</a:t>
                      </a:r>
                      <a:endParaRPr lang="fr-FR" sz="1700">
                        <a:solidFill>
                          <a:srgbClr val="000000"/>
                        </a:solidFill>
                        <a:latin typeface="Libre Baskerville"/>
                        <a:ea typeface="Libre Baskerville"/>
                        <a:cs typeface="Libre Baskerville"/>
                      </a:endParaRPr>
                    </a:p>
                  </a:txBody>
                  <a:tcPr marL="180822" marR="180822" marT="180822" marB="180822" anchor="ctr">
                    <a:lnL w="36164" algn="ctr">
                      <a:solidFill>
                        <a:srgbClr val="000000"/>
                      </a:solidFill>
                    </a:lnL>
                    <a:lnR w="36164" algn="ctr">
                      <a:solidFill>
                        <a:srgbClr val="000000"/>
                      </a:solidFill>
                    </a:lnR>
                    <a:lnT w="36164" algn="ctr">
                      <a:solidFill>
                        <a:srgbClr val="000000"/>
                      </a:solidFill>
                    </a:lnT>
                    <a:lnB w="36164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ts val="2390"/>
                        </a:lnSpc>
                        <a:defRPr/>
                      </a:pPr>
                      <a:r>
                        <a:rPr lang="fr-FR" sz="1700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</a:rPr>
                        <a:t>Hospital</a:t>
                      </a:r>
                      <a:endParaRPr lang="fr-FR" sz="1700">
                        <a:solidFill>
                          <a:srgbClr val="000000"/>
                        </a:solidFill>
                        <a:latin typeface="Libre Baskerville"/>
                        <a:ea typeface="Libre Baskerville"/>
                        <a:cs typeface="Libre Baskerville"/>
                      </a:endParaRPr>
                    </a:p>
                  </a:txBody>
                  <a:tcPr marL="180822" marR="180822" marT="180822" marB="180822" anchor="ctr">
                    <a:lnL w="36164" algn="ctr">
                      <a:solidFill>
                        <a:srgbClr val="000000"/>
                      </a:solidFill>
                    </a:lnL>
                    <a:lnR w="36164" algn="ctr">
                      <a:solidFill>
                        <a:srgbClr val="000000"/>
                      </a:solidFill>
                    </a:lnR>
                    <a:lnT w="36164" algn="ctr">
                      <a:solidFill>
                        <a:srgbClr val="000000"/>
                      </a:solidFill>
                    </a:lnT>
                    <a:lnB w="36164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ts val="2390"/>
                        </a:lnSpc>
                        <a:defRPr/>
                      </a:pPr>
                      <a:r>
                        <a:rPr lang="fr-FR" sz="1700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</a:rPr>
                        <a:t>374 466</a:t>
                      </a:r>
                      <a:endParaRPr lang="en-US" sz="1700">
                        <a:solidFill>
                          <a:srgbClr val="000000"/>
                        </a:solidFill>
                        <a:latin typeface="Libre Baskerville"/>
                        <a:ea typeface="Libre Baskerville"/>
                        <a:cs typeface="Libre Baskerville"/>
                      </a:endParaRPr>
                    </a:p>
                  </a:txBody>
                  <a:tcPr marL="180822" marR="180822" marT="180822" marB="180822" anchor="ctr">
                    <a:lnL w="36164" algn="ctr">
                      <a:solidFill>
                        <a:srgbClr val="000000"/>
                      </a:solidFill>
                    </a:lnL>
                    <a:lnR w="36164" algn="ctr">
                      <a:solidFill>
                        <a:srgbClr val="000000"/>
                      </a:solidFill>
                    </a:lnR>
                    <a:lnT w="36164" algn="ctr">
                      <a:solidFill>
                        <a:srgbClr val="000000"/>
                      </a:solidFill>
                    </a:lnT>
                    <a:lnB w="36164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ts val="2390"/>
                        </a:lnSpc>
                        <a:defRPr/>
                      </a:pPr>
                      <a:r>
                        <a:rPr sz="1700" b="0" i="0" u="none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</a:rPr>
                        <a:t>163</a:t>
                      </a:r>
                      <a:r>
                        <a:rPr lang="fr-FR" sz="1700" b="0" i="0" u="none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</a:rPr>
                        <a:t> </a:t>
                      </a:r>
                      <a:r>
                        <a:rPr sz="1700" b="0" i="0" u="none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</a:rPr>
                        <a:t>945</a:t>
                      </a:r>
                      <a:r>
                        <a:rPr lang="fr-FR" sz="1700" b="0" i="0" u="none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</a:rPr>
                        <a:t> </a:t>
                      </a:r>
                      <a:r>
                        <a:rPr sz="1700" b="0" i="0" u="none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</a:rPr>
                        <a:t>984</a:t>
                      </a:r>
                      <a:r>
                        <a:rPr lang="fr-FR" sz="1700" b="0" i="0" u="none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</a:rPr>
                        <a:t>.0</a:t>
                      </a:r>
                      <a:endParaRPr sz="1700">
                        <a:solidFill>
                          <a:srgbClr val="000000"/>
                        </a:solidFill>
                        <a:latin typeface="Libre Baskerville"/>
                        <a:cs typeface="Libre Baskerville"/>
                      </a:endParaRPr>
                    </a:p>
                  </a:txBody>
                  <a:tcPr marL="180822" marR="180822" marT="180822" marB="180822" anchor="ctr">
                    <a:lnL w="36164" algn="ctr">
                      <a:solidFill>
                        <a:srgbClr val="000000"/>
                      </a:solidFill>
                    </a:lnL>
                    <a:lnR w="36164" algn="ctr">
                      <a:solidFill>
                        <a:srgbClr val="000000"/>
                      </a:solidFill>
                    </a:lnR>
                    <a:lnT w="36164" algn="ctr">
                      <a:solidFill>
                        <a:srgbClr val="000000"/>
                      </a:solidFill>
                    </a:lnT>
                    <a:lnB w="36164" algn="ctr">
                      <a:solidFill>
                        <a:srgbClr val="000000"/>
                      </a:solidFill>
                    </a:lnB>
                  </a:tcPr>
                </a:tc>
              </a:tr>
              <a:tr h="711465">
                <a:tc>
                  <a:txBody>
                    <a:bodyPr/>
                    <a:p>
                      <a:pPr>
                        <a:defRPr/>
                      </a:pPr>
                      <a:r>
                        <a:rPr lang="fr-FR" sz="1700" b="0" i="0" u="none" strike="noStrike" cap="none" spc="0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</a:rPr>
                        <a:t>Campus</a:t>
                      </a:r>
                      <a:endParaRPr lang="en-US" sz="1700">
                        <a:solidFill>
                          <a:srgbClr val="000000"/>
                        </a:solidFill>
                        <a:latin typeface="Libre Baskerville"/>
                        <a:ea typeface="Libre Baskerville"/>
                        <a:cs typeface="Libre Baskerville"/>
                      </a:endParaRPr>
                    </a:p>
                  </a:txBody>
                  <a:tcPr marL="180822" marR="180822" marT="180822" marB="180822" anchor="ctr">
                    <a:lnL w="36164" algn="ctr">
                      <a:solidFill>
                        <a:srgbClr val="000000"/>
                      </a:solidFill>
                    </a:lnL>
                    <a:lnR w="36164" algn="ctr">
                      <a:solidFill>
                        <a:srgbClr val="000000"/>
                      </a:solidFill>
                    </a:lnR>
                    <a:lnT w="36164" algn="ctr">
                      <a:solidFill>
                        <a:srgbClr val="000000"/>
                      </a:solidFill>
                    </a:lnT>
                    <a:lnB w="36164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ts val="2391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</a:rPr>
                        <a:t>Other</a:t>
                      </a:r>
                      <a:endParaRPr lang="en-US" sz="1100"/>
                    </a:p>
                  </a:txBody>
                  <a:tcPr marL="180823" marR="180823" marT="180823" marB="180823" anchor="ctr">
                    <a:lnL w="36165" algn="ctr">
                      <a:solidFill>
                        <a:srgbClr val="000000"/>
                      </a:solidFill>
                    </a:lnL>
                    <a:lnR w="36165" algn="ctr">
                      <a:solidFill>
                        <a:srgbClr val="000000"/>
                      </a:solidFill>
                    </a:lnR>
                    <a:lnT w="36165" algn="ctr">
                      <a:solidFill>
                        <a:srgbClr val="000000"/>
                      </a:solidFill>
                    </a:lnT>
                    <a:lnB w="3616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ts val="2391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</a:rPr>
                        <a:t>535</a:t>
                      </a:r>
                      <a:r>
                        <a:rPr lang="fr-FR" sz="1700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</a:rPr>
                        <a:t> </a:t>
                      </a:r>
                      <a:r>
                        <a:rPr lang="en-US" sz="1700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</a:rPr>
                        <a:t>947</a:t>
                      </a:r>
                      <a:endParaRPr lang="en-US" sz="1100"/>
                    </a:p>
                  </a:txBody>
                  <a:tcPr marL="180823" marR="180823" marT="180823" marB="180823" anchor="ctr">
                    <a:lnL w="36165" algn="ctr">
                      <a:solidFill>
                        <a:srgbClr val="000000"/>
                      </a:solidFill>
                    </a:lnL>
                    <a:lnR w="36165" algn="ctr">
                      <a:solidFill>
                        <a:srgbClr val="000000"/>
                      </a:solidFill>
                    </a:lnR>
                    <a:lnT w="36165" algn="ctr">
                      <a:solidFill>
                        <a:srgbClr val="000000"/>
                      </a:solidFill>
                    </a:lnT>
                    <a:lnB w="3616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ts val="2391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</a:rPr>
                        <a:t>131 373 880.0</a:t>
                      </a:r>
                      <a:endParaRPr lang="en-US" sz="1100"/>
                    </a:p>
                  </a:txBody>
                  <a:tcPr marL="180823" marR="180823" marT="180823" marB="180823" anchor="ctr">
                    <a:lnL w="36165" algn="ctr">
                      <a:solidFill>
                        <a:srgbClr val="000000"/>
                      </a:solidFill>
                    </a:lnL>
                    <a:lnR w="36165" algn="ctr">
                      <a:solidFill>
                        <a:srgbClr val="000000"/>
                      </a:solidFill>
                    </a:lnR>
                    <a:lnT w="36165" algn="ctr">
                      <a:solidFill>
                        <a:srgbClr val="000000"/>
                      </a:solidFill>
                    </a:lnT>
                    <a:lnB w="36165" algn="ctr">
                      <a:solidFill>
                        <a:srgbClr val="000000"/>
                      </a:solidFill>
                    </a:lnB>
                  </a:tcPr>
                </a:tc>
              </a:tr>
              <a:tr h="710803">
                <a:tc>
                  <a:txBody>
                    <a:bodyPr/>
                    <a:p>
                      <a:pPr>
                        <a:defRPr/>
                      </a:pPr>
                      <a:r>
                        <a:rPr lang="fr-FR" sz="1700" b="0" i="0" u="none" strike="noStrike" cap="none" spc="0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</a:rPr>
                        <a:t>Campus</a:t>
                      </a:r>
                      <a:endParaRPr lang="en-US" sz="1700">
                        <a:solidFill>
                          <a:srgbClr val="000000"/>
                        </a:solidFill>
                        <a:latin typeface="Libre Baskerville"/>
                        <a:ea typeface="Libre Baskerville"/>
                        <a:cs typeface="Libre Baskerville"/>
                      </a:endParaRPr>
                    </a:p>
                  </a:txBody>
                  <a:tcPr marL="180822" marR="180822" marT="180822" marB="180822" anchor="ctr">
                    <a:lnL w="36164" algn="ctr">
                      <a:solidFill>
                        <a:srgbClr val="000000"/>
                      </a:solidFill>
                    </a:lnL>
                    <a:lnR w="36164" algn="ctr">
                      <a:solidFill>
                        <a:srgbClr val="000000"/>
                      </a:solidFill>
                    </a:lnR>
                    <a:lnT w="36164" algn="ctr">
                      <a:solidFill>
                        <a:srgbClr val="000000"/>
                      </a:solidFill>
                    </a:lnT>
                    <a:lnB w="36164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ts val="2391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</a:rPr>
                        <a:t>University</a:t>
                      </a:r>
                      <a:endParaRPr lang="en-US" sz="1100"/>
                    </a:p>
                  </a:txBody>
                  <a:tcPr marL="180823" marR="180823" marT="180823" marB="180823" anchor="ctr">
                    <a:lnL w="36165" algn="ctr">
                      <a:solidFill>
                        <a:srgbClr val="000000"/>
                      </a:solidFill>
                    </a:lnL>
                    <a:lnR w="36165" algn="ctr">
                      <a:solidFill>
                        <a:srgbClr val="000000"/>
                      </a:solidFill>
                    </a:lnR>
                    <a:lnT w="36165" algn="ctr">
                      <a:solidFill>
                        <a:srgbClr val="000000"/>
                      </a:solidFill>
                    </a:lnT>
                    <a:lnB w="3616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ts val="2391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</a:rPr>
                        <a:t>2</a:t>
                      </a:r>
                      <a:r>
                        <a:rPr lang="fr-FR" sz="1700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</a:rPr>
                        <a:t> </a:t>
                      </a:r>
                      <a:r>
                        <a:rPr lang="en-US" sz="1700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</a:rPr>
                        <a:t>200</a:t>
                      </a:r>
                      <a:r>
                        <a:rPr lang="fr-FR" sz="1700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</a:rPr>
                        <a:t> </a:t>
                      </a:r>
                      <a:r>
                        <a:rPr lang="en-US" sz="1700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</a:rPr>
                        <a:t>000 </a:t>
                      </a:r>
                      <a:endParaRPr lang="en-US" sz="1100"/>
                    </a:p>
                  </a:txBody>
                  <a:tcPr marL="180823" marR="180823" marT="180823" marB="180823" anchor="ctr">
                    <a:lnL w="36165" algn="ctr">
                      <a:solidFill>
                        <a:srgbClr val="000000"/>
                      </a:solidFill>
                    </a:lnL>
                    <a:lnR w="36165" algn="ctr">
                      <a:solidFill>
                        <a:srgbClr val="000000"/>
                      </a:solidFill>
                    </a:lnR>
                    <a:lnT w="36165" algn="ctr">
                      <a:solidFill>
                        <a:srgbClr val="000000"/>
                      </a:solidFill>
                    </a:lnT>
                    <a:lnB w="3616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ts val="2391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</a:rPr>
                        <a:t>114</a:t>
                      </a:r>
                      <a:r>
                        <a:rPr lang="fr-FR" sz="1700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</a:rPr>
                        <a:t> </a:t>
                      </a:r>
                      <a:r>
                        <a:rPr lang="en-US" sz="1700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</a:rPr>
                        <a:t>648</a:t>
                      </a:r>
                      <a:r>
                        <a:rPr lang="fr-FR" sz="1700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</a:rPr>
                        <a:t> </a:t>
                      </a:r>
                      <a:r>
                        <a:rPr lang="en-US" sz="1700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</a:rPr>
                        <a:t>520.0</a:t>
                      </a:r>
                      <a:endParaRPr lang="en-US" sz="1100"/>
                    </a:p>
                  </a:txBody>
                  <a:tcPr marL="180823" marR="180823" marT="180823" marB="180823" anchor="ctr">
                    <a:lnL w="36165" algn="ctr">
                      <a:solidFill>
                        <a:srgbClr val="000000"/>
                      </a:solidFill>
                    </a:lnL>
                    <a:lnR w="36165" algn="ctr">
                      <a:solidFill>
                        <a:srgbClr val="000000"/>
                      </a:solidFill>
                    </a:lnR>
                    <a:lnT w="36165" algn="ctr">
                      <a:solidFill>
                        <a:srgbClr val="000000"/>
                      </a:solidFill>
                    </a:lnT>
                    <a:lnB w="36165" algn="ctr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75060003" name="TextBox 8"/>
          <p:cNvSpPr txBox="1"/>
          <p:nvPr/>
        </p:nvSpPr>
        <p:spPr bwMode="auto">
          <a:xfrm rot="0">
            <a:off x="1625994" y="455962"/>
            <a:ext cx="12812420" cy="1343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00"/>
              </a:lnSpc>
              <a:defRPr/>
            </a:pPr>
            <a:r>
              <a:rPr lang="en-US" sz="7200" spc="-480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100000">
                      <a:srgbClr val="CB6CE6">
                        <a:alpha val="100000"/>
                      </a:srgbClr>
                    </a:gs>
                  </a:gsLst>
                  <a:lin ang="0" scaled="1"/>
                </a:gradFill>
                <a:latin typeface="Arimo"/>
                <a:ea typeface="Arimo"/>
                <a:cs typeface="Arimo"/>
              </a:rPr>
              <a:t>Analyse des Outliers de la Target</a:t>
            </a:r>
            <a:endParaRPr/>
          </a:p>
        </p:txBody>
      </p:sp>
      <p:sp>
        <p:nvSpPr>
          <p:cNvPr id="83560188" name="TextBox 9"/>
          <p:cNvSpPr txBox="1"/>
          <p:nvPr/>
        </p:nvSpPr>
        <p:spPr bwMode="auto">
          <a:xfrm rot="0" flipH="0" flipV="0">
            <a:off x="2273979" y="7247337"/>
            <a:ext cx="7035490" cy="2080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0"/>
              </a:lnSpc>
              <a:defRPr/>
            </a:pPr>
            <a:r>
              <a:rPr lang="en-US" sz="210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📊 </a:t>
            </a:r>
            <a:r>
              <a:rPr lang="en-US" sz="2100" u="sng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Top 5 de bâtiments </a:t>
            </a:r>
            <a:r>
              <a:rPr lang="fr-FR" sz="2100" u="sng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présents </a:t>
            </a:r>
            <a:r>
              <a:rPr lang="en-US" sz="2100" u="sng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parmi les outliers :</a:t>
            </a:r>
            <a:endParaRPr/>
          </a:p>
          <a:p>
            <a:pPr algn="l">
              <a:lnSpc>
                <a:spcPts val="2730"/>
              </a:lnSpc>
              <a:defRPr/>
            </a:pPr>
            <a:r>
              <a:rPr lang="en-US" sz="210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Large Office  </a:t>
            </a:r>
            <a:r>
              <a:rPr lang="en-US" sz="2100" b="1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</a:rPr>
              <a:t>67</a:t>
            </a:r>
            <a:endParaRPr/>
          </a:p>
          <a:p>
            <a:pPr algn="l">
              <a:lnSpc>
                <a:spcPts val="2730"/>
              </a:lnSpc>
              <a:defRPr/>
            </a:pPr>
            <a:r>
              <a:rPr lang="en-US" sz="210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Other </a:t>
            </a:r>
            <a:r>
              <a:rPr lang="en-US" sz="2100" b="1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</a:rPr>
              <a:t>29</a:t>
            </a:r>
            <a:endParaRPr/>
          </a:p>
          <a:p>
            <a:pPr algn="l">
              <a:lnSpc>
                <a:spcPts val="2730"/>
              </a:lnSpc>
              <a:defRPr/>
            </a:pPr>
            <a:r>
              <a:rPr lang="en-US" sz="210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Mixed Use Property  </a:t>
            </a:r>
            <a:r>
              <a:rPr lang="en-US" sz="2100" b="1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</a:rPr>
              <a:t>18</a:t>
            </a:r>
            <a:endParaRPr/>
          </a:p>
          <a:p>
            <a:pPr algn="l">
              <a:lnSpc>
                <a:spcPts val="2730"/>
              </a:lnSpc>
              <a:defRPr/>
            </a:pPr>
            <a:r>
              <a:rPr lang="en-US" sz="210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Hotel  </a:t>
            </a:r>
            <a:r>
              <a:rPr lang="en-US" sz="2100" b="1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</a:rPr>
              <a:t>15</a:t>
            </a:r>
            <a:endParaRPr/>
          </a:p>
          <a:p>
            <a:pPr algn="l">
              <a:lnSpc>
                <a:spcPts val="2730"/>
              </a:lnSpc>
              <a:defRPr/>
            </a:pPr>
            <a:r>
              <a:rPr lang="en-US" sz="210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Medical Office </a:t>
            </a:r>
            <a:r>
              <a:rPr lang="en-US" sz="2100" b="1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</a:rPr>
              <a:t>12</a:t>
            </a:r>
            <a:endParaRPr/>
          </a:p>
        </p:txBody>
      </p:sp>
      <p:sp>
        <p:nvSpPr>
          <p:cNvPr id="214228747" name="TextBox 10"/>
          <p:cNvSpPr txBox="1"/>
          <p:nvPr/>
        </p:nvSpPr>
        <p:spPr bwMode="auto">
          <a:xfrm rot="0">
            <a:off x="11208162" y="7564088"/>
            <a:ext cx="5774730" cy="1387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0"/>
              </a:lnSpc>
              <a:defRPr/>
            </a:pPr>
            <a:r>
              <a:rPr lang="en-US" sz="210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Analyse Outlier</a:t>
            </a:r>
            <a:r>
              <a:rPr lang="fr-FR" sz="210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 :</a:t>
            </a:r>
            <a:endParaRPr lang="fr-FR" sz="2100">
              <a:solidFill>
                <a:srgbClr val="000000"/>
              </a:solidFill>
              <a:latin typeface="Neue Montreal"/>
              <a:ea typeface="Neue Montreal"/>
              <a:cs typeface="Neue Montreal"/>
            </a:endParaRPr>
          </a:p>
          <a:p>
            <a:pPr marL="480060" lvl="2" indent="-160020" algn="l">
              <a:lnSpc>
                <a:spcPts val="2729"/>
              </a:lnSpc>
              <a:buFont typeface="Arial"/>
              <a:buChar char="⚬"/>
              <a:defRPr/>
            </a:pPr>
            <a:r>
              <a:rPr lang="fr-FR" sz="210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 Une corrélation entre surface/énergie</a:t>
            </a:r>
            <a:endParaRPr lang="en-US" sz="2100">
              <a:solidFill>
                <a:srgbClr val="000000"/>
              </a:solidFill>
              <a:latin typeface="Neue Montreal"/>
              <a:ea typeface="Neue Montreal"/>
              <a:cs typeface="Neue Montreal"/>
            </a:endParaRPr>
          </a:p>
          <a:p>
            <a:pPr marL="480060" lvl="2" indent="-160020" algn="l">
              <a:lnSpc>
                <a:spcPts val="2729"/>
              </a:lnSpc>
              <a:buFont typeface="Arial"/>
              <a:buChar char="⚬"/>
              <a:defRPr/>
            </a:pPr>
            <a:r>
              <a:rPr lang="fr-FR" sz="210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 Un lien non catégorique entre le type de bâtiment / énergie </a:t>
            </a:r>
            <a:endParaRPr sz="2100"/>
          </a:p>
        </p:txBody>
      </p:sp>
      <p:sp>
        <p:nvSpPr>
          <p:cNvPr id="2098133386" name="TextBox 11"/>
          <p:cNvSpPr txBox="1"/>
          <p:nvPr/>
        </p:nvSpPr>
        <p:spPr bwMode="auto">
          <a:xfrm rot="0">
            <a:off x="10223588" y="2008142"/>
            <a:ext cx="7204726" cy="3358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4"/>
              </a:lnSpc>
              <a:defRPr/>
            </a:pPr>
            <a:r>
              <a:rPr lang="en-US" sz="2050" b="0" i="0" u="none" strike="noStrike" cap="none" spc="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📊</a:t>
            </a:r>
            <a:r>
              <a:rPr lang="en-US" sz="2050" u="sng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Description de la surface des bâtiments parmi les outliers :</a:t>
            </a:r>
            <a:endParaRPr/>
          </a:p>
          <a:p>
            <a:pPr algn="l">
              <a:lnSpc>
                <a:spcPts val="2644"/>
              </a:lnSpc>
              <a:defRPr/>
            </a:pPr>
            <a:r>
              <a:rPr lang="en-US" sz="205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	count    1.740000e+02	</a:t>
            </a:r>
            <a:endParaRPr/>
          </a:p>
          <a:p>
            <a:pPr algn="l">
              <a:lnSpc>
                <a:spcPts val="2644"/>
              </a:lnSpc>
              <a:defRPr/>
            </a:pPr>
            <a:r>
              <a:rPr lang="en-US" sz="2050" b="1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</a:rPr>
              <a:t>	mean     4.501520e+05</a:t>
            </a:r>
            <a:endParaRPr/>
          </a:p>
          <a:p>
            <a:pPr algn="l">
              <a:lnSpc>
                <a:spcPts val="2644"/>
              </a:lnSpc>
              <a:defRPr/>
            </a:pPr>
            <a:r>
              <a:rPr lang="en-US" sz="205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	std      3.856720e+05</a:t>
            </a:r>
            <a:endParaRPr/>
          </a:p>
          <a:p>
            <a:pPr algn="l">
              <a:lnSpc>
                <a:spcPts val="2644"/>
              </a:lnSpc>
              <a:defRPr/>
            </a:pPr>
            <a:r>
              <a:rPr lang="en-US" sz="205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	min      3.397100e+04</a:t>
            </a:r>
            <a:endParaRPr/>
          </a:p>
          <a:p>
            <a:pPr algn="l">
              <a:lnSpc>
                <a:spcPts val="2644"/>
              </a:lnSpc>
              <a:defRPr/>
            </a:pPr>
            <a:r>
              <a:rPr lang="en-US" sz="205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	25%      1.893812e+05</a:t>
            </a:r>
            <a:endParaRPr/>
          </a:p>
          <a:p>
            <a:pPr algn="l">
              <a:lnSpc>
                <a:spcPts val="2644"/>
              </a:lnSpc>
              <a:defRPr/>
            </a:pPr>
            <a:r>
              <a:rPr lang="en-US" sz="205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	50%      3.347530e+05</a:t>
            </a:r>
            <a:endParaRPr/>
          </a:p>
          <a:p>
            <a:pPr algn="l">
              <a:lnSpc>
                <a:spcPts val="2644"/>
              </a:lnSpc>
              <a:defRPr/>
            </a:pPr>
            <a:r>
              <a:rPr lang="en-US" sz="205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	</a:t>
            </a:r>
            <a:r>
              <a:rPr lang="en-US" sz="2050" b="1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75%      5.381865e+05</a:t>
            </a:r>
            <a:endParaRPr/>
          </a:p>
          <a:p>
            <a:pPr algn="l">
              <a:lnSpc>
                <a:spcPts val="2644"/>
              </a:lnSpc>
              <a:defRPr/>
            </a:pPr>
            <a:r>
              <a:rPr lang="en-US" sz="2050" b="1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</a:rPr>
              <a:t>	max      2.200000e+06</a:t>
            </a:r>
            <a:endParaRPr/>
          </a:p>
          <a:p>
            <a:pPr algn="l">
              <a:lnSpc>
                <a:spcPts val="2644"/>
              </a:lnSpc>
              <a:defRPr/>
            </a:pPr>
            <a:r>
              <a:rPr lang="en-US" sz="205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	Name: PropertyGFATotal</a:t>
            </a:r>
            <a:endParaRPr/>
          </a:p>
        </p:txBody>
      </p:sp>
      <p:sp>
        <p:nvSpPr>
          <p:cNvPr id="1275541385" name="TextBox 12"/>
          <p:cNvSpPr txBox="1"/>
          <p:nvPr/>
        </p:nvSpPr>
        <p:spPr bwMode="auto">
          <a:xfrm rot="0">
            <a:off x="2085603" y="1941861"/>
            <a:ext cx="8612306" cy="319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0"/>
              </a:lnSpc>
              <a:defRPr/>
            </a:pPr>
            <a:r>
              <a:rPr lang="en-US" sz="1950" u="sng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📊 Top </a:t>
            </a:r>
            <a:r>
              <a:rPr lang="fr-FR" sz="1950" u="sng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5</a:t>
            </a:r>
            <a:r>
              <a:rPr lang="en-US" sz="1950" u="sng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 des plus gros consommateurs parmi les outliers:</a:t>
            </a:r>
            <a:endParaRPr/>
          </a:p>
        </p:txBody>
      </p:sp>
      <p:grpSp>
        <p:nvGrpSpPr>
          <p:cNvPr id="481637903" name="Group 10"/>
          <p:cNvGrpSpPr/>
          <p:nvPr/>
        </p:nvGrpSpPr>
        <p:grpSpPr bwMode="auto">
          <a:xfrm rot="0" flipH="0" flipV="0">
            <a:off x="10281192" y="6219663"/>
            <a:ext cx="7019337" cy="3870745"/>
            <a:chOff x="0" y="0"/>
            <a:chExt cx="7019337" cy="3870745"/>
          </a:xfrm>
        </p:grpSpPr>
        <p:sp>
          <p:nvSpPr>
            <p:cNvPr id="991756459" name="Freeform 11"/>
            <p:cNvSpPr/>
            <p:nvPr/>
          </p:nvSpPr>
          <p:spPr bwMode="auto">
            <a:xfrm rot="0" flipH="0" flipV="0">
              <a:off x="0" y="0"/>
              <a:ext cx="7019337" cy="3870745"/>
            </a:xfrm>
            <a:custGeom>
              <a:avLst/>
              <a:gdLst/>
              <a:ahLst/>
              <a:cxnLst/>
              <a:rect l="l" t="t" r="r" b="b"/>
              <a:pathLst>
                <a:path w="4186174" h="1486027" fill="norm" stroke="1" extrusionOk="0">
                  <a:moveTo>
                    <a:pt x="0" y="0"/>
                  </a:moveTo>
                  <a:lnTo>
                    <a:pt x="4186174" y="0"/>
                  </a:lnTo>
                  <a:lnTo>
                    <a:pt x="4186174" y="1486027"/>
                  </a:lnTo>
                  <a:lnTo>
                    <a:pt x="0" y="148602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/>
              <a:stretch>
                <a:fillRect l="-6" t="0" r="-4" b="-1"/>
              </a:stretch>
            </a:blipFill>
          </p:spPr>
          <p:txBody>
            <a:bodyPr anchor="ctr"/>
            <a:p>
              <a:pPr algn="ctr">
                <a:defRPr/>
              </a:pPr>
              <a:endParaRPr/>
            </a:p>
          </p:txBody>
        </p:sp>
      </p:grpSp>
      <p:grpSp>
        <p:nvGrpSpPr>
          <p:cNvPr id="1347657784" name="Group 34"/>
          <p:cNvGrpSpPr/>
          <p:nvPr/>
        </p:nvGrpSpPr>
        <p:grpSpPr bwMode="auto">
          <a:xfrm rot="0">
            <a:off x="1673377" y="8032597"/>
            <a:ext cx="521264" cy="210463"/>
            <a:chOff x="0" y="0"/>
            <a:chExt cx="695019" cy="280618"/>
          </a:xfrm>
        </p:grpSpPr>
        <p:sp>
          <p:nvSpPr>
            <p:cNvPr id="2082142391" name="Freeform 35"/>
            <p:cNvSpPr/>
            <p:nvPr/>
          </p:nvSpPr>
          <p:spPr bwMode="auto">
            <a:xfrm rot="0" flipH="0" flipV="0">
              <a:off x="0" y="0"/>
              <a:ext cx="695070" cy="280669"/>
            </a:xfrm>
            <a:custGeom>
              <a:avLst/>
              <a:gdLst/>
              <a:ahLst/>
              <a:cxnLst/>
              <a:rect l="l" t="t" r="r" b="b"/>
              <a:pathLst>
                <a:path w="695071" h="280670" fill="norm" stroke="1" extrusionOk="0">
                  <a:moveTo>
                    <a:pt x="0" y="0"/>
                  </a:moveTo>
                  <a:lnTo>
                    <a:pt x="695071" y="0"/>
                  </a:lnTo>
                  <a:lnTo>
                    <a:pt x="695071" y="280670"/>
                  </a:lnTo>
                  <a:lnTo>
                    <a:pt x="0" y="28067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/>
              <a:stretch>
                <a:fillRect l="-35" t="0" r="-27" b="18"/>
              </a:stretch>
            </a:blipFill>
          </p:spPr>
        </p:sp>
      </p:grpSp>
      <p:grpSp>
        <p:nvGrpSpPr>
          <p:cNvPr id="3223108" name="Group 34"/>
          <p:cNvGrpSpPr/>
          <p:nvPr/>
        </p:nvGrpSpPr>
        <p:grpSpPr bwMode="auto">
          <a:xfrm rot="0">
            <a:off x="1693220" y="8369941"/>
            <a:ext cx="521264" cy="210463"/>
            <a:chOff x="0" y="0"/>
            <a:chExt cx="695019" cy="280618"/>
          </a:xfrm>
        </p:grpSpPr>
        <p:sp>
          <p:nvSpPr>
            <p:cNvPr id="103006597" name="Freeform 35"/>
            <p:cNvSpPr/>
            <p:nvPr/>
          </p:nvSpPr>
          <p:spPr bwMode="auto">
            <a:xfrm rot="0" flipH="0" flipV="0">
              <a:off x="0" y="0"/>
              <a:ext cx="695070" cy="280669"/>
            </a:xfrm>
            <a:custGeom>
              <a:avLst/>
              <a:gdLst/>
              <a:ahLst/>
              <a:cxnLst/>
              <a:rect l="l" t="t" r="r" b="b"/>
              <a:pathLst>
                <a:path w="695071" h="280670" fill="norm" stroke="1" extrusionOk="0">
                  <a:moveTo>
                    <a:pt x="0" y="0"/>
                  </a:moveTo>
                  <a:lnTo>
                    <a:pt x="695071" y="0"/>
                  </a:lnTo>
                  <a:lnTo>
                    <a:pt x="695071" y="280670"/>
                  </a:lnTo>
                  <a:lnTo>
                    <a:pt x="0" y="28067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/>
              <a:stretch>
                <a:fillRect l="-35" t="0" r="-27" b="18"/>
              </a:stretch>
            </a:blipFill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9769955" name="Freeform 2"/>
          <p:cNvSpPr/>
          <p:nvPr/>
        </p:nvSpPr>
        <p:spPr bwMode="auto">
          <a:xfrm rot="0" flipH="0" flipV="0">
            <a:off x="-233970" y="9876783"/>
            <a:ext cx="18521969" cy="410217"/>
          </a:xfrm>
          <a:custGeom>
            <a:avLst/>
            <a:gdLst/>
            <a:ahLst/>
            <a:cxnLst/>
            <a:rect l="l" t="t" r="r" b="b"/>
            <a:pathLst>
              <a:path w="18521970" h="410217" fill="norm" stroke="1" extrusionOk="0">
                <a:moveTo>
                  <a:pt x="0" y="0"/>
                </a:moveTo>
                <a:lnTo>
                  <a:pt x="18521970" y="0"/>
                </a:lnTo>
                <a:lnTo>
                  <a:pt x="18521970" y="410217"/>
                </a:lnTo>
                <a:lnTo>
                  <a:pt x="0" y="4102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 l="0" t="0" r="0" b="0"/>
            </a:stretch>
          </a:blipFill>
        </p:spPr>
      </p:sp>
      <p:grpSp>
        <p:nvGrpSpPr>
          <p:cNvPr id="1755622415" name="Group 3"/>
          <p:cNvGrpSpPr/>
          <p:nvPr/>
        </p:nvGrpSpPr>
        <p:grpSpPr bwMode="auto">
          <a:xfrm rot="5400000">
            <a:off x="-296172" y="-850797"/>
            <a:ext cx="6989568" cy="7992237"/>
            <a:chOff x="0" y="0"/>
            <a:chExt cx="9319424" cy="10656316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9319387" cy="10656316"/>
            </a:xfrm>
            <a:custGeom>
              <a:avLst/>
              <a:gdLst/>
              <a:ahLst/>
              <a:cxnLst/>
              <a:rect l="l" t="t" r="r" b="b"/>
              <a:pathLst>
                <a:path w="9319387" h="10656316" fill="norm" stroke="1" extrusionOk="0">
                  <a:moveTo>
                    <a:pt x="0" y="0"/>
                  </a:moveTo>
                  <a:lnTo>
                    <a:pt x="9319387" y="0"/>
                  </a:lnTo>
                  <a:lnTo>
                    <a:pt x="9319387" y="10656316"/>
                  </a:lnTo>
                  <a:lnTo>
                    <a:pt x="0" y="1065631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/>
              <a:stretch>
                <a:fillRect l="0" t="-23" r="0" b="-22"/>
              </a:stretch>
            </a:blipFill>
          </p:spPr>
        </p:sp>
      </p:grpSp>
      <p:grpSp>
        <p:nvGrpSpPr>
          <p:cNvPr id="1194915797" name="Group 5"/>
          <p:cNvGrpSpPr/>
          <p:nvPr/>
        </p:nvGrpSpPr>
        <p:grpSpPr bwMode="auto">
          <a:xfrm rot="0">
            <a:off x="687010" y="2242709"/>
            <a:ext cx="16913981" cy="4884696"/>
            <a:chOff x="0" y="0"/>
            <a:chExt cx="22551974" cy="6512928"/>
          </a:xfrm>
        </p:grpSpPr>
        <p:sp>
          <p:nvSpPr>
            <p:cNvPr id="6" name="Freeform 6"/>
            <p:cNvSpPr/>
            <p:nvPr/>
          </p:nvSpPr>
          <p:spPr bwMode="auto">
            <a:xfrm rot="0" flipH="0" flipV="0">
              <a:off x="0" y="0"/>
              <a:ext cx="22552025" cy="6512941"/>
            </a:xfrm>
            <a:custGeom>
              <a:avLst/>
              <a:gdLst/>
              <a:ahLst/>
              <a:cxnLst/>
              <a:rect l="l" t="t" r="r" b="b"/>
              <a:pathLst>
                <a:path w="22552025" h="6512941" fill="norm" stroke="1" extrusionOk="0">
                  <a:moveTo>
                    <a:pt x="0" y="0"/>
                  </a:moveTo>
                  <a:lnTo>
                    <a:pt x="22552025" y="0"/>
                  </a:lnTo>
                  <a:lnTo>
                    <a:pt x="22552025" y="6512941"/>
                  </a:lnTo>
                  <a:lnTo>
                    <a:pt x="0" y="651294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/>
              <a:stretch>
                <a:fillRect l="0" t="-4488" r="0" b="-4488"/>
              </a:stretch>
            </a:blipFill>
          </p:spPr>
        </p:sp>
      </p:grpSp>
      <p:sp>
        <p:nvSpPr>
          <p:cNvPr id="1057699193" name="TextBox 7"/>
          <p:cNvSpPr txBox="1"/>
          <p:nvPr/>
        </p:nvSpPr>
        <p:spPr bwMode="auto">
          <a:xfrm rot="0" flipH="0" flipV="0">
            <a:off x="1098479" y="1799420"/>
            <a:ext cx="12980286" cy="304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0"/>
              </a:lnSpc>
              <a:defRPr/>
            </a:pPr>
            <a:r>
              <a:rPr lang="en-US" sz="3400" spc="-199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100000">
                      <a:srgbClr val="CB6CE6">
                        <a:alpha val="100000"/>
                      </a:srgbClr>
                    </a:gs>
                  </a:gsLst>
                  <a:lin ang="0" scaled="1"/>
                </a:gradFill>
                <a:latin typeface="Goudy"/>
                <a:ea typeface="Goudy"/>
                <a:cs typeface="Goudy"/>
              </a:rPr>
              <a:t>Top </a:t>
            </a:r>
            <a:r>
              <a:rPr lang="fr-FR" sz="3400" spc="-199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100000">
                      <a:srgbClr val="CB6CE6">
                        <a:alpha val="100000"/>
                      </a:srgbClr>
                    </a:gs>
                  </a:gsLst>
                  <a:lin ang="0" scaled="1"/>
                </a:gradFill>
                <a:latin typeface="Goudy"/>
                <a:ea typeface="Goudy"/>
                <a:cs typeface="Goudy"/>
              </a:rPr>
              <a:t>10</a:t>
            </a:r>
            <a:r>
              <a:rPr lang="en-US" sz="3400" spc="-199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100000">
                      <a:srgbClr val="CB6CE6">
                        <a:alpha val="100000"/>
                      </a:srgbClr>
                    </a:gs>
                  </a:gsLst>
                  <a:lin ang="0" scaled="1"/>
                </a:gradFill>
                <a:latin typeface="Goudy"/>
                <a:ea typeface="Goudy"/>
                <a:cs typeface="Goudy"/>
              </a:rPr>
              <a:t> de la varia</a:t>
            </a:r>
            <a:r>
              <a:rPr lang="fr-FR" sz="3400" spc="-199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100000">
                      <a:srgbClr val="CB6CE6">
                        <a:alpha val="100000"/>
                      </a:srgbClr>
                    </a:gs>
                  </a:gsLst>
                  <a:lin ang="0" scaled="1"/>
                </a:gradFill>
                <a:latin typeface="Goudy"/>
                <a:ea typeface="Goudy"/>
                <a:cs typeface="Goudy"/>
              </a:rPr>
              <a:t>ble </a:t>
            </a:r>
            <a:r>
              <a:rPr lang="fr-FR" sz="3400" b="1" spc="-199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100000">
                      <a:srgbClr val="CB6CE6">
                        <a:alpha val="100000"/>
                      </a:srgbClr>
                    </a:gs>
                  </a:gsLst>
                  <a:lin ang="0" scaled="1"/>
                </a:gradFill>
                <a:latin typeface="Goudy"/>
                <a:ea typeface="Goudy"/>
                <a:cs typeface="Goudy"/>
              </a:rPr>
              <a:t>Other / PrimaryPropertyType</a:t>
            </a:r>
            <a:r>
              <a:rPr lang="fr-FR" sz="3400" spc="-199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100000">
                      <a:srgbClr val="CB6CE6">
                        <a:alpha val="100000"/>
                      </a:srgbClr>
                    </a:gs>
                  </a:gsLst>
                  <a:lin ang="0" scaled="1"/>
                </a:gradFill>
                <a:latin typeface="Goudy"/>
                <a:ea typeface="Goudy"/>
                <a:cs typeface="Goudy"/>
              </a:rPr>
              <a:t> </a:t>
            </a:r>
            <a:r>
              <a:rPr lang="en-US" sz="3400" spc="-199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100000">
                      <a:srgbClr val="CB6CE6">
                        <a:alpha val="100000"/>
                      </a:srgbClr>
                    </a:gs>
                  </a:gsLst>
                  <a:lin ang="0" scaled="1"/>
                </a:gradFill>
                <a:latin typeface="Goudy"/>
                <a:ea typeface="Goudy"/>
                <a:cs typeface="Goudy"/>
              </a:rPr>
              <a:t>de la Target</a:t>
            </a:r>
            <a:endParaRPr sz="3400"/>
          </a:p>
        </p:txBody>
      </p:sp>
      <p:sp>
        <p:nvSpPr>
          <p:cNvPr id="1928994043" name="TextBox 8"/>
          <p:cNvSpPr txBox="1"/>
          <p:nvPr/>
        </p:nvSpPr>
        <p:spPr bwMode="auto">
          <a:xfrm rot="0">
            <a:off x="1986406" y="7986525"/>
            <a:ext cx="14634905" cy="1082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5"/>
              </a:lnSpc>
              <a:defRPr/>
            </a:pPr>
            <a:r>
              <a:rPr lang="en-US" sz="215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 On remarque deux individus très énergivores dans la variable ‘Other’ : </a:t>
            </a:r>
            <a:endParaRPr/>
          </a:p>
          <a:p>
            <a:pPr marL="489072" lvl="2" indent="-163024" algn="l">
              <a:lnSpc>
                <a:spcPts val="2765"/>
              </a:lnSpc>
              <a:buFont typeface="Arial"/>
              <a:buChar char="⚬"/>
              <a:defRPr/>
            </a:pPr>
            <a:r>
              <a:rPr lang="en-US" sz="215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1 Data Center, sa consommation par rapport à la superficie et son nombre de batiment est extreme. </a:t>
            </a:r>
            <a:endParaRPr/>
          </a:p>
          <a:p>
            <a:pPr marL="489072" lvl="2" indent="-163024" algn="l">
              <a:lnSpc>
                <a:spcPts val="2765"/>
              </a:lnSpc>
              <a:buFont typeface="Arial"/>
              <a:buChar char="⚬"/>
              <a:defRPr/>
            </a:pPr>
            <a:r>
              <a:rPr lang="en-US" sz="215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1 campus/Parking, sa consommation d'energie par rapport à sa superficie et nombre de batiment est cohérent.</a:t>
            </a:r>
            <a:endParaRPr/>
          </a:p>
        </p:txBody>
      </p:sp>
      <p:sp>
        <p:nvSpPr>
          <p:cNvPr id="1850498414" name="TextBox 9"/>
          <p:cNvSpPr txBox="1"/>
          <p:nvPr/>
        </p:nvSpPr>
        <p:spPr bwMode="auto">
          <a:xfrm rot="0">
            <a:off x="3094538" y="8717412"/>
            <a:ext cx="14053487" cy="351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5"/>
              </a:lnSpc>
              <a:defRPr/>
            </a:pPr>
            <a:endParaRPr/>
          </a:p>
        </p:txBody>
      </p:sp>
      <p:sp>
        <p:nvSpPr>
          <p:cNvPr id="736573821" name="TextBox 10"/>
          <p:cNvSpPr txBox="1"/>
          <p:nvPr/>
        </p:nvSpPr>
        <p:spPr bwMode="auto">
          <a:xfrm rot="0">
            <a:off x="1246365" y="184632"/>
            <a:ext cx="15224032" cy="1219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00"/>
              </a:lnSpc>
              <a:defRPr/>
            </a:pPr>
            <a:r>
              <a:rPr lang="en-US" sz="7200" spc="-480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100000">
                      <a:srgbClr val="CB6CE6">
                        <a:alpha val="100000"/>
                      </a:srgbClr>
                    </a:gs>
                  </a:gsLst>
                  <a:lin ang="0" scaled="1"/>
                </a:gradFill>
                <a:latin typeface="Goudy"/>
                <a:ea typeface="Goudy"/>
                <a:cs typeface="Goudy"/>
              </a:rPr>
              <a:t>Analyse </a:t>
            </a:r>
            <a:r>
              <a:rPr lang="fr-FR" sz="7200" spc="-478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100000">
                      <a:srgbClr val="CB6CE6">
                        <a:alpha val="100000"/>
                      </a:srgbClr>
                    </a:gs>
                  </a:gsLst>
                  <a:lin ang="0" scaled="1"/>
                </a:gradFill>
                <a:latin typeface="Goudy"/>
                <a:ea typeface="Goudy"/>
                <a:cs typeface="Goudy"/>
              </a:rPr>
              <a:t>de la Feature</a:t>
            </a:r>
            <a:r>
              <a:rPr lang="en-US" sz="7200" spc="-478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100000">
                      <a:srgbClr val="CB6CE6">
                        <a:alpha val="100000"/>
                      </a:srgbClr>
                    </a:gs>
                  </a:gsLst>
                  <a:lin ang="0" scaled="1"/>
                </a:gradFill>
                <a:latin typeface="Goudy"/>
                <a:ea typeface="Goudy"/>
                <a:cs typeface="Goudy"/>
              </a:rPr>
              <a:t> O</a:t>
            </a:r>
            <a:r>
              <a:rPr lang="fr-FR" sz="7200" spc="-478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100000">
                      <a:srgbClr val="CB6CE6">
                        <a:alpha val="100000"/>
                      </a:srgbClr>
                    </a:gs>
                  </a:gsLst>
                  <a:lin ang="0" scaled="1"/>
                </a:gradFill>
                <a:latin typeface="Goudy"/>
                <a:ea typeface="Goudy"/>
                <a:cs typeface="Goudy"/>
              </a:rPr>
              <a:t>thers</a:t>
            </a:r>
            <a:r>
              <a:rPr lang="en-US" sz="7200" spc="-478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100000">
                      <a:srgbClr val="CB6CE6">
                        <a:alpha val="100000"/>
                      </a:srgbClr>
                    </a:gs>
                  </a:gsLst>
                  <a:lin ang="0" scaled="1"/>
                </a:gradFill>
                <a:latin typeface="Goudy"/>
                <a:ea typeface="Goudy"/>
                <a:cs typeface="Goudy"/>
              </a:rPr>
              <a:t> de la Target</a:t>
            </a:r>
            <a:endParaRPr sz="7200"/>
          </a:p>
        </p:txBody>
      </p:sp>
      <p:sp>
        <p:nvSpPr>
          <p:cNvPr id="1330433677" name=""/>
          <p:cNvSpPr txBox="1"/>
          <p:nvPr/>
        </p:nvSpPr>
        <p:spPr bwMode="auto">
          <a:xfrm rot="0" flipH="0" flipV="0">
            <a:off x="1807812" y="2103437"/>
            <a:ext cx="178593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728573667" name=""/>
          <p:cNvSpPr/>
          <p:nvPr/>
        </p:nvSpPr>
        <p:spPr bwMode="auto">
          <a:xfrm rot="0" flipH="0" flipV="0">
            <a:off x="914843" y="2286497"/>
            <a:ext cx="3657156" cy="198437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7424666" name="Freeform 2"/>
          <p:cNvSpPr/>
          <p:nvPr/>
        </p:nvSpPr>
        <p:spPr bwMode="auto">
          <a:xfrm rot="0" flipH="0" flipV="0">
            <a:off x="-270786" y="9875968"/>
            <a:ext cx="18558786" cy="411032"/>
          </a:xfrm>
          <a:custGeom>
            <a:avLst/>
            <a:gdLst/>
            <a:ahLst/>
            <a:cxnLst/>
            <a:rect l="l" t="t" r="r" b="b"/>
            <a:pathLst>
              <a:path w="18558786" h="411032" fill="norm" stroke="1" extrusionOk="0">
                <a:moveTo>
                  <a:pt x="0" y="0"/>
                </a:moveTo>
                <a:lnTo>
                  <a:pt x="18558786" y="0"/>
                </a:lnTo>
                <a:lnTo>
                  <a:pt x="18558786" y="411032"/>
                </a:lnTo>
                <a:lnTo>
                  <a:pt x="0" y="4110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 l="0" t="0" r="0" b="0"/>
            </a:stretch>
          </a:blipFill>
        </p:spPr>
      </p:sp>
      <p:grpSp>
        <p:nvGrpSpPr>
          <p:cNvPr id="293654033" name="Group 3"/>
          <p:cNvGrpSpPr/>
          <p:nvPr/>
        </p:nvGrpSpPr>
        <p:grpSpPr bwMode="auto">
          <a:xfrm rot="5400000">
            <a:off x="-505825" y="-840638"/>
            <a:ext cx="6989568" cy="7992237"/>
            <a:chOff x="0" y="0"/>
            <a:chExt cx="9319424" cy="10656316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9319387" cy="10656316"/>
            </a:xfrm>
            <a:custGeom>
              <a:avLst/>
              <a:gdLst/>
              <a:ahLst/>
              <a:cxnLst/>
              <a:rect l="l" t="t" r="r" b="b"/>
              <a:pathLst>
                <a:path w="9319387" h="10656316" fill="norm" stroke="1" extrusionOk="0">
                  <a:moveTo>
                    <a:pt x="0" y="0"/>
                  </a:moveTo>
                  <a:lnTo>
                    <a:pt x="9319387" y="0"/>
                  </a:lnTo>
                  <a:lnTo>
                    <a:pt x="9319387" y="10656316"/>
                  </a:lnTo>
                  <a:lnTo>
                    <a:pt x="0" y="1065631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/>
              <a:stretch>
                <a:fillRect l="0" t="-23" r="0" b="-22"/>
              </a:stretch>
            </a:blipFill>
          </p:spPr>
        </p:sp>
      </p:grpSp>
      <p:grpSp>
        <p:nvGrpSpPr>
          <p:cNvPr id="953879746" name="Group 5"/>
          <p:cNvGrpSpPr/>
          <p:nvPr/>
        </p:nvGrpSpPr>
        <p:grpSpPr bwMode="auto">
          <a:xfrm rot="0">
            <a:off x="2058086" y="1859718"/>
            <a:ext cx="13442823" cy="7296731"/>
            <a:chOff x="0" y="0"/>
            <a:chExt cx="17923764" cy="9728975"/>
          </a:xfrm>
        </p:grpSpPr>
        <p:sp>
          <p:nvSpPr>
            <p:cNvPr id="6" name="Freeform 6"/>
            <p:cNvSpPr/>
            <p:nvPr/>
          </p:nvSpPr>
          <p:spPr bwMode="auto">
            <a:xfrm rot="0" flipH="0" flipV="0">
              <a:off x="0" y="0"/>
              <a:ext cx="17923763" cy="9728962"/>
            </a:xfrm>
            <a:custGeom>
              <a:avLst/>
              <a:gdLst/>
              <a:ahLst/>
              <a:cxnLst/>
              <a:rect l="l" t="t" r="r" b="b"/>
              <a:pathLst>
                <a:path w="17923763" h="9728962" fill="norm" stroke="1" extrusionOk="0">
                  <a:moveTo>
                    <a:pt x="0" y="0"/>
                  </a:moveTo>
                  <a:lnTo>
                    <a:pt x="17923763" y="0"/>
                  </a:lnTo>
                  <a:lnTo>
                    <a:pt x="17923763" y="9728962"/>
                  </a:lnTo>
                  <a:lnTo>
                    <a:pt x="0" y="972896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id="1868039207" name="Group 7"/>
          <p:cNvGrpSpPr/>
          <p:nvPr/>
        </p:nvGrpSpPr>
        <p:grpSpPr bwMode="auto">
          <a:xfrm rot="469080">
            <a:off x="2725201" y="9128097"/>
            <a:ext cx="1073829" cy="404146"/>
            <a:chOff x="0" y="0"/>
            <a:chExt cx="1431773" cy="538861"/>
          </a:xfrm>
        </p:grpSpPr>
        <p:sp>
          <p:nvSpPr>
            <p:cNvPr id="8" name="Freeform 8"/>
            <p:cNvSpPr/>
            <p:nvPr/>
          </p:nvSpPr>
          <p:spPr bwMode="auto">
            <a:xfrm rot="0" flipH="0" flipV="0">
              <a:off x="0" y="0"/>
              <a:ext cx="1431798" cy="538861"/>
            </a:xfrm>
            <a:custGeom>
              <a:avLst/>
              <a:gdLst/>
              <a:ahLst/>
              <a:cxnLst/>
              <a:rect l="l" t="t" r="r" b="b"/>
              <a:pathLst>
                <a:path w="1431798" h="538861" fill="norm" stroke="1" extrusionOk="0">
                  <a:moveTo>
                    <a:pt x="0" y="0"/>
                  </a:moveTo>
                  <a:lnTo>
                    <a:pt x="1431798" y="0"/>
                  </a:lnTo>
                  <a:lnTo>
                    <a:pt x="1431798" y="538861"/>
                  </a:lnTo>
                  <a:lnTo>
                    <a:pt x="0" y="53886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/>
              <a:stretch>
                <a:fillRect l="0" t="-2" r="1" b="-1"/>
              </a:stretch>
            </a:blipFill>
          </p:spPr>
        </p:sp>
      </p:grpSp>
      <p:sp>
        <p:nvSpPr>
          <p:cNvPr id="1367488551" name="TextBox 9"/>
          <p:cNvSpPr txBox="1"/>
          <p:nvPr/>
        </p:nvSpPr>
        <p:spPr bwMode="auto">
          <a:xfrm rot="0">
            <a:off x="1904286" y="118139"/>
            <a:ext cx="15603264" cy="1810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9480"/>
              </a:lnSpc>
              <a:defRPr/>
            </a:pPr>
            <a:r>
              <a:rPr lang="en-US" sz="7200" spc="-472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100000">
                      <a:srgbClr val="CB6CE6">
                        <a:alpha val="100000"/>
                      </a:srgbClr>
                    </a:gs>
                  </a:gsLst>
                  <a:lin ang="0" scaled="1"/>
                </a:gradFill>
                <a:latin typeface="Arimo"/>
                <a:ea typeface="Arimo"/>
                <a:cs typeface="Arimo"/>
              </a:rPr>
              <a:t>Visualisation des valeurs manquantes </a:t>
            </a:r>
            <a:endParaRPr/>
          </a:p>
          <a:p>
            <a:pPr algn="just">
              <a:lnSpc>
                <a:spcPts val="3949"/>
              </a:lnSpc>
              <a:defRPr/>
            </a:pPr>
            <a:r>
              <a:rPr lang="en-US" sz="7200" spc="-472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100000">
                      <a:srgbClr val="CB6CE6">
                        <a:alpha val="100000"/>
                      </a:srgbClr>
                    </a:gs>
                  </a:gsLst>
                  <a:lin ang="0" scaled="1"/>
                </a:gradFill>
                <a:latin typeface="Arimo"/>
                <a:ea typeface="Arimo"/>
                <a:cs typeface="Arimo"/>
              </a:rPr>
              <a:t>du dataset</a:t>
            </a:r>
            <a:endParaRPr/>
          </a:p>
        </p:txBody>
      </p:sp>
      <p:sp>
        <p:nvSpPr>
          <p:cNvPr id="617670296" name="TextBox 10"/>
          <p:cNvSpPr txBox="1"/>
          <p:nvPr/>
        </p:nvSpPr>
        <p:spPr bwMode="auto">
          <a:xfrm rot="0" flipH="0" flipV="0">
            <a:off x="3865029" y="9201150"/>
            <a:ext cx="14084391" cy="3737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defRPr/>
            </a:pPr>
            <a:r>
              <a:rPr lang="fr-FR" sz="2250" b="1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</a:rPr>
              <a:t>Remplissage du Dataset</a:t>
            </a:r>
            <a:r>
              <a:rPr lang="fr-FR" sz="2250" b="1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</a:rPr>
              <a:t> et suppression de YearsENERGYSTARCertified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1497489" name="Freeform 2"/>
          <p:cNvSpPr/>
          <p:nvPr/>
        </p:nvSpPr>
        <p:spPr bwMode="auto">
          <a:xfrm rot="0" flipH="0" flipV="0">
            <a:off x="-154012" y="9870908"/>
            <a:ext cx="18787274" cy="416092"/>
          </a:xfrm>
          <a:custGeom>
            <a:avLst/>
            <a:gdLst/>
            <a:ahLst/>
            <a:cxnLst/>
            <a:rect l="l" t="t" r="r" b="b"/>
            <a:pathLst>
              <a:path w="18787274" h="416092" fill="norm" stroke="1" extrusionOk="0">
                <a:moveTo>
                  <a:pt x="0" y="0"/>
                </a:moveTo>
                <a:lnTo>
                  <a:pt x="18787274" y="0"/>
                </a:lnTo>
                <a:lnTo>
                  <a:pt x="18787274" y="416092"/>
                </a:lnTo>
                <a:lnTo>
                  <a:pt x="0" y="4160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 l="0" t="0" r="0" b="0"/>
            </a:stretch>
          </a:blipFill>
        </p:spPr>
      </p:sp>
      <p:sp>
        <p:nvSpPr>
          <p:cNvPr id="1075904167" name="TextBox 3"/>
          <p:cNvSpPr txBox="1"/>
          <p:nvPr/>
        </p:nvSpPr>
        <p:spPr bwMode="auto">
          <a:xfrm rot="0">
            <a:off x="10118007" y="3614913"/>
            <a:ext cx="7463771" cy="1280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  <a:defRPr/>
            </a:pPr>
            <a:r>
              <a:rPr lang="en-US" sz="1900" u="sng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TRAITEMENT : Autres colonnes</a:t>
            </a:r>
            <a:endParaRPr/>
          </a:p>
          <a:p>
            <a:pPr algn="l">
              <a:lnSpc>
                <a:spcPts val="2499"/>
              </a:lnSpc>
              <a:defRPr/>
            </a:pPr>
            <a:r>
              <a:rPr lang="en-US" sz="190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✅ Rempli LargestPropertyUseType avec PrimaryPropertyType</a:t>
            </a:r>
            <a:endParaRPr/>
          </a:p>
          <a:p>
            <a:pPr algn="l">
              <a:lnSpc>
                <a:spcPts val="2499"/>
              </a:lnSpc>
              <a:defRPr/>
            </a:pPr>
            <a:r>
              <a:rPr lang="en-US" sz="190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✅ Rempli NumberofBuildings par la médiane (0,1% manquant)</a:t>
            </a:r>
            <a:endParaRPr/>
          </a:p>
          <a:p>
            <a:pPr algn="l">
              <a:lnSpc>
                <a:spcPts val="2499"/>
              </a:lnSpc>
              <a:defRPr/>
            </a:pPr>
            <a:r>
              <a:rPr lang="en-US" sz="190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✅ Supprimé 2 lignes avec autres valeurs manquantes (0,1% manquant)</a:t>
            </a:r>
            <a:endParaRPr/>
          </a:p>
        </p:txBody>
      </p:sp>
      <p:grpSp>
        <p:nvGrpSpPr>
          <p:cNvPr id="1951587864" name="Group 4"/>
          <p:cNvGrpSpPr/>
          <p:nvPr/>
        </p:nvGrpSpPr>
        <p:grpSpPr bwMode="auto">
          <a:xfrm rot="5400000">
            <a:off x="-39543" y="-715027"/>
            <a:ext cx="6989568" cy="7992237"/>
            <a:chOff x="0" y="0"/>
            <a:chExt cx="9319424" cy="10656316"/>
          </a:xfrm>
        </p:grpSpPr>
        <p:sp>
          <p:nvSpPr>
            <p:cNvPr id="5" name="Freeform 5"/>
            <p:cNvSpPr/>
            <p:nvPr/>
          </p:nvSpPr>
          <p:spPr bwMode="auto">
            <a:xfrm rot="0" flipH="0" flipV="0">
              <a:off x="0" y="0"/>
              <a:ext cx="9319387" cy="10656316"/>
            </a:xfrm>
            <a:custGeom>
              <a:avLst/>
              <a:gdLst/>
              <a:ahLst/>
              <a:cxnLst/>
              <a:rect l="l" t="t" r="r" b="b"/>
              <a:pathLst>
                <a:path w="9319387" h="10656316" fill="norm" stroke="1" extrusionOk="0">
                  <a:moveTo>
                    <a:pt x="0" y="0"/>
                  </a:moveTo>
                  <a:lnTo>
                    <a:pt x="9319387" y="0"/>
                  </a:lnTo>
                  <a:lnTo>
                    <a:pt x="9319387" y="10656316"/>
                  </a:lnTo>
                  <a:lnTo>
                    <a:pt x="0" y="1065631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/>
              <a:stretch>
                <a:fillRect l="0" t="-23" r="0" b="-22"/>
              </a:stretch>
            </a:blipFill>
          </p:spPr>
        </p:sp>
      </p:grpSp>
      <p:sp>
        <p:nvSpPr>
          <p:cNvPr id="755114870" name="TextBox 6"/>
          <p:cNvSpPr txBox="1"/>
          <p:nvPr/>
        </p:nvSpPr>
        <p:spPr bwMode="auto">
          <a:xfrm rot="0">
            <a:off x="1096087" y="2979226"/>
            <a:ext cx="9749238" cy="3555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0"/>
              </a:lnSpc>
              <a:defRPr/>
            </a:pPr>
            <a:r>
              <a:rPr lang="en-US" sz="2000" b="1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</a:rPr>
              <a:t>📊 ÉTAT INITIAL du dataset :  Nombre de lignes : 1624  Nombre de colonnes : 35</a:t>
            </a:r>
            <a:endParaRPr/>
          </a:p>
        </p:txBody>
      </p:sp>
      <p:grpSp>
        <p:nvGrpSpPr>
          <p:cNvPr id="1702652807" name="Group 7"/>
          <p:cNvGrpSpPr/>
          <p:nvPr/>
        </p:nvGrpSpPr>
        <p:grpSpPr bwMode="auto">
          <a:xfrm rot="0">
            <a:off x="9906086" y="5523547"/>
            <a:ext cx="6696780" cy="3298165"/>
            <a:chOff x="0" y="0"/>
            <a:chExt cx="8929040" cy="4397553"/>
          </a:xfrm>
        </p:grpSpPr>
        <p:sp>
          <p:nvSpPr>
            <p:cNvPr id="8" name="Freeform 8"/>
            <p:cNvSpPr/>
            <p:nvPr/>
          </p:nvSpPr>
          <p:spPr bwMode="auto">
            <a:xfrm rot="0" flipH="0" flipV="0">
              <a:off x="0" y="0"/>
              <a:ext cx="8928989" cy="4397502"/>
            </a:xfrm>
            <a:custGeom>
              <a:avLst/>
              <a:gdLst/>
              <a:ahLst/>
              <a:cxnLst/>
              <a:rect l="l" t="t" r="r" b="b"/>
              <a:pathLst>
                <a:path w="8928989" h="4397502" fill="norm" stroke="1" extrusionOk="0">
                  <a:moveTo>
                    <a:pt x="0" y="0"/>
                  </a:moveTo>
                  <a:lnTo>
                    <a:pt x="8928989" y="0"/>
                  </a:lnTo>
                  <a:lnTo>
                    <a:pt x="8928989" y="4397502"/>
                  </a:lnTo>
                  <a:lnTo>
                    <a:pt x="0" y="439750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/>
              <a:stretch>
                <a:fillRect l="-45" t="0" r="-46" b="-1"/>
              </a:stretch>
            </a:blipFill>
          </p:spPr>
        </p:sp>
      </p:grpSp>
      <p:sp>
        <p:nvSpPr>
          <p:cNvPr id="295225025" name="TextBox 9"/>
          <p:cNvSpPr txBox="1"/>
          <p:nvPr/>
        </p:nvSpPr>
        <p:spPr bwMode="auto">
          <a:xfrm rot="0">
            <a:off x="11414703" y="6251496"/>
            <a:ext cx="4069337" cy="2216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  <a:defRPr/>
            </a:pPr>
            <a:r>
              <a:rPr lang="en-US" sz="190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📊 ÉTAT FINAL du Dataset:</a:t>
            </a:r>
            <a:endParaRPr/>
          </a:p>
          <a:p>
            <a:pPr algn="l">
              <a:lnSpc>
                <a:spcPts val="2499"/>
              </a:lnSpc>
              <a:defRPr/>
            </a:pPr>
            <a:r>
              <a:rPr lang="en-US" sz="190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-----------------------------------------------</a:t>
            </a:r>
            <a:endParaRPr/>
          </a:p>
          <a:p>
            <a:pPr algn="l">
              <a:lnSpc>
                <a:spcPts val="2499"/>
              </a:lnSpc>
              <a:defRPr/>
            </a:pPr>
            <a:r>
              <a:rPr lang="en-US" sz="190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   Nombre de lignes : 1620</a:t>
            </a:r>
            <a:endParaRPr/>
          </a:p>
          <a:p>
            <a:pPr algn="l">
              <a:lnSpc>
                <a:spcPts val="2499"/>
              </a:lnSpc>
              <a:defRPr/>
            </a:pPr>
            <a:r>
              <a:rPr lang="en-US" sz="190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   Nombre de colonnes : 35</a:t>
            </a:r>
            <a:endParaRPr/>
          </a:p>
          <a:p>
            <a:pPr algn="l">
              <a:lnSpc>
                <a:spcPts val="2499"/>
              </a:lnSpc>
              <a:defRPr/>
            </a:pPr>
            <a:r>
              <a:rPr lang="en-US" sz="190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   Lignes supprimées au total : 48</a:t>
            </a:r>
            <a:endParaRPr/>
          </a:p>
          <a:p>
            <a:pPr algn="l">
              <a:lnSpc>
                <a:spcPts val="2499"/>
              </a:lnSpc>
              <a:defRPr/>
            </a:pPr>
            <a:r>
              <a:rPr lang="en-US" sz="190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 </a:t>
            </a:r>
            <a:r>
              <a:rPr lang="en-US" sz="1900" b="1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</a:rPr>
              <a:t>  Valeurs manquantes restantes : 0</a:t>
            </a:r>
            <a:endParaRPr/>
          </a:p>
          <a:p>
            <a:pPr algn="l">
              <a:lnSpc>
                <a:spcPts val="2499"/>
              </a:lnSpc>
              <a:defRPr/>
            </a:pPr>
            <a:endParaRPr/>
          </a:p>
        </p:txBody>
      </p:sp>
      <p:sp>
        <p:nvSpPr>
          <p:cNvPr id="246970898" name="TextBox 10"/>
          <p:cNvSpPr txBox="1"/>
          <p:nvPr/>
        </p:nvSpPr>
        <p:spPr bwMode="auto">
          <a:xfrm rot="0" flipH="0" flipV="0">
            <a:off x="2426690" y="1647030"/>
            <a:ext cx="13474153" cy="5083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00"/>
              </a:lnSpc>
              <a:defRPr/>
            </a:pPr>
            <a:r>
              <a:rPr lang="fr-FR" sz="8000" spc="-477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100000">
                      <a:srgbClr val="CB6CE6">
                        <a:alpha val="100000"/>
                      </a:srgbClr>
                    </a:gs>
                  </a:gsLst>
                  <a:lin ang="0" scaled="1"/>
                </a:gradFill>
                <a:latin typeface="Arimo"/>
                <a:ea typeface="Arimo"/>
                <a:cs typeface="Arimo"/>
              </a:rPr>
              <a:t>Imputation des données</a:t>
            </a:r>
            <a:endParaRPr sz="8000"/>
          </a:p>
        </p:txBody>
      </p:sp>
      <p:sp>
        <p:nvSpPr>
          <p:cNvPr id="64680083" name="TextBox 11"/>
          <p:cNvSpPr txBox="1"/>
          <p:nvPr/>
        </p:nvSpPr>
        <p:spPr bwMode="auto">
          <a:xfrm rot="0">
            <a:off x="818311" y="7709486"/>
            <a:ext cx="9299696" cy="674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79"/>
              </a:lnSpc>
              <a:defRPr/>
            </a:pPr>
            <a:r>
              <a:rPr lang="en-US" sz="200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T</a:t>
            </a:r>
            <a:r>
              <a:rPr lang="en-US" sz="2000" u="sng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RAITEMENT : SiteEnergyUse(kBtu) </a:t>
            </a:r>
            <a:r>
              <a:rPr lang="en-US" sz="2000" i="1" u="sng">
                <a:solidFill>
                  <a:srgbClr val="000000"/>
                </a:solidFill>
                <a:latin typeface="Neue Montreal Italics"/>
                <a:ea typeface="Neue Montreal Italics"/>
                <a:cs typeface="Neue Montreal Italics"/>
              </a:rPr>
              <a:t>la Target</a:t>
            </a:r>
            <a:endParaRPr/>
          </a:p>
          <a:p>
            <a:pPr algn="l">
              <a:lnSpc>
                <a:spcPts val="2579"/>
              </a:lnSpc>
              <a:defRPr/>
            </a:pPr>
            <a:r>
              <a:rPr lang="en-US" sz="200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 ✅ Supprimé 2 lignes sans valeur cible</a:t>
            </a:r>
            <a:endParaRPr/>
          </a:p>
        </p:txBody>
      </p:sp>
      <p:sp>
        <p:nvSpPr>
          <p:cNvPr id="916104732" name="TextBox 12"/>
          <p:cNvSpPr txBox="1"/>
          <p:nvPr/>
        </p:nvSpPr>
        <p:spPr bwMode="auto">
          <a:xfrm rot="0">
            <a:off x="818311" y="3669508"/>
            <a:ext cx="10304790" cy="1568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69"/>
              </a:lnSpc>
              <a:defRPr/>
            </a:pPr>
            <a:r>
              <a:rPr lang="en-US" sz="1900" u="sng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TRAITEMENT : Usages secondaires et tertiaires</a:t>
            </a:r>
            <a:endParaRPr/>
          </a:p>
          <a:p>
            <a:pPr algn="l">
              <a:lnSpc>
                <a:spcPts val="2469"/>
              </a:lnSpc>
              <a:defRPr/>
            </a:pPr>
            <a:r>
              <a:rPr lang="en-US" sz="190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✅ Rempli les valeurs manquantes de SecondLargestPropertyUseType par 'None'</a:t>
            </a:r>
            <a:endParaRPr/>
          </a:p>
          <a:p>
            <a:pPr algn="l">
              <a:lnSpc>
                <a:spcPts val="2469"/>
              </a:lnSpc>
              <a:defRPr/>
            </a:pPr>
            <a:r>
              <a:rPr lang="en-US" sz="190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✅ Rempli les valeurs manquantes de SecondLargestPropertyUseTypeGFA par 0</a:t>
            </a:r>
            <a:endParaRPr/>
          </a:p>
          <a:p>
            <a:pPr algn="l">
              <a:lnSpc>
                <a:spcPts val="2469"/>
              </a:lnSpc>
              <a:defRPr/>
            </a:pPr>
            <a:r>
              <a:rPr lang="en-US" sz="190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✅ Rempli les valeurs manquantes de ThirdLargestPropertyUseType par 'None'</a:t>
            </a:r>
            <a:endParaRPr/>
          </a:p>
          <a:p>
            <a:pPr algn="l">
              <a:lnSpc>
                <a:spcPts val="2469"/>
              </a:lnSpc>
              <a:defRPr/>
            </a:pPr>
            <a:r>
              <a:rPr lang="en-US" sz="190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✅ Rempli les valeurs manquantes de ThirdLargestPropertyUseTypeGFA par 0</a:t>
            </a:r>
            <a:endParaRPr/>
          </a:p>
        </p:txBody>
      </p:sp>
      <p:sp>
        <p:nvSpPr>
          <p:cNvPr id="103485819" name="TextBox 13"/>
          <p:cNvSpPr txBox="1"/>
          <p:nvPr/>
        </p:nvSpPr>
        <p:spPr bwMode="auto">
          <a:xfrm rot="0">
            <a:off x="937373" y="5903543"/>
            <a:ext cx="9299696" cy="13295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79"/>
              </a:lnSpc>
              <a:defRPr/>
            </a:pPr>
            <a:r>
              <a:rPr lang="en-US" sz="2000" u="sng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TRAITEMENT : Sources d'énergie</a:t>
            </a:r>
            <a:endParaRPr/>
          </a:p>
          <a:p>
            <a:pPr algn="l">
              <a:lnSpc>
                <a:spcPts val="2579"/>
              </a:lnSpc>
              <a:defRPr/>
            </a:pPr>
            <a:r>
              <a:rPr lang="en-US" sz="200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 ✅ Rempli les valeurs manquantes de SteamUse(kBtu) par 0</a:t>
            </a:r>
            <a:endParaRPr/>
          </a:p>
          <a:p>
            <a:pPr algn="l">
              <a:lnSpc>
                <a:spcPts val="2579"/>
              </a:lnSpc>
              <a:defRPr/>
            </a:pPr>
            <a:r>
              <a:rPr lang="en-US" sz="200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 ✅ Rempli les valeurs manquantes de NaturalGas(kBtu) par 0</a:t>
            </a:r>
            <a:endParaRPr/>
          </a:p>
          <a:p>
            <a:pPr algn="l">
              <a:lnSpc>
                <a:spcPts val="2579"/>
              </a:lnSpc>
              <a:defRPr/>
            </a:pPr>
            <a:r>
              <a:rPr lang="en-US" sz="200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 ✅ Rempli les valeurs manquantes de Electricity(kBtu) par 0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3714585" name="Freeform 2"/>
          <p:cNvSpPr/>
          <p:nvPr/>
        </p:nvSpPr>
        <p:spPr bwMode="auto">
          <a:xfrm rot="0" flipH="0" flipV="0">
            <a:off x="-152014" y="9875444"/>
            <a:ext cx="18582465" cy="411556"/>
          </a:xfrm>
          <a:custGeom>
            <a:avLst/>
            <a:gdLst/>
            <a:ahLst/>
            <a:cxnLst/>
            <a:rect l="l" t="t" r="r" b="b"/>
            <a:pathLst>
              <a:path w="18582466" h="411556" fill="norm" stroke="1" extrusionOk="0">
                <a:moveTo>
                  <a:pt x="0" y="0"/>
                </a:moveTo>
                <a:lnTo>
                  <a:pt x="18582465" y="0"/>
                </a:lnTo>
                <a:lnTo>
                  <a:pt x="18582465" y="411556"/>
                </a:lnTo>
                <a:lnTo>
                  <a:pt x="0" y="4115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 l="0" t="0" r="0" b="0"/>
            </a:stretch>
          </a:blipFill>
        </p:spPr>
      </p:sp>
      <p:grpSp>
        <p:nvGrpSpPr>
          <p:cNvPr id="1535282232" name="Group 3"/>
          <p:cNvGrpSpPr/>
          <p:nvPr/>
        </p:nvGrpSpPr>
        <p:grpSpPr bwMode="auto">
          <a:xfrm rot="5400000">
            <a:off x="501334" y="-539644"/>
            <a:ext cx="6989568" cy="7992237"/>
            <a:chOff x="0" y="0"/>
            <a:chExt cx="9319424" cy="10656316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9319387" cy="10656316"/>
            </a:xfrm>
            <a:custGeom>
              <a:avLst/>
              <a:gdLst/>
              <a:ahLst/>
              <a:cxnLst/>
              <a:rect l="l" t="t" r="r" b="b"/>
              <a:pathLst>
                <a:path w="9319387" h="10656316" fill="norm" stroke="1" extrusionOk="0">
                  <a:moveTo>
                    <a:pt x="0" y="0"/>
                  </a:moveTo>
                  <a:lnTo>
                    <a:pt x="9319387" y="0"/>
                  </a:lnTo>
                  <a:lnTo>
                    <a:pt x="9319387" y="10656316"/>
                  </a:lnTo>
                  <a:lnTo>
                    <a:pt x="0" y="1065631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/>
              <a:stretch>
                <a:fillRect l="0" t="-23" r="0" b="-22"/>
              </a:stretch>
            </a:blipFill>
          </p:spPr>
        </p:sp>
      </p:grpSp>
      <p:grpSp>
        <p:nvGrpSpPr>
          <p:cNvPr id="1284672252" name="Group 5"/>
          <p:cNvGrpSpPr/>
          <p:nvPr/>
        </p:nvGrpSpPr>
        <p:grpSpPr bwMode="auto">
          <a:xfrm rot="0">
            <a:off x="5855760" y="3996480"/>
            <a:ext cx="834800" cy="834800"/>
            <a:chOff x="0" y="0"/>
            <a:chExt cx="1113066" cy="1113066"/>
          </a:xfrm>
        </p:grpSpPr>
        <p:sp>
          <p:nvSpPr>
            <p:cNvPr id="6" name="Freeform 6"/>
            <p:cNvSpPr/>
            <p:nvPr/>
          </p:nvSpPr>
          <p:spPr bwMode="auto">
            <a:xfrm rot="0" flipH="0" flipV="0">
              <a:off x="0" y="0"/>
              <a:ext cx="1113028" cy="1113028"/>
            </a:xfrm>
            <a:custGeom>
              <a:avLst/>
              <a:gdLst/>
              <a:ahLst/>
              <a:cxnLst/>
              <a:rect l="l" t="t" r="r" b="b"/>
              <a:pathLst>
                <a:path w="1113028" h="1113028" fill="norm" stroke="1" extrusionOk="0">
                  <a:moveTo>
                    <a:pt x="0" y="0"/>
                  </a:moveTo>
                  <a:lnTo>
                    <a:pt x="1113028" y="0"/>
                  </a:lnTo>
                  <a:lnTo>
                    <a:pt x="1113028" y="1113028"/>
                  </a:lnTo>
                  <a:lnTo>
                    <a:pt x="0" y="111302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/>
              <a:stretch>
                <a:fillRect l="0" t="0" r="-3" b="-3"/>
              </a:stretch>
            </a:blipFill>
          </p:spPr>
        </p:sp>
      </p:grpSp>
      <p:grpSp>
        <p:nvGrpSpPr>
          <p:cNvPr id="1930945363" name="Group 7"/>
          <p:cNvGrpSpPr/>
          <p:nvPr/>
        </p:nvGrpSpPr>
        <p:grpSpPr bwMode="auto">
          <a:xfrm rot="0">
            <a:off x="5855760" y="4969012"/>
            <a:ext cx="834800" cy="834800"/>
            <a:chOff x="0" y="0"/>
            <a:chExt cx="1113066" cy="1113066"/>
          </a:xfrm>
        </p:grpSpPr>
        <p:sp>
          <p:nvSpPr>
            <p:cNvPr id="8" name="Freeform 8"/>
            <p:cNvSpPr/>
            <p:nvPr/>
          </p:nvSpPr>
          <p:spPr bwMode="auto">
            <a:xfrm rot="0" flipH="0" flipV="0">
              <a:off x="0" y="0"/>
              <a:ext cx="1113028" cy="1113028"/>
            </a:xfrm>
            <a:custGeom>
              <a:avLst/>
              <a:gdLst/>
              <a:ahLst/>
              <a:cxnLst/>
              <a:rect l="l" t="t" r="r" b="b"/>
              <a:pathLst>
                <a:path w="1113028" h="1113028" fill="norm" stroke="1" extrusionOk="0">
                  <a:moveTo>
                    <a:pt x="0" y="0"/>
                  </a:moveTo>
                  <a:lnTo>
                    <a:pt x="1113028" y="0"/>
                  </a:lnTo>
                  <a:lnTo>
                    <a:pt x="1113028" y="1113028"/>
                  </a:lnTo>
                  <a:lnTo>
                    <a:pt x="0" y="111302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/>
              <a:stretch>
                <a:fillRect l="0" t="0" r="-3" b="-3"/>
              </a:stretch>
            </a:blipFill>
          </p:spPr>
        </p:sp>
      </p:grpSp>
      <p:grpSp>
        <p:nvGrpSpPr>
          <p:cNvPr id="2037057009" name="Group 9"/>
          <p:cNvGrpSpPr/>
          <p:nvPr/>
        </p:nvGrpSpPr>
        <p:grpSpPr bwMode="auto">
          <a:xfrm rot="0">
            <a:off x="5866971" y="6127661"/>
            <a:ext cx="823598" cy="823598"/>
            <a:chOff x="0" y="0"/>
            <a:chExt cx="1098131" cy="1098131"/>
          </a:xfrm>
        </p:grpSpPr>
        <p:sp>
          <p:nvSpPr>
            <p:cNvPr id="10" name="Freeform 10"/>
            <p:cNvSpPr/>
            <p:nvPr/>
          </p:nvSpPr>
          <p:spPr bwMode="auto">
            <a:xfrm rot="0" flipH="0" flipV="0">
              <a:off x="0" y="0"/>
              <a:ext cx="1098169" cy="1098169"/>
            </a:xfrm>
            <a:custGeom>
              <a:avLst/>
              <a:gdLst/>
              <a:ahLst/>
              <a:cxnLst/>
              <a:rect l="l" t="t" r="r" b="b"/>
              <a:pathLst>
                <a:path w="1098169" h="1098169" fill="norm" stroke="1" extrusionOk="0">
                  <a:moveTo>
                    <a:pt x="0" y="0"/>
                  </a:moveTo>
                  <a:lnTo>
                    <a:pt x="1098169" y="0"/>
                  </a:lnTo>
                  <a:lnTo>
                    <a:pt x="1098169" y="1098169"/>
                  </a:lnTo>
                  <a:lnTo>
                    <a:pt x="0" y="109816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/>
              <a:stretch>
                <a:fillRect l="0" t="0" r="3" b="3"/>
              </a:stretch>
            </a:blipFill>
          </p:spPr>
        </p:sp>
      </p:grpSp>
      <p:grpSp>
        <p:nvGrpSpPr>
          <p:cNvPr id="465533731" name="Group 11"/>
          <p:cNvGrpSpPr/>
          <p:nvPr/>
        </p:nvGrpSpPr>
        <p:grpSpPr bwMode="auto">
          <a:xfrm rot="0">
            <a:off x="5879135" y="7333955"/>
            <a:ext cx="781641" cy="781641"/>
            <a:chOff x="0" y="0"/>
            <a:chExt cx="1042187" cy="1042187"/>
          </a:xfrm>
        </p:grpSpPr>
        <p:sp>
          <p:nvSpPr>
            <p:cNvPr id="12" name="Freeform 12"/>
            <p:cNvSpPr/>
            <p:nvPr/>
          </p:nvSpPr>
          <p:spPr bwMode="auto">
            <a:xfrm rot="0" flipH="0" flipV="0">
              <a:off x="0" y="0"/>
              <a:ext cx="1042162" cy="1042162"/>
            </a:xfrm>
            <a:custGeom>
              <a:avLst/>
              <a:gdLst/>
              <a:ahLst/>
              <a:cxnLst/>
              <a:rect l="l" t="t" r="r" b="b"/>
              <a:pathLst>
                <a:path w="1042162" h="1042162" fill="norm" stroke="1" extrusionOk="0">
                  <a:moveTo>
                    <a:pt x="0" y="0"/>
                  </a:moveTo>
                  <a:lnTo>
                    <a:pt x="1042162" y="0"/>
                  </a:lnTo>
                  <a:lnTo>
                    <a:pt x="1042162" y="1042162"/>
                  </a:lnTo>
                  <a:lnTo>
                    <a:pt x="0" y="104216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/>
              <a:stretch>
                <a:fillRect l="0" t="0" r="-1" b="-1"/>
              </a:stretch>
            </a:blipFill>
          </p:spPr>
        </p:sp>
      </p:grpSp>
      <p:grpSp>
        <p:nvGrpSpPr>
          <p:cNvPr id="517894361" name="Group 13"/>
          <p:cNvGrpSpPr/>
          <p:nvPr/>
        </p:nvGrpSpPr>
        <p:grpSpPr bwMode="auto">
          <a:xfrm rot="0">
            <a:off x="5866971" y="8429911"/>
            <a:ext cx="828389" cy="828389"/>
            <a:chOff x="0" y="0"/>
            <a:chExt cx="1104519" cy="1104519"/>
          </a:xfrm>
        </p:grpSpPr>
        <p:sp>
          <p:nvSpPr>
            <p:cNvPr id="14" name="Freeform 14"/>
            <p:cNvSpPr/>
            <p:nvPr/>
          </p:nvSpPr>
          <p:spPr bwMode="auto">
            <a:xfrm rot="0" flipH="0" flipV="0">
              <a:off x="0" y="0"/>
              <a:ext cx="1104519" cy="1104519"/>
            </a:xfrm>
            <a:custGeom>
              <a:avLst/>
              <a:gdLst/>
              <a:ahLst/>
              <a:cxnLst/>
              <a:rect l="l" t="t" r="r" b="b"/>
              <a:pathLst>
                <a:path w="1104519" h="1104519" fill="norm" stroke="1" extrusionOk="0">
                  <a:moveTo>
                    <a:pt x="0" y="0"/>
                  </a:moveTo>
                  <a:lnTo>
                    <a:pt x="1104519" y="0"/>
                  </a:lnTo>
                  <a:lnTo>
                    <a:pt x="1104519" y="1104519"/>
                  </a:lnTo>
                  <a:lnTo>
                    <a:pt x="0" y="110451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9"/>
              <a:stretch>
                <a:fillRect l="0" t="0" r="0" b="0"/>
              </a:stretch>
            </a:blipFill>
          </p:spPr>
        </p:sp>
      </p:grpSp>
      <p:sp>
        <p:nvSpPr>
          <p:cNvPr id="59959179" name="TextBox 15"/>
          <p:cNvSpPr txBox="1"/>
          <p:nvPr/>
        </p:nvSpPr>
        <p:spPr bwMode="auto">
          <a:xfrm rot="0">
            <a:off x="6765617" y="3983126"/>
            <a:ext cx="4747203" cy="689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25"/>
              </a:lnSpc>
              <a:defRPr/>
            </a:pPr>
            <a:r>
              <a:rPr lang="en-US" sz="3250" b="1">
                <a:solidFill>
                  <a:srgbClr val="000000"/>
                </a:solidFill>
                <a:latin typeface="Balloon Extra Bold"/>
                <a:ea typeface="Balloon Extra Bold"/>
                <a:cs typeface="Balloon Extra Bold"/>
              </a:rPr>
              <a:t>Encodage catégorielle</a:t>
            </a:r>
            <a:endParaRPr/>
          </a:p>
        </p:txBody>
      </p:sp>
      <p:sp>
        <p:nvSpPr>
          <p:cNvPr id="314239864" name="TextBox 16"/>
          <p:cNvSpPr txBox="1"/>
          <p:nvPr/>
        </p:nvSpPr>
        <p:spPr bwMode="auto">
          <a:xfrm rot="0">
            <a:off x="6690570" y="4941684"/>
            <a:ext cx="6572850" cy="689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25"/>
              </a:lnSpc>
              <a:defRPr/>
            </a:pPr>
            <a:r>
              <a:rPr lang="en-US" sz="3250" b="1">
                <a:solidFill>
                  <a:srgbClr val="000000"/>
                </a:solidFill>
                <a:latin typeface="Balloon Extra Bold"/>
                <a:ea typeface="Balloon Extra Bold"/>
                <a:cs typeface="Balloon Extra Bold"/>
              </a:rPr>
              <a:t>Création de nouvelles Features</a:t>
            </a:r>
            <a:endParaRPr/>
          </a:p>
        </p:txBody>
      </p:sp>
      <p:sp>
        <p:nvSpPr>
          <p:cNvPr id="868983243" name="TextBox 17"/>
          <p:cNvSpPr txBox="1"/>
          <p:nvPr/>
        </p:nvSpPr>
        <p:spPr bwMode="auto">
          <a:xfrm rot="0">
            <a:off x="6765617" y="6165151"/>
            <a:ext cx="7406878" cy="905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26"/>
              </a:lnSpc>
              <a:defRPr/>
            </a:pPr>
            <a:r>
              <a:rPr lang="en-US" sz="3250" b="1">
                <a:solidFill>
                  <a:srgbClr val="000000"/>
                </a:solidFill>
                <a:latin typeface="Balloon Extra Bold"/>
                <a:ea typeface="Balloon Extra Bold"/>
                <a:cs typeface="Balloon Extra Bold"/>
              </a:rPr>
              <a:t>Data Leakage, matrice de corrélation GridSearch</a:t>
            </a:r>
            <a:endParaRPr/>
          </a:p>
        </p:txBody>
      </p:sp>
      <p:sp>
        <p:nvSpPr>
          <p:cNvPr id="291288787" name="TextBox 18"/>
          <p:cNvSpPr txBox="1"/>
          <p:nvPr/>
        </p:nvSpPr>
        <p:spPr bwMode="auto">
          <a:xfrm rot="0">
            <a:off x="6765617" y="7280053"/>
            <a:ext cx="5475999" cy="689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25"/>
              </a:lnSpc>
              <a:defRPr/>
            </a:pPr>
            <a:r>
              <a:rPr lang="en-US" sz="3250" b="1">
                <a:solidFill>
                  <a:srgbClr val="000000"/>
                </a:solidFill>
                <a:latin typeface="Balloon Extra Bold"/>
                <a:ea typeface="Balloon Extra Bold"/>
                <a:cs typeface="Balloon Extra Bold"/>
              </a:rPr>
              <a:t>Entrainement des modèles</a:t>
            </a:r>
            <a:endParaRPr/>
          </a:p>
        </p:txBody>
      </p:sp>
      <p:sp>
        <p:nvSpPr>
          <p:cNvPr id="740806435" name="TextBox 19"/>
          <p:cNvSpPr txBox="1"/>
          <p:nvPr/>
        </p:nvSpPr>
        <p:spPr bwMode="auto">
          <a:xfrm rot="0">
            <a:off x="4707569" y="2640216"/>
            <a:ext cx="8902694" cy="10333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84"/>
              </a:lnSpc>
              <a:defRPr/>
            </a:pPr>
            <a:r>
              <a:rPr lang="en-US" sz="6650" spc="-398">
                <a:solidFill>
                  <a:srgbClr val="000000"/>
                </a:solidFill>
                <a:latin typeface="Arimo"/>
                <a:ea typeface="Arimo"/>
                <a:cs typeface="Arimo"/>
              </a:rPr>
              <a:t>Modélisation</a:t>
            </a:r>
            <a:endParaRPr/>
          </a:p>
        </p:txBody>
      </p:sp>
      <p:sp>
        <p:nvSpPr>
          <p:cNvPr id="2065168162" name="TextBox 20"/>
          <p:cNvSpPr txBox="1"/>
          <p:nvPr/>
        </p:nvSpPr>
        <p:spPr bwMode="auto">
          <a:xfrm rot="0">
            <a:off x="3996119" y="1239041"/>
            <a:ext cx="4202954" cy="1242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480"/>
              </a:lnSpc>
              <a:defRPr/>
            </a:pPr>
            <a:r>
              <a:rPr lang="en-US" sz="7900" b="1" spc="-473">
                <a:solidFill>
                  <a:srgbClr val="000000"/>
                </a:solidFill>
                <a:latin typeface="Arimo Bold"/>
                <a:ea typeface="Arimo Bold"/>
                <a:cs typeface="Arimo Bold"/>
              </a:rPr>
              <a:t>Partie 2</a:t>
            </a:r>
            <a:endParaRPr/>
          </a:p>
        </p:txBody>
      </p:sp>
      <p:sp>
        <p:nvSpPr>
          <p:cNvPr id="1250895166" name="TextBox 21"/>
          <p:cNvSpPr txBox="1"/>
          <p:nvPr/>
        </p:nvSpPr>
        <p:spPr bwMode="auto">
          <a:xfrm rot="0">
            <a:off x="6765617" y="8399383"/>
            <a:ext cx="3057049" cy="689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25"/>
              </a:lnSpc>
              <a:defRPr/>
            </a:pPr>
            <a:r>
              <a:rPr lang="en-US" sz="3250" b="1">
                <a:solidFill>
                  <a:srgbClr val="000000"/>
                </a:solidFill>
                <a:latin typeface="Balloon Extra Bold"/>
                <a:ea typeface="Balloon Extra Bold"/>
                <a:cs typeface="Balloon Extra Bold"/>
              </a:rPr>
              <a:t>Analyse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9135739" name="Freeform 2"/>
          <p:cNvSpPr/>
          <p:nvPr/>
        </p:nvSpPr>
        <p:spPr bwMode="auto">
          <a:xfrm rot="0" flipH="0" flipV="0">
            <a:off x="-153291" y="9875174"/>
            <a:ext cx="18594582" cy="411825"/>
          </a:xfrm>
          <a:custGeom>
            <a:avLst/>
            <a:gdLst/>
            <a:ahLst/>
            <a:cxnLst/>
            <a:rect l="l" t="t" r="r" b="b"/>
            <a:pathLst>
              <a:path w="18594582" h="411825" fill="norm" stroke="1" extrusionOk="0">
                <a:moveTo>
                  <a:pt x="0" y="0"/>
                </a:moveTo>
                <a:lnTo>
                  <a:pt x="18594582" y="0"/>
                </a:lnTo>
                <a:lnTo>
                  <a:pt x="18594582" y="411825"/>
                </a:lnTo>
                <a:lnTo>
                  <a:pt x="0" y="4118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 l="0" t="0" r="0" b="0"/>
            </a:stretch>
          </a:blipFill>
        </p:spPr>
      </p:sp>
      <p:grpSp>
        <p:nvGrpSpPr>
          <p:cNvPr id="439294739" name="Group 3"/>
          <p:cNvGrpSpPr/>
          <p:nvPr/>
        </p:nvGrpSpPr>
        <p:grpSpPr bwMode="auto">
          <a:xfrm rot="5400000">
            <a:off x="501328" y="-557656"/>
            <a:ext cx="6989568" cy="7992237"/>
            <a:chOff x="0" y="0"/>
            <a:chExt cx="9319424" cy="10656316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9319387" cy="10656316"/>
            </a:xfrm>
            <a:custGeom>
              <a:avLst/>
              <a:gdLst/>
              <a:ahLst/>
              <a:cxnLst/>
              <a:rect l="l" t="t" r="r" b="b"/>
              <a:pathLst>
                <a:path w="9319387" h="10656316" fill="norm" stroke="1" extrusionOk="0">
                  <a:moveTo>
                    <a:pt x="0" y="0"/>
                  </a:moveTo>
                  <a:lnTo>
                    <a:pt x="9319387" y="0"/>
                  </a:lnTo>
                  <a:lnTo>
                    <a:pt x="9319387" y="10656316"/>
                  </a:lnTo>
                  <a:lnTo>
                    <a:pt x="0" y="1065631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/>
              <a:stretch>
                <a:fillRect l="0" t="-23" r="0" b="-22"/>
              </a:stretch>
            </a:blipFill>
          </p:spPr>
        </p:sp>
      </p:grpSp>
      <p:grpSp>
        <p:nvGrpSpPr>
          <p:cNvPr id="748071972" name="Group 5"/>
          <p:cNvGrpSpPr/>
          <p:nvPr/>
        </p:nvGrpSpPr>
        <p:grpSpPr bwMode="auto">
          <a:xfrm rot="0">
            <a:off x="5636923" y="5109581"/>
            <a:ext cx="811387" cy="851849"/>
            <a:chOff x="0" y="0"/>
            <a:chExt cx="1081850" cy="1135799"/>
          </a:xfrm>
        </p:grpSpPr>
        <p:sp>
          <p:nvSpPr>
            <p:cNvPr id="6" name="Freeform 6"/>
            <p:cNvSpPr/>
            <p:nvPr/>
          </p:nvSpPr>
          <p:spPr bwMode="auto">
            <a:xfrm rot="0" flipH="0" flipV="0">
              <a:off x="0" y="0"/>
              <a:ext cx="1081786" cy="1135761"/>
            </a:xfrm>
            <a:custGeom>
              <a:avLst/>
              <a:gdLst/>
              <a:ahLst/>
              <a:cxnLst/>
              <a:rect l="l" t="t" r="r" b="b"/>
              <a:pathLst>
                <a:path w="1081786" h="1135761" fill="norm" stroke="1" extrusionOk="0">
                  <a:moveTo>
                    <a:pt x="0" y="0"/>
                  </a:moveTo>
                  <a:lnTo>
                    <a:pt x="1081786" y="0"/>
                  </a:lnTo>
                  <a:lnTo>
                    <a:pt x="1081786" y="1135761"/>
                  </a:lnTo>
                  <a:lnTo>
                    <a:pt x="0" y="113576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/>
              <a:stretch>
                <a:fillRect l="0" t="-6" r="-4" b="-7"/>
              </a:stretch>
            </a:blipFill>
          </p:spPr>
        </p:sp>
      </p:grpSp>
      <p:sp>
        <p:nvSpPr>
          <p:cNvPr id="859349074" name="TextBox 7"/>
          <p:cNvSpPr txBox="1"/>
          <p:nvPr/>
        </p:nvSpPr>
        <p:spPr bwMode="auto">
          <a:xfrm rot="0">
            <a:off x="6647678" y="5107875"/>
            <a:ext cx="9300200" cy="853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8"/>
              </a:lnSpc>
              <a:defRPr/>
            </a:pPr>
            <a:r>
              <a:rPr lang="en-US" sz="2800" b="1" u="sng" spc="-167">
                <a:solidFill>
                  <a:srgbClr val="000000"/>
                </a:solidFill>
                <a:latin typeface="Open Sans Bold"/>
                <a:ea typeface="Open Sans Bold"/>
                <a:cs typeface="Open Sans Bold"/>
              </a:rPr>
              <a:t>OneHotEncoding </a:t>
            </a:r>
            <a:r>
              <a:rPr lang="en-US" sz="2800" spc="-167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: méthode qui transforme une variable catégorielle en plusieurs variables binaires (0 ou 1)</a:t>
            </a:r>
            <a:endParaRPr/>
          </a:p>
        </p:txBody>
      </p:sp>
      <p:grpSp>
        <p:nvGrpSpPr>
          <p:cNvPr id="2128423021" name="Group 8"/>
          <p:cNvGrpSpPr/>
          <p:nvPr/>
        </p:nvGrpSpPr>
        <p:grpSpPr bwMode="auto">
          <a:xfrm rot="0">
            <a:off x="5635580" y="6513317"/>
            <a:ext cx="812730" cy="853259"/>
            <a:chOff x="0" y="0"/>
            <a:chExt cx="1083640" cy="1137679"/>
          </a:xfrm>
        </p:grpSpPr>
        <p:sp>
          <p:nvSpPr>
            <p:cNvPr id="9" name="Freeform 9"/>
            <p:cNvSpPr/>
            <p:nvPr/>
          </p:nvSpPr>
          <p:spPr bwMode="auto">
            <a:xfrm rot="0" flipH="0" flipV="0">
              <a:off x="0" y="0"/>
              <a:ext cx="1083691" cy="1137666"/>
            </a:xfrm>
            <a:custGeom>
              <a:avLst/>
              <a:gdLst/>
              <a:ahLst/>
              <a:cxnLst/>
              <a:rect l="l" t="t" r="r" b="b"/>
              <a:pathLst>
                <a:path w="1083691" h="1137666" fill="norm" stroke="1" extrusionOk="0">
                  <a:moveTo>
                    <a:pt x="0" y="0"/>
                  </a:moveTo>
                  <a:lnTo>
                    <a:pt x="1083691" y="0"/>
                  </a:lnTo>
                  <a:lnTo>
                    <a:pt x="1083691" y="1137666"/>
                  </a:lnTo>
                  <a:lnTo>
                    <a:pt x="0" y="11376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/>
              <a:stretch>
                <a:fillRect l="0" t="-6" r="4" b="-6"/>
              </a:stretch>
            </a:blipFill>
          </p:spPr>
        </p:sp>
      </p:grpSp>
      <p:sp>
        <p:nvSpPr>
          <p:cNvPr id="553620876" name="TextBox 10"/>
          <p:cNvSpPr txBox="1"/>
          <p:nvPr/>
        </p:nvSpPr>
        <p:spPr bwMode="auto">
          <a:xfrm rot="0">
            <a:off x="3181655" y="1467345"/>
            <a:ext cx="13374614" cy="18285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60"/>
              </a:lnSpc>
              <a:defRPr/>
            </a:pPr>
            <a:r>
              <a:rPr lang="en-US" sz="8000" spc="-480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100000">
                      <a:srgbClr val="CB6CE6">
                        <a:alpha val="100000"/>
                      </a:srgbClr>
                    </a:gs>
                  </a:gsLst>
                  <a:lin ang="0" scaled="1"/>
                </a:gradFill>
                <a:latin typeface="Arimo"/>
                <a:ea typeface="Arimo"/>
                <a:cs typeface="Arimo"/>
              </a:rPr>
              <a:t>II. Modélisation de la Consommation Énergétique </a:t>
            </a:r>
            <a:endParaRPr/>
          </a:p>
        </p:txBody>
      </p:sp>
      <p:sp>
        <p:nvSpPr>
          <p:cNvPr id="546915745" name="TextBox 11"/>
          <p:cNvSpPr txBox="1"/>
          <p:nvPr/>
        </p:nvSpPr>
        <p:spPr bwMode="auto">
          <a:xfrm rot="0">
            <a:off x="3263112" y="4084414"/>
            <a:ext cx="8607190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6"/>
              </a:lnSpc>
              <a:defRPr/>
            </a:pPr>
            <a:r>
              <a:rPr lang="en-US" sz="3300" b="1" spc="-196">
                <a:solidFill>
                  <a:srgbClr val="000000"/>
                </a:solidFill>
                <a:latin typeface="Open Sans Bold"/>
                <a:ea typeface="Open Sans Bold"/>
                <a:cs typeface="Open Sans Bold"/>
              </a:rPr>
              <a:t>Encodage des variables catégorielles</a:t>
            </a:r>
            <a:endParaRPr/>
          </a:p>
        </p:txBody>
      </p:sp>
      <p:sp>
        <p:nvSpPr>
          <p:cNvPr id="798516170" name="TextBox 12"/>
          <p:cNvSpPr txBox="1"/>
          <p:nvPr/>
        </p:nvSpPr>
        <p:spPr bwMode="auto">
          <a:xfrm rot="0">
            <a:off x="6647677" y="6570960"/>
            <a:ext cx="8744312" cy="1280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8"/>
              </a:lnSpc>
              <a:defRPr/>
            </a:pPr>
            <a:r>
              <a:rPr lang="en-US" sz="2800" b="1" u="sng" spc="-165">
                <a:solidFill>
                  <a:srgbClr val="000000"/>
                </a:solidFill>
                <a:latin typeface="Open Sans Bold"/>
                <a:ea typeface="Open Sans Bold"/>
                <a:cs typeface="Open Sans Bold"/>
              </a:rPr>
              <a:t>BinaryEncoding </a:t>
            </a:r>
            <a:r>
              <a:rPr lang="en-US" sz="2800" b="1" spc="-165">
                <a:solidFill>
                  <a:srgbClr val="000000"/>
                </a:solidFill>
                <a:latin typeface="Open Sans Bold"/>
                <a:ea typeface="Open Sans Bold"/>
                <a:cs typeface="Open Sans Bold"/>
              </a:rPr>
              <a:t>: </a:t>
            </a:r>
            <a:r>
              <a:rPr lang="en-US" sz="2800" spc="-165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méthode qui convertit chaque catégorie en un nombre entier unique, puis transforme ce nombre en une représentation binaire répartie sur plusieurs colonnes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9436312" name="Freeform 2"/>
          <p:cNvSpPr/>
          <p:nvPr/>
        </p:nvSpPr>
        <p:spPr bwMode="auto">
          <a:xfrm rot="0" flipH="0" flipV="0">
            <a:off x="-101060" y="9860175"/>
            <a:ext cx="18695445" cy="414059"/>
          </a:xfrm>
          <a:custGeom>
            <a:avLst/>
            <a:gdLst/>
            <a:ahLst/>
            <a:cxnLst/>
            <a:rect l="l" t="t" r="r" b="b"/>
            <a:pathLst>
              <a:path w="18695445" h="414059" fill="norm" stroke="1" extrusionOk="0">
                <a:moveTo>
                  <a:pt x="0" y="0"/>
                </a:moveTo>
                <a:lnTo>
                  <a:pt x="18695444" y="0"/>
                </a:lnTo>
                <a:lnTo>
                  <a:pt x="18695444" y="414059"/>
                </a:lnTo>
                <a:lnTo>
                  <a:pt x="0" y="4140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 l="0" t="0" r="0" b="0"/>
            </a:stretch>
          </a:blipFill>
        </p:spPr>
      </p:sp>
      <p:grpSp>
        <p:nvGrpSpPr>
          <p:cNvPr id="1840280157" name="Group 3"/>
          <p:cNvGrpSpPr/>
          <p:nvPr/>
        </p:nvGrpSpPr>
        <p:grpSpPr bwMode="auto">
          <a:xfrm rot="5400000">
            <a:off x="400274" y="-501334"/>
            <a:ext cx="6989568" cy="7992237"/>
            <a:chOff x="0" y="0"/>
            <a:chExt cx="9319424" cy="10656316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9319387" cy="10656316"/>
            </a:xfrm>
            <a:custGeom>
              <a:avLst/>
              <a:gdLst/>
              <a:ahLst/>
              <a:cxnLst/>
              <a:rect l="l" t="t" r="r" b="b"/>
              <a:pathLst>
                <a:path w="9319387" h="10656316" fill="norm" stroke="1" extrusionOk="0">
                  <a:moveTo>
                    <a:pt x="0" y="0"/>
                  </a:moveTo>
                  <a:lnTo>
                    <a:pt x="9319387" y="0"/>
                  </a:lnTo>
                  <a:lnTo>
                    <a:pt x="9319387" y="10656316"/>
                  </a:lnTo>
                  <a:lnTo>
                    <a:pt x="0" y="1065631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/>
              <a:stretch>
                <a:fillRect l="0" t="-23" r="0" b="-22"/>
              </a:stretch>
            </a:blipFill>
          </p:spPr>
        </p:sp>
      </p:grpSp>
      <p:grpSp>
        <p:nvGrpSpPr>
          <p:cNvPr id="896936197" name="Group 5"/>
          <p:cNvGrpSpPr/>
          <p:nvPr/>
        </p:nvGrpSpPr>
        <p:grpSpPr bwMode="auto">
          <a:xfrm rot="0">
            <a:off x="4500963" y="3558188"/>
            <a:ext cx="724586" cy="292551"/>
            <a:chOff x="0" y="0"/>
            <a:chExt cx="966114" cy="390068"/>
          </a:xfrm>
        </p:grpSpPr>
        <p:sp>
          <p:nvSpPr>
            <p:cNvPr id="6" name="Freeform 6"/>
            <p:cNvSpPr/>
            <p:nvPr/>
          </p:nvSpPr>
          <p:spPr bwMode="auto">
            <a:xfrm rot="0" flipH="0" flipV="0">
              <a:off x="0" y="0"/>
              <a:ext cx="966089" cy="390017"/>
            </a:xfrm>
            <a:custGeom>
              <a:avLst/>
              <a:gdLst/>
              <a:ahLst/>
              <a:cxnLst/>
              <a:rect l="l" t="t" r="r" b="b"/>
              <a:pathLst>
                <a:path w="966089" h="390017" fill="norm" stroke="1" extrusionOk="0">
                  <a:moveTo>
                    <a:pt x="0" y="0"/>
                  </a:moveTo>
                  <a:lnTo>
                    <a:pt x="966089" y="0"/>
                  </a:lnTo>
                  <a:lnTo>
                    <a:pt x="966089" y="390017"/>
                  </a:lnTo>
                  <a:lnTo>
                    <a:pt x="0" y="39001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/>
              <a:stretch>
                <a:fillRect l="-36" t="0" r="-37" b="-13"/>
              </a:stretch>
            </a:blipFill>
          </p:spPr>
        </p:sp>
      </p:grpSp>
      <p:grpSp>
        <p:nvGrpSpPr>
          <p:cNvPr id="1926673508" name="Group 7"/>
          <p:cNvGrpSpPr/>
          <p:nvPr/>
        </p:nvGrpSpPr>
        <p:grpSpPr bwMode="auto">
          <a:xfrm rot="0">
            <a:off x="4624321" y="4911909"/>
            <a:ext cx="724586" cy="292551"/>
            <a:chOff x="0" y="0"/>
            <a:chExt cx="966114" cy="390068"/>
          </a:xfrm>
        </p:grpSpPr>
        <p:sp>
          <p:nvSpPr>
            <p:cNvPr id="8" name="Freeform 8"/>
            <p:cNvSpPr/>
            <p:nvPr/>
          </p:nvSpPr>
          <p:spPr bwMode="auto">
            <a:xfrm rot="0" flipH="0" flipV="0">
              <a:off x="0" y="0"/>
              <a:ext cx="966089" cy="390017"/>
            </a:xfrm>
            <a:custGeom>
              <a:avLst/>
              <a:gdLst/>
              <a:ahLst/>
              <a:cxnLst/>
              <a:rect l="l" t="t" r="r" b="b"/>
              <a:pathLst>
                <a:path w="966089" h="390017" fill="norm" stroke="1" extrusionOk="0">
                  <a:moveTo>
                    <a:pt x="0" y="0"/>
                  </a:moveTo>
                  <a:lnTo>
                    <a:pt x="966089" y="0"/>
                  </a:lnTo>
                  <a:lnTo>
                    <a:pt x="966089" y="390017"/>
                  </a:lnTo>
                  <a:lnTo>
                    <a:pt x="0" y="39001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/>
              <a:stretch>
                <a:fillRect l="-36" t="0" r="-37" b="-13"/>
              </a:stretch>
            </a:blipFill>
          </p:spPr>
        </p:sp>
      </p:grpSp>
      <p:grpSp>
        <p:nvGrpSpPr>
          <p:cNvPr id="1454358600" name="Group 9"/>
          <p:cNvGrpSpPr/>
          <p:nvPr/>
        </p:nvGrpSpPr>
        <p:grpSpPr bwMode="auto">
          <a:xfrm rot="0">
            <a:off x="5034896" y="7369950"/>
            <a:ext cx="416537" cy="460267"/>
            <a:chOff x="0" y="0"/>
            <a:chExt cx="555384" cy="613689"/>
          </a:xfrm>
        </p:grpSpPr>
        <p:sp>
          <p:nvSpPr>
            <p:cNvPr id="10" name="Freeform 10"/>
            <p:cNvSpPr/>
            <p:nvPr/>
          </p:nvSpPr>
          <p:spPr bwMode="auto">
            <a:xfrm rot="0" flipH="0" flipV="0">
              <a:off x="0" y="0"/>
              <a:ext cx="555371" cy="613664"/>
            </a:xfrm>
            <a:custGeom>
              <a:avLst/>
              <a:gdLst/>
              <a:ahLst/>
              <a:cxnLst/>
              <a:rect l="l" t="t" r="r" b="b"/>
              <a:pathLst>
                <a:path w="555371" h="613664" fill="norm" stroke="1" extrusionOk="0">
                  <a:moveTo>
                    <a:pt x="0" y="0"/>
                  </a:moveTo>
                  <a:lnTo>
                    <a:pt x="555371" y="0"/>
                  </a:lnTo>
                  <a:lnTo>
                    <a:pt x="555371" y="613664"/>
                  </a:lnTo>
                  <a:lnTo>
                    <a:pt x="0" y="61366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/>
              <a:stretch>
                <a:fillRect l="-130" t="0" r="-132" b="-4"/>
              </a:stretch>
            </a:blipFill>
          </p:spPr>
        </p:sp>
      </p:grpSp>
      <p:grpSp>
        <p:nvGrpSpPr>
          <p:cNvPr id="1623646364" name="Group 11"/>
          <p:cNvGrpSpPr/>
          <p:nvPr/>
        </p:nvGrpSpPr>
        <p:grpSpPr bwMode="auto">
          <a:xfrm rot="5400000">
            <a:off x="6264570" y="7807375"/>
            <a:ext cx="1249490" cy="1827409"/>
            <a:chOff x="0" y="0"/>
            <a:chExt cx="1665986" cy="2436546"/>
          </a:xfrm>
        </p:grpSpPr>
        <p:sp>
          <p:nvSpPr>
            <p:cNvPr id="12" name="Freeform 12"/>
            <p:cNvSpPr/>
            <p:nvPr/>
          </p:nvSpPr>
          <p:spPr bwMode="auto">
            <a:xfrm rot="0" flipH="0" flipV="1">
              <a:off x="0" y="0"/>
              <a:ext cx="1665986" cy="2436495"/>
            </a:xfrm>
            <a:custGeom>
              <a:avLst/>
              <a:gdLst/>
              <a:ahLst/>
              <a:cxnLst/>
              <a:rect l="l" t="t" r="r" b="b"/>
              <a:pathLst>
                <a:path w="1665986" h="2436495" fill="norm" stroke="1" extrusionOk="0">
                  <a:moveTo>
                    <a:pt x="0" y="2436495"/>
                  </a:moveTo>
                  <a:lnTo>
                    <a:pt x="1665986" y="2436495"/>
                  </a:lnTo>
                  <a:lnTo>
                    <a:pt x="1665986" y="0"/>
                  </a:lnTo>
                  <a:lnTo>
                    <a:pt x="0" y="0"/>
                  </a:lnTo>
                  <a:lnTo>
                    <a:pt x="0" y="2436495"/>
                  </a:lnTo>
                  <a:close/>
                </a:path>
              </a:pathLst>
            </a:custGeom>
            <a:blipFill rotWithShape="1">
              <a:blip r:embed="rId7"/>
              <a:stretch>
                <a:fillRect l="-33" t="0" r="-33" b="-1"/>
              </a:stretch>
            </a:blipFill>
          </p:spPr>
        </p:sp>
      </p:grpSp>
      <p:sp>
        <p:nvSpPr>
          <p:cNvPr id="75656873" name="TextBox 13"/>
          <p:cNvSpPr txBox="1"/>
          <p:nvPr/>
        </p:nvSpPr>
        <p:spPr bwMode="auto">
          <a:xfrm rot="0">
            <a:off x="2845946" y="586454"/>
            <a:ext cx="14558877" cy="1221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00"/>
              </a:lnSpc>
              <a:defRPr/>
            </a:pPr>
            <a:r>
              <a:rPr lang="en-US" sz="7200" spc="-480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100000">
                      <a:srgbClr val="CB6CE6">
                        <a:alpha val="100000"/>
                      </a:srgbClr>
                    </a:gs>
                  </a:gsLst>
                  <a:lin ang="0" scaled="1"/>
                </a:gradFill>
                <a:latin typeface="Arimo"/>
                <a:ea typeface="Arimo"/>
                <a:cs typeface="Arimo"/>
              </a:rPr>
              <a:t>Encodage des variables catégorielles</a:t>
            </a:r>
            <a:endParaRPr/>
          </a:p>
        </p:txBody>
      </p:sp>
      <p:sp>
        <p:nvSpPr>
          <p:cNvPr id="1731466487" name="TextBox 14"/>
          <p:cNvSpPr txBox="1"/>
          <p:nvPr/>
        </p:nvSpPr>
        <p:spPr bwMode="auto">
          <a:xfrm rot="0">
            <a:off x="2984916" y="1835829"/>
            <a:ext cx="11917461" cy="951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89"/>
              </a:lnSpc>
              <a:defRPr/>
            </a:pPr>
            <a:r>
              <a:rPr lang="en-US" sz="4700" b="1">
                <a:solidFill>
                  <a:srgbClr val="000000"/>
                </a:solidFill>
                <a:latin typeface="Arimo Bold"/>
                <a:ea typeface="Arimo Bold"/>
                <a:cs typeface="Arimo Bold"/>
              </a:rPr>
              <a:t>Liste des variables catégorielles</a:t>
            </a:r>
            <a:endParaRPr/>
          </a:p>
        </p:txBody>
      </p:sp>
      <p:sp>
        <p:nvSpPr>
          <p:cNvPr id="1418653844" name="TextBox 15"/>
          <p:cNvSpPr txBox="1"/>
          <p:nvPr/>
        </p:nvSpPr>
        <p:spPr bwMode="auto">
          <a:xfrm rot="0">
            <a:off x="2984915" y="2844440"/>
            <a:ext cx="5633520" cy="355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4"/>
              </a:lnSpc>
              <a:defRPr/>
            </a:pPr>
            <a:r>
              <a:rPr lang="en-US" sz="20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</a:rPr>
              <a:t>Décision d'encodage pour </a:t>
            </a:r>
            <a:r>
              <a:rPr lang="fr-FR" sz="20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</a:rPr>
              <a:t>les 8</a:t>
            </a:r>
            <a:r>
              <a:rPr lang="en-US" sz="20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</a:rPr>
              <a:t> variable</a:t>
            </a:r>
            <a:r>
              <a:rPr lang="fr-FR" sz="20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</a:rPr>
              <a:t>s</a:t>
            </a:r>
            <a:r>
              <a:rPr lang="en-US" sz="20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</a:rPr>
              <a:t> :</a:t>
            </a:r>
            <a:endParaRPr/>
          </a:p>
        </p:txBody>
      </p:sp>
      <p:sp>
        <p:nvSpPr>
          <p:cNvPr id="142462966" name="TextBox 16"/>
          <p:cNvSpPr txBox="1"/>
          <p:nvPr/>
        </p:nvSpPr>
        <p:spPr bwMode="auto">
          <a:xfrm rot="0">
            <a:off x="5451434" y="4769396"/>
            <a:ext cx="2115988" cy="3779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4"/>
              </a:lnSpc>
              <a:defRPr/>
            </a:pPr>
            <a:r>
              <a:rPr lang="en-US" sz="20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</a:rPr>
              <a:t>BinaryEncoder </a:t>
            </a:r>
            <a:endParaRPr/>
          </a:p>
        </p:txBody>
      </p:sp>
      <p:sp>
        <p:nvSpPr>
          <p:cNvPr id="284234575" name="TextBox 17"/>
          <p:cNvSpPr txBox="1"/>
          <p:nvPr/>
        </p:nvSpPr>
        <p:spPr bwMode="auto">
          <a:xfrm rot="0">
            <a:off x="5569906" y="7408631"/>
            <a:ext cx="9192416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defRPr/>
            </a:pPr>
            <a:r>
              <a:rPr lang="en-US" sz="18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</a:rPr>
              <a:t>ListOfAllPropertyUseTypes</a:t>
            </a:r>
            <a:r>
              <a:rPr lang="en-US" sz="18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trop de catégorie (364) donc on ne l'utilisera pas.</a:t>
            </a:r>
            <a:endParaRPr/>
          </a:p>
        </p:txBody>
      </p:sp>
      <p:sp>
        <p:nvSpPr>
          <p:cNvPr id="893229886" name="TextBox 18"/>
          <p:cNvSpPr txBox="1"/>
          <p:nvPr/>
        </p:nvSpPr>
        <p:spPr bwMode="auto">
          <a:xfrm rot="0">
            <a:off x="5348907" y="3422380"/>
            <a:ext cx="2234603" cy="3683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4"/>
              </a:lnSpc>
              <a:defRPr/>
            </a:pPr>
            <a:r>
              <a:rPr lang="en-US" sz="20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</a:rPr>
              <a:t>OneHotEncoder </a:t>
            </a:r>
            <a:endParaRPr/>
          </a:p>
        </p:txBody>
      </p:sp>
      <p:sp>
        <p:nvSpPr>
          <p:cNvPr id="34152482" name="TextBox 19"/>
          <p:cNvSpPr txBox="1"/>
          <p:nvPr/>
        </p:nvSpPr>
        <p:spPr bwMode="auto">
          <a:xfrm rot="0">
            <a:off x="5786723" y="3800989"/>
            <a:ext cx="12199144" cy="348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4"/>
              </a:lnSpc>
              <a:defRPr/>
            </a:pPr>
            <a:r>
              <a:rPr lang="en-US" sz="18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BuildingType : 5 catégories</a:t>
            </a:r>
            <a:r>
              <a:rPr lang="en-US" sz="1800" i="1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</a:rPr>
              <a:t> (NonResidential ,SPS-District K-12, Nonresidential COS ,Campus, Nonresidential WA)</a:t>
            </a:r>
            <a:endParaRPr/>
          </a:p>
        </p:txBody>
      </p:sp>
      <p:sp>
        <p:nvSpPr>
          <p:cNvPr id="2109797506" name="TextBox 20"/>
          <p:cNvSpPr txBox="1"/>
          <p:nvPr/>
        </p:nvSpPr>
        <p:spPr bwMode="auto">
          <a:xfrm rot="0">
            <a:off x="4357972" y="4222089"/>
            <a:ext cx="11221191" cy="319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4"/>
              </a:lnSpc>
              <a:defRPr/>
            </a:pPr>
            <a:endParaRPr/>
          </a:p>
        </p:txBody>
      </p:sp>
      <p:sp>
        <p:nvSpPr>
          <p:cNvPr id="1686518345" name="TextBox 21"/>
          <p:cNvSpPr txBox="1"/>
          <p:nvPr/>
        </p:nvSpPr>
        <p:spPr bwMode="auto">
          <a:xfrm rot="0">
            <a:off x="5825241" y="5932350"/>
            <a:ext cx="11233918" cy="325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4"/>
              </a:lnSpc>
              <a:defRPr/>
            </a:pPr>
            <a:r>
              <a:rPr lang="en-US" sz="18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LargestPropertyUseType:  55 catégories</a:t>
            </a:r>
            <a:endParaRPr/>
          </a:p>
        </p:txBody>
      </p:sp>
      <p:sp>
        <p:nvSpPr>
          <p:cNvPr id="575033940" name="TextBox 22"/>
          <p:cNvSpPr txBox="1"/>
          <p:nvPr/>
        </p:nvSpPr>
        <p:spPr bwMode="auto">
          <a:xfrm rot="0">
            <a:off x="5839549" y="5539826"/>
            <a:ext cx="11233918" cy="325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4"/>
              </a:lnSpc>
              <a:defRPr/>
            </a:pPr>
            <a:r>
              <a:rPr lang="en-US" sz="18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Neighborhood : 19 catégories</a:t>
            </a:r>
            <a:endParaRPr/>
          </a:p>
        </p:txBody>
      </p:sp>
      <p:sp>
        <p:nvSpPr>
          <p:cNvPr id="955988293" name="TextBox 23"/>
          <p:cNvSpPr txBox="1"/>
          <p:nvPr/>
        </p:nvSpPr>
        <p:spPr bwMode="auto">
          <a:xfrm rot="0">
            <a:off x="5825242" y="5147310"/>
            <a:ext cx="4590012" cy="325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4"/>
              </a:lnSpc>
              <a:defRPr/>
            </a:pPr>
            <a:r>
              <a:rPr lang="en-US" sz="18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PrimaryPropertyType : 22 catégories </a:t>
            </a:r>
            <a:endParaRPr/>
          </a:p>
        </p:txBody>
      </p:sp>
      <p:sp>
        <p:nvSpPr>
          <p:cNvPr id="688553503" name="TextBox 24"/>
          <p:cNvSpPr txBox="1"/>
          <p:nvPr/>
        </p:nvSpPr>
        <p:spPr bwMode="auto">
          <a:xfrm rot="0">
            <a:off x="5839549" y="6356890"/>
            <a:ext cx="11233918" cy="325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4"/>
              </a:lnSpc>
              <a:defRPr/>
            </a:pPr>
            <a:r>
              <a:rPr lang="en-US" sz="18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SecondLargestPropertyUseType : 48 catégories</a:t>
            </a:r>
            <a:endParaRPr/>
          </a:p>
        </p:txBody>
      </p:sp>
      <p:sp>
        <p:nvSpPr>
          <p:cNvPr id="1905882839" name="TextBox 25"/>
          <p:cNvSpPr txBox="1"/>
          <p:nvPr/>
        </p:nvSpPr>
        <p:spPr bwMode="auto">
          <a:xfrm rot="0">
            <a:off x="5839549" y="6777990"/>
            <a:ext cx="11233918" cy="325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4"/>
              </a:lnSpc>
              <a:defRPr/>
            </a:pPr>
            <a:r>
              <a:rPr lang="en-US" sz="18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ThirdLargestPropertyUseType : 39 catégories</a:t>
            </a:r>
            <a:endParaRPr/>
          </a:p>
        </p:txBody>
      </p:sp>
      <p:sp>
        <p:nvSpPr>
          <p:cNvPr id="26378776" name="TextBox 26"/>
          <p:cNvSpPr txBox="1"/>
          <p:nvPr/>
        </p:nvSpPr>
        <p:spPr bwMode="auto">
          <a:xfrm rot="0">
            <a:off x="6209452" y="8351129"/>
            <a:ext cx="1681724" cy="2760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6"/>
              </a:lnSpc>
              <a:defRPr/>
            </a:pPr>
            <a:r>
              <a:rPr lang="en-US" sz="155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</a:rPr>
              <a:t> RÉCAPITULATIF </a:t>
            </a:r>
            <a:endParaRPr/>
          </a:p>
        </p:txBody>
      </p:sp>
      <p:sp>
        <p:nvSpPr>
          <p:cNvPr id="1655174967" name="TextBox 27"/>
          <p:cNvSpPr txBox="1"/>
          <p:nvPr/>
        </p:nvSpPr>
        <p:spPr bwMode="auto">
          <a:xfrm rot="0">
            <a:off x="6579650" y="8623248"/>
            <a:ext cx="4335931" cy="814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6"/>
              </a:lnSpc>
              <a:defRPr/>
            </a:pPr>
            <a:r>
              <a:rPr lang="en-US" sz="155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</a:rPr>
              <a:t> Dataset initial : </a:t>
            </a:r>
            <a:r>
              <a:rPr lang="fr-FR" sz="155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</a:rPr>
              <a:t>1,601</a:t>
            </a:r>
            <a:r>
              <a:rPr lang="en-US" sz="155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</a:rPr>
              <a:t>lignes × 34 colonnes</a:t>
            </a:r>
            <a:endParaRPr/>
          </a:p>
          <a:p>
            <a:pPr algn="l">
              <a:lnSpc>
                <a:spcPts val="2136"/>
              </a:lnSpc>
              <a:defRPr/>
            </a:pPr>
            <a:r>
              <a:rPr lang="en-US" sz="155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</a:rPr>
              <a:t>  Dataset final : 1,6</a:t>
            </a:r>
            <a:r>
              <a:rPr lang="fr-FR" sz="155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</a:rPr>
              <a:t>01</a:t>
            </a:r>
            <a:r>
              <a:rPr lang="en-US" sz="155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</a:rPr>
              <a:t> lignes × </a:t>
            </a:r>
            <a:r>
              <a:rPr lang="fr-FR" sz="155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</a:rPr>
              <a:t>75</a:t>
            </a:r>
            <a:r>
              <a:rPr lang="en-US" sz="155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</a:rPr>
              <a:t> colonnes</a:t>
            </a:r>
            <a:endParaRPr/>
          </a:p>
          <a:p>
            <a:pPr algn="l">
              <a:lnSpc>
                <a:spcPts val="2136"/>
              </a:lnSpc>
              <a:defRPr/>
            </a:pPr>
            <a:r>
              <a:rPr lang="en-US" sz="155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</a:rPr>
              <a:t>  NaN restants : 0</a:t>
            </a:r>
            <a:endParaRPr/>
          </a:p>
        </p:txBody>
      </p:sp>
      <p:grpSp>
        <p:nvGrpSpPr>
          <p:cNvPr id="1677762522" name="Group 28"/>
          <p:cNvGrpSpPr/>
          <p:nvPr/>
        </p:nvGrpSpPr>
        <p:grpSpPr bwMode="auto">
          <a:xfrm rot="5400000">
            <a:off x="9511850" y="8116632"/>
            <a:ext cx="1249490" cy="1827409"/>
            <a:chOff x="0" y="0"/>
            <a:chExt cx="1665986" cy="2436546"/>
          </a:xfrm>
        </p:grpSpPr>
        <p:sp>
          <p:nvSpPr>
            <p:cNvPr id="29" name="Freeform 29"/>
            <p:cNvSpPr/>
            <p:nvPr/>
          </p:nvSpPr>
          <p:spPr bwMode="auto">
            <a:xfrm rot="0" flipH="1" flipV="0">
              <a:off x="0" y="0"/>
              <a:ext cx="1665986" cy="2436495"/>
            </a:xfrm>
            <a:custGeom>
              <a:avLst/>
              <a:gdLst/>
              <a:ahLst/>
              <a:cxnLst/>
              <a:rect l="l" t="t" r="r" b="b"/>
              <a:pathLst>
                <a:path w="1665986" h="2436495" fill="norm" stroke="1" extrusionOk="0">
                  <a:moveTo>
                    <a:pt x="1665986" y="0"/>
                  </a:moveTo>
                  <a:lnTo>
                    <a:pt x="0" y="0"/>
                  </a:lnTo>
                  <a:lnTo>
                    <a:pt x="0" y="2436495"/>
                  </a:lnTo>
                  <a:lnTo>
                    <a:pt x="1665986" y="2436495"/>
                  </a:lnTo>
                  <a:lnTo>
                    <a:pt x="1665986" y="0"/>
                  </a:lnTo>
                  <a:close/>
                </a:path>
              </a:pathLst>
            </a:custGeom>
            <a:blipFill rotWithShape="1">
              <a:blip r:embed="rId7"/>
              <a:stretch>
                <a:fillRect l="-33" t="0" r="-33" b="-1"/>
              </a:stretch>
            </a:blipFill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279761" name="Freeform 2"/>
          <p:cNvSpPr/>
          <p:nvPr/>
        </p:nvSpPr>
        <p:spPr bwMode="auto">
          <a:xfrm rot="0" flipH="0" flipV="0">
            <a:off x="-156121" y="9875050"/>
            <a:ext cx="18600241" cy="411950"/>
          </a:xfrm>
          <a:custGeom>
            <a:avLst/>
            <a:gdLst/>
            <a:ahLst/>
            <a:cxnLst/>
            <a:rect l="l" t="t" r="r" b="b"/>
            <a:pathLst>
              <a:path w="18600241" h="411950" fill="norm" stroke="1" extrusionOk="0">
                <a:moveTo>
                  <a:pt x="0" y="0"/>
                </a:moveTo>
                <a:lnTo>
                  <a:pt x="18600242" y="0"/>
                </a:lnTo>
                <a:lnTo>
                  <a:pt x="18600242" y="411950"/>
                </a:lnTo>
                <a:lnTo>
                  <a:pt x="0" y="4119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 l="0" t="0" r="0" b="0"/>
            </a:stretch>
          </a:blipFill>
        </p:spPr>
      </p:sp>
      <p:grpSp>
        <p:nvGrpSpPr>
          <p:cNvPr id="1331411081" name="Group 3"/>
          <p:cNvGrpSpPr/>
          <p:nvPr/>
        </p:nvGrpSpPr>
        <p:grpSpPr bwMode="auto">
          <a:xfrm rot="5400000">
            <a:off x="-61565" y="-642425"/>
            <a:ext cx="6989568" cy="7992237"/>
            <a:chOff x="0" y="0"/>
            <a:chExt cx="9319424" cy="10656316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9319387" cy="10656316"/>
            </a:xfrm>
            <a:custGeom>
              <a:avLst/>
              <a:gdLst/>
              <a:ahLst/>
              <a:cxnLst/>
              <a:rect l="l" t="t" r="r" b="b"/>
              <a:pathLst>
                <a:path w="9319387" h="10656316" fill="norm" stroke="1" extrusionOk="0">
                  <a:moveTo>
                    <a:pt x="0" y="0"/>
                  </a:moveTo>
                  <a:lnTo>
                    <a:pt x="9319387" y="0"/>
                  </a:lnTo>
                  <a:lnTo>
                    <a:pt x="9319387" y="10656316"/>
                  </a:lnTo>
                  <a:lnTo>
                    <a:pt x="0" y="1065631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/>
              <a:stretch>
                <a:fillRect l="0" t="-23" r="0" b="-22"/>
              </a:stretch>
            </a:blipFill>
          </p:spPr>
        </p:sp>
      </p:grpSp>
      <p:grpSp>
        <p:nvGrpSpPr>
          <p:cNvPr id="955995345" name="Group 5"/>
          <p:cNvGrpSpPr/>
          <p:nvPr/>
        </p:nvGrpSpPr>
        <p:grpSpPr bwMode="auto">
          <a:xfrm rot="0">
            <a:off x="594636" y="3198304"/>
            <a:ext cx="16933135" cy="4805782"/>
            <a:chOff x="0" y="0"/>
            <a:chExt cx="22577514" cy="6407709"/>
          </a:xfrm>
        </p:grpSpPr>
        <p:sp>
          <p:nvSpPr>
            <p:cNvPr id="6" name="Freeform 6"/>
            <p:cNvSpPr/>
            <p:nvPr/>
          </p:nvSpPr>
          <p:spPr bwMode="auto">
            <a:xfrm rot="0" flipH="0" flipV="0">
              <a:off x="0" y="0"/>
              <a:ext cx="22577552" cy="6407658"/>
            </a:xfrm>
            <a:custGeom>
              <a:avLst/>
              <a:gdLst/>
              <a:ahLst/>
              <a:cxnLst/>
              <a:rect l="l" t="t" r="r" b="b"/>
              <a:pathLst>
                <a:path w="22577552" h="6407658" fill="norm" stroke="1" extrusionOk="0">
                  <a:moveTo>
                    <a:pt x="0" y="0"/>
                  </a:moveTo>
                  <a:lnTo>
                    <a:pt x="22577552" y="0"/>
                  </a:lnTo>
                  <a:lnTo>
                    <a:pt x="22577552" y="6407658"/>
                  </a:lnTo>
                  <a:lnTo>
                    <a:pt x="0" y="640765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id="1021672657" name="Group 7"/>
          <p:cNvGrpSpPr/>
          <p:nvPr/>
        </p:nvGrpSpPr>
        <p:grpSpPr bwMode="auto">
          <a:xfrm rot="0">
            <a:off x="2323024" y="8581901"/>
            <a:ext cx="1110196" cy="489871"/>
            <a:chOff x="0" y="0"/>
            <a:chExt cx="1480261" cy="653161"/>
          </a:xfrm>
        </p:grpSpPr>
        <p:sp>
          <p:nvSpPr>
            <p:cNvPr id="8" name="Freeform 8"/>
            <p:cNvSpPr/>
            <p:nvPr/>
          </p:nvSpPr>
          <p:spPr bwMode="auto">
            <a:xfrm rot="0" flipH="0" flipV="0">
              <a:off x="0" y="0"/>
              <a:ext cx="1480312" cy="653161"/>
            </a:xfrm>
            <a:custGeom>
              <a:avLst/>
              <a:gdLst/>
              <a:ahLst/>
              <a:cxnLst/>
              <a:rect l="l" t="t" r="r" b="b"/>
              <a:pathLst>
                <a:path w="1480312" h="653161" fill="norm" stroke="1" extrusionOk="0">
                  <a:moveTo>
                    <a:pt x="0" y="0"/>
                  </a:moveTo>
                  <a:lnTo>
                    <a:pt x="1480312" y="0"/>
                  </a:lnTo>
                  <a:lnTo>
                    <a:pt x="1480312" y="653161"/>
                  </a:lnTo>
                  <a:lnTo>
                    <a:pt x="0" y="65316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/>
              <a:stretch>
                <a:fillRect l="0" t="-15" r="3" b="-16"/>
              </a:stretch>
            </a:blipFill>
          </p:spPr>
        </p:sp>
      </p:grpSp>
      <p:sp>
        <p:nvSpPr>
          <p:cNvPr id="1814883168" name="TextBox 9"/>
          <p:cNvSpPr txBox="1"/>
          <p:nvPr/>
        </p:nvSpPr>
        <p:spPr bwMode="auto">
          <a:xfrm rot="0">
            <a:off x="1407366" y="694211"/>
            <a:ext cx="14260449" cy="1343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00"/>
              </a:lnSpc>
              <a:defRPr/>
            </a:pPr>
            <a:r>
              <a:rPr lang="en-US" sz="7200" spc="-480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100000">
                      <a:srgbClr val="CB6CE6">
                        <a:alpha val="100000"/>
                      </a:srgbClr>
                    </a:gs>
                  </a:gsLst>
                  <a:lin ang="0" scaled="1"/>
                </a:gradFill>
                <a:latin typeface="Arimo"/>
                <a:ea typeface="Arimo"/>
                <a:cs typeface="Arimo"/>
              </a:rPr>
              <a:t>Mise en Echelle Log pour les Outliers</a:t>
            </a:r>
            <a:endParaRPr/>
          </a:p>
        </p:txBody>
      </p:sp>
      <p:sp>
        <p:nvSpPr>
          <p:cNvPr id="9031509" name="TextBox 10"/>
          <p:cNvSpPr txBox="1"/>
          <p:nvPr/>
        </p:nvSpPr>
        <p:spPr bwMode="auto">
          <a:xfrm rot="0">
            <a:off x="2138277" y="1932461"/>
            <a:ext cx="12292165" cy="975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89"/>
              </a:lnSpc>
              <a:defRPr/>
            </a:pPr>
            <a:r>
              <a:rPr lang="en-US" sz="4700" b="1">
                <a:solidFill>
                  <a:srgbClr val="000000"/>
                </a:solidFill>
                <a:latin typeface="Balloon Extra Bold"/>
                <a:ea typeface="Balloon Extra Bold"/>
                <a:cs typeface="Balloon Extra Bold"/>
              </a:rPr>
              <a:t>Visualisation des Outliers via histogramme</a:t>
            </a:r>
            <a:endParaRPr/>
          </a:p>
        </p:txBody>
      </p:sp>
      <p:sp>
        <p:nvSpPr>
          <p:cNvPr id="2061229320" name="TextBox 11"/>
          <p:cNvSpPr txBox="1"/>
          <p:nvPr/>
        </p:nvSpPr>
        <p:spPr bwMode="auto">
          <a:xfrm rot="0">
            <a:off x="3688699" y="8575691"/>
            <a:ext cx="10582427" cy="504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8"/>
              </a:lnSpc>
              <a:defRPr/>
            </a:pPr>
            <a:r>
              <a:rPr lang="en-US" sz="2300" b="1">
                <a:solidFill>
                  <a:srgbClr val="000000"/>
                </a:solidFill>
                <a:latin typeface="Balloon Extra Bold"/>
                <a:ea typeface="Balloon Extra Bold"/>
                <a:cs typeface="Balloon Extra Bold"/>
              </a:rPr>
              <a:t>Mise en Echelle Log de ses 4 features, dont la Target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5158803" name="Freeform 2"/>
          <p:cNvSpPr/>
          <p:nvPr/>
        </p:nvSpPr>
        <p:spPr bwMode="auto">
          <a:xfrm rot="0" flipH="0" flipV="0">
            <a:off x="-186158" y="9873719"/>
            <a:ext cx="18660315" cy="413281"/>
          </a:xfrm>
          <a:custGeom>
            <a:avLst/>
            <a:gdLst/>
            <a:ahLst/>
            <a:cxnLst/>
            <a:rect l="l" t="t" r="r" b="b"/>
            <a:pathLst>
              <a:path w="18660315" h="413281" fill="norm" stroke="1" extrusionOk="0">
                <a:moveTo>
                  <a:pt x="0" y="0"/>
                </a:moveTo>
                <a:lnTo>
                  <a:pt x="18660316" y="0"/>
                </a:lnTo>
                <a:lnTo>
                  <a:pt x="18660316" y="413281"/>
                </a:lnTo>
                <a:lnTo>
                  <a:pt x="0" y="4132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 l="0" t="0" r="0" b="0"/>
            </a:stretch>
          </a:blipFill>
        </p:spPr>
      </p:sp>
      <p:grpSp>
        <p:nvGrpSpPr>
          <p:cNvPr id="1386146314" name="Group 3"/>
          <p:cNvGrpSpPr/>
          <p:nvPr/>
        </p:nvGrpSpPr>
        <p:grpSpPr bwMode="auto">
          <a:xfrm rot="5400000">
            <a:off x="-138201" y="-3091545"/>
            <a:ext cx="6989568" cy="7992237"/>
            <a:chOff x="0" y="0"/>
            <a:chExt cx="9319424" cy="10656316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9319387" cy="10656316"/>
            </a:xfrm>
            <a:custGeom>
              <a:avLst/>
              <a:gdLst/>
              <a:ahLst/>
              <a:cxnLst/>
              <a:rect l="l" t="t" r="r" b="b"/>
              <a:pathLst>
                <a:path w="9319387" h="10656316" fill="norm" stroke="1" extrusionOk="0">
                  <a:moveTo>
                    <a:pt x="0" y="0"/>
                  </a:moveTo>
                  <a:lnTo>
                    <a:pt x="9319387" y="0"/>
                  </a:lnTo>
                  <a:lnTo>
                    <a:pt x="9319387" y="10656316"/>
                  </a:lnTo>
                  <a:lnTo>
                    <a:pt x="0" y="1065631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/>
              <a:stretch>
                <a:fillRect l="0" t="-23" r="0" b="-22"/>
              </a:stretch>
            </a:blipFill>
          </p:spPr>
        </p:sp>
      </p:grpSp>
      <p:sp>
        <p:nvSpPr>
          <p:cNvPr id="2355094" name="TextBox 5"/>
          <p:cNvSpPr txBox="1"/>
          <p:nvPr/>
        </p:nvSpPr>
        <p:spPr bwMode="auto">
          <a:xfrm rot="0">
            <a:off x="2252758" y="298028"/>
            <a:ext cx="14259735" cy="1543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00"/>
              </a:lnSpc>
              <a:defRPr/>
            </a:pPr>
            <a:r>
              <a:rPr lang="en-US" sz="8000" spc="-480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100000">
                      <a:srgbClr val="CB6CE6">
                        <a:alpha val="100000"/>
                      </a:srgbClr>
                    </a:gs>
                  </a:gsLst>
                  <a:lin ang="0" scaled="1"/>
                </a:gradFill>
                <a:latin typeface="Goudy"/>
                <a:ea typeface="Goudy"/>
                <a:cs typeface="Goudy"/>
              </a:rPr>
              <a:t>Création de nouvelles features</a:t>
            </a:r>
            <a:endParaRPr/>
          </a:p>
        </p:txBody>
      </p:sp>
      <p:sp>
        <p:nvSpPr>
          <p:cNvPr id="375819509" name="TextBox 6"/>
          <p:cNvSpPr txBox="1"/>
          <p:nvPr/>
        </p:nvSpPr>
        <p:spPr bwMode="auto">
          <a:xfrm rot="0">
            <a:off x="2560386" y="2640358"/>
            <a:ext cx="15069791" cy="5943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80"/>
              </a:lnSpc>
              <a:defRPr/>
            </a:pPr>
            <a:r>
              <a:rPr lang="en-US" sz="2400" b="1">
                <a:solidFill>
                  <a:srgbClr val="000000"/>
                </a:solidFill>
                <a:latin typeface="Lora Bold"/>
                <a:ea typeface="Lora Bold"/>
                <a:cs typeface="Lora Bold"/>
              </a:rPr>
              <a:t>building_age : </a:t>
            </a:r>
            <a:r>
              <a:rPr lang="en-US" sz="2400">
                <a:solidFill>
                  <a:srgbClr val="000000"/>
                </a:solidFill>
                <a:latin typeface="Lora"/>
                <a:ea typeface="Lora"/>
                <a:cs typeface="Lora"/>
              </a:rPr>
              <a:t>age des bâtiments </a:t>
            </a:r>
            <a:r>
              <a:rPr lang="en-US" sz="2400" i="1">
                <a:solidFill>
                  <a:srgbClr val="000000"/>
                </a:solidFill>
                <a:latin typeface="Lora Italics"/>
                <a:ea typeface="Lora Italics"/>
                <a:cs typeface="Lora Italics"/>
              </a:rPr>
              <a:t>(DataYear - YearBuilt)</a:t>
            </a:r>
            <a:endParaRPr/>
          </a:p>
          <a:p>
            <a:pPr algn="l">
              <a:lnSpc>
                <a:spcPts val="4680"/>
              </a:lnSpc>
              <a:defRPr/>
            </a:pPr>
            <a:r>
              <a:rPr lang="en-US" sz="2400" b="1">
                <a:solidFill>
                  <a:srgbClr val="000000"/>
                </a:solidFill>
                <a:latin typeface="Lora Bold"/>
                <a:ea typeface="Lora Bold"/>
                <a:cs typeface="Lora Bold"/>
              </a:rPr>
              <a:t>parking_ratio : </a:t>
            </a:r>
            <a:r>
              <a:rPr lang="en-US" sz="2400">
                <a:solidFill>
                  <a:srgbClr val="000000"/>
                </a:solidFill>
                <a:latin typeface="Lora"/>
                <a:ea typeface="Lora"/>
                <a:cs typeface="Lora"/>
              </a:rPr>
              <a:t>surfaceparking/surface total </a:t>
            </a:r>
            <a:r>
              <a:rPr lang="en-US" sz="2400" i="1">
                <a:solidFill>
                  <a:srgbClr val="000000"/>
                </a:solidFill>
                <a:latin typeface="Lora Italics"/>
                <a:ea typeface="Lora Italics"/>
                <a:cs typeface="Lora Italics"/>
              </a:rPr>
              <a:t>(PropertyGFAParking/PropertyGFATotal) </a:t>
            </a:r>
            <a:endParaRPr/>
          </a:p>
          <a:p>
            <a:pPr algn="l">
              <a:lnSpc>
                <a:spcPts val="4680"/>
              </a:lnSpc>
              <a:defRPr/>
            </a:pPr>
            <a:r>
              <a:rPr lang="en-US" sz="2400" b="1">
                <a:solidFill>
                  <a:srgbClr val="000000"/>
                </a:solidFill>
                <a:latin typeface="Lora Bold"/>
                <a:ea typeface="Lora Bold"/>
                <a:cs typeface="Lora Bold"/>
              </a:rPr>
              <a:t>main_use_ratio :  </a:t>
            </a:r>
            <a:r>
              <a:rPr lang="en-US" sz="2400">
                <a:solidFill>
                  <a:srgbClr val="000000"/>
                </a:solidFill>
                <a:latin typeface="Lora"/>
                <a:ea typeface="Lora"/>
                <a:cs typeface="Lora"/>
              </a:rPr>
              <a:t>type d'utilisation/surface total </a:t>
            </a:r>
            <a:r>
              <a:rPr lang="en-US" sz="2400" i="1">
                <a:solidFill>
                  <a:srgbClr val="000000"/>
                </a:solidFill>
                <a:latin typeface="Lora Italics"/>
                <a:ea typeface="Lora Italics"/>
                <a:cs typeface="Lora Italics"/>
              </a:rPr>
              <a:t>(LargestPropertyUseTypeGFA/PropertyGFATotal) </a:t>
            </a:r>
            <a:endParaRPr/>
          </a:p>
          <a:p>
            <a:pPr algn="l">
              <a:lnSpc>
                <a:spcPts val="4680"/>
              </a:lnSpc>
              <a:defRPr/>
            </a:pPr>
            <a:r>
              <a:rPr lang="en-US" sz="2400" b="1">
                <a:solidFill>
                  <a:srgbClr val="000000"/>
                </a:solidFill>
                <a:latin typeface="Lora Bold"/>
                <a:ea typeface="Lora Bold"/>
                <a:cs typeface="Lora Bold"/>
              </a:rPr>
              <a:t>second_use_ratio :  </a:t>
            </a:r>
            <a:r>
              <a:rPr lang="en-US" sz="2400">
                <a:solidFill>
                  <a:srgbClr val="000000"/>
                </a:solidFill>
                <a:latin typeface="Lora"/>
                <a:ea typeface="Lora"/>
                <a:cs typeface="Lora"/>
              </a:rPr>
              <a:t>2nd utilisation surface /surface total </a:t>
            </a:r>
            <a:r>
              <a:rPr lang="en-US" sz="2400" i="1">
                <a:solidFill>
                  <a:srgbClr val="000000"/>
                </a:solidFill>
                <a:latin typeface="Lora Italics"/>
                <a:ea typeface="Lora Italics"/>
                <a:cs typeface="Lora Italics"/>
              </a:rPr>
              <a:t>(SecondPropertyUseTypeGFA/PropertyGFATotal)</a:t>
            </a:r>
            <a:endParaRPr/>
          </a:p>
          <a:p>
            <a:pPr algn="l">
              <a:lnSpc>
                <a:spcPts val="4680"/>
              </a:lnSpc>
              <a:defRPr/>
            </a:pPr>
            <a:r>
              <a:rPr lang="en-US" sz="2400" b="1">
                <a:solidFill>
                  <a:srgbClr val="000000"/>
                </a:solidFill>
                <a:latin typeface="Lora Bold"/>
                <a:ea typeface="Lora Bold"/>
                <a:cs typeface="Lora Bold"/>
              </a:rPr>
              <a:t>third_use_ratio : </a:t>
            </a:r>
            <a:r>
              <a:rPr lang="en-US" sz="2400">
                <a:solidFill>
                  <a:srgbClr val="000000"/>
                </a:solidFill>
                <a:latin typeface="Lora"/>
                <a:ea typeface="Lora"/>
                <a:cs typeface="Lora"/>
              </a:rPr>
              <a:t> 3e utilisation surface /surface total </a:t>
            </a:r>
            <a:r>
              <a:rPr lang="en-US" sz="2400" i="1">
                <a:solidFill>
                  <a:srgbClr val="000000"/>
                </a:solidFill>
                <a:latin typeface="Lora Italics"/>
                <a:ea typeface="Lora Italics"/>
                <a:cs typeface="Lora Italics"/>
              </a:rPr>
              <a:t>(ThirdPropertyUseTypeGFA/PropertyGFATotal)</a:t>
            </a:r>
            <a:endParaRPr lang="en-US" sz="2400" i="1">
              <a:solidFill>
                <a:srgbClr val="000000"/>
              </a:solidFill>
              <a:latin typeface="Lora Italics"/>
              <a:ea typeface="Lora Italics"/>
              <a:cs typeface="Lora Italics"/>
            </a:endParaRPr>
          </a:p>
          <a:p>
            <a:pPr algn="l">
              <a:lnSpc>
                <a:spcPts val="4679"/>
              </a:lnSpc>
              <a:defRPr/>
            </a:pPr>
            <a:r>
              <a:rPr lang="en-US" sz="2400" b="1" i="0" u="none" strike="noStrike" cap="none" spc="0">
                <a:solidFill>
                  <a:srgbClr val="000000"/>
                </a:solidFill>
                <a:latin typeface="Lora Bold"/>
                <a:ea typeface="Lora Bold"/>
                <a:cs typeface="Lora Bold"/>
              </a:rPr>
              <a:t>Electricity(kBtu)_ratio :  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Lora"/>
                <a:ea typeface="Lora"/>
                <a:cs typeface="Lora"/>
              </a:rPr>
              <a:t>ratio electricité </a:t>
            </a:r>
            <a:r>
              <a:rPr lang="en-US" sz="2400" b="0" i="1" u="none" strike="noStrike" cap="none" spc="0">
                <a:solidFill>
                  <a:srgbClr val="000000"/>
                </a:solidFill>
                <a:latin typeface="Lora Italics"/>
                <a:ea typeface="Lora Italics"/>
                <a:cs typeface="Lora Italics"/>
              </a:rPr>
              <a:t>(Electricity(kBtu)/energie_ratio)</a:t>
            </a:r>
            <a:endParaRPr sz="2400"/>
          </a:p>
          <a:p>
            <a:pPr algn="l">
              <a:lnSpc>
                <a:spcPts val="4679"/>
              </a:lnSpc>
              <a:defRPr/>
            </a:pPr>
            <a:r>
              <a:rPr lang="en-US" sz="2400" b="1" i="0" u="none" strike="noStrike" cap="none" spc="0">
                <a:solidFill>
                  <a:srgbClr val="000000"/>
                </a:solidFill>
                <a:latin typeface="Lora Bold"/>
                <a:ea typeface="Lora Bold"/>
                <a:cs typeface="Lora Bold"/>
              </a:rPr>
              <a:t>SteamUse(kBtu)_ratio :  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Lora"/>
                <a:ea typeface="Lora"/>
                <a:cs typeface="Lora"/>
              </a:rPr>
              <a:t>ratio steamUse </a:t>
            </a:r>
            <a:r>
              <a:rPr lang="en-US" sz="2400" b="0" i="1" u="none" strike="noStrike" cap="none" spc="0">
                <a:solidFill>
                  <a:srgbClr val="000000"/>
                </a:solidFill>
                <a:latin typeface="Lora Italics"/>
                <a:ea typeface="Lora Italics"/>
                <a:cs typeface="Lora Italics"/>
              </a:rPr>
              <a:t>(SteamUse(kBtu)/energie_ratio)</a:t>
            </a:r>
            <a:endParaRPr sz="2400"/>
          </a:p>
          <a:p>
            <a:pPr algn="l">
              <a:lnSpc>
                <a:spcPts val="4679"/>
              </a:lnSpc>
              <a:defRPr/>
            </a:pPr>
            <a:r>
              <a:rPr lang="en-US" sz="2400" b="1" i="0" u="none" strike="noStrike" cap="none" spc="0">
                <a:solidFill>
                  <a:srgbClr val="000000"/>
                </a:solidFill>
                <a:latin typeface="Lora Bold"/>
                <a:ea typeface="Lora Bold"/>
                <a:cs typeface="Lora Bold"/>
              </a:rPr>
              <a:t>NaturalGas(kBtu)_ratio : 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Lora"/>
                <a:ea typeface="Lora"/>
                <a:cs typeface="Lora"/>
              </a:rPr>
              <a:t>ratio gaz </a:t>
            </a:r>
            <a:r>
              <a:rPr lang="en-US" sz="2400" b="0" i="1" u="none" strike="noStrike" cap="none" spc="0">
                <a:solidFill>
                  <a:srgbClr val="000000"/>
                </a:solidFill>
                <a:latin typeface="Lora Italics"/>
                <a:ea typeface="Lora Italics"/>
                <a:cs typeface="Lora Italics"/>
              </a:rPr>
              <a:t>(NaturalGas(kBtu)/energie_ratio)</a:t>
            </a:r>
            <a:endParaRPr/>
          </a:p>
          <a:p>
            <a:pPr algn="l">
              <a:lnSpc>
                <a:spcPts val="4680"/>
              </a:lnSpc>
              <a:defRPr/>
            </a:pPr>
            <a:r>
              <a:rPr lang="en-US" sz="2400" b="1">
                <a:solidFill>
                  <a:srgbClr val="000000"/>
                </a:solidFill>
                <a:latin typeface="Lora Bold"/>
                <a:ea typeface="Lora Bold"/>
                <a:cs typeface="Lora Bold"/>
              </a:rPr>
              <a:t>usable_area : </a:t>
            </a:r>
            <a:r>
              <a:rPr lang="en-US" sz="2400">
                <a:solidFill>
                  <a:srgbClr val="000000"/>
                </a:solidFill>
                <a:latin typeface="Lora"/>
                <a:ea typeface="Lora"/>
                <a:cs typeface="Lora"/>
              </a:rPr>
              <a:t>surfaceTotale - surfaceParking</a:t>
            </a:r>
            <a:endParaRPr lang="en-US" sz="2400">
              <a:solidFill>
                <a:srgbClr val="000000"/>
              </a:solidFill>
              <a:latin typeface="Lora"/>
              <a:ea typeface="Lora"/>
              <a:cs typeface="Lora"/>
            </a:endParaRPr>
          </a:p>
          <a:p>
            <a:pPr algn="l">
              <a:lnSpc>
                <a:spcPts val="4679"/>
              </a:lnSpc>
              <a:defRPr/>
            </a:pPr>
            <a:r>
              <a:rPr lang="en-US" sz="2400" b="1" i="0" u="none" strike="noStrike" cap="none" spc="0">
                <a:solidFill>
                  <a:srgbClr val="000000"/>
                </a:solidFill>
                <a:latin typeface="Lora Bold"/>
                <a:ea typeface="Lora Bold"/>
                <a:cs typeface="Lora Bold"/>
              </a:rPr>
              <a:t>energie_ratio :  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Lora"/>
                <a:ea typeface="Lora"/>
                <a:cs typeface="Lora"/>
              </a:rPr>
              <a:t>somme type énergie (pour le calcul de ratio des 3 features energies)</a:t>
            </a:r>
            <a:endParaRPr/>
          </a:p>
        </p:txBody>
      </p:sp>
      <p:grpSp>
        <p:nvGrpSpPr>
          <p:cNvPr id="1763077213" name="Group 7"/>
          <p:cNvGrpSpPr/>
          <p:nvPr/>
        </p:nvGrpSpPr>
        <p:grpSpPr bwMode="auto">
          <a:xfrm rot="0">
            <a:off x="2060543" y="2933252"/>
            <a:ext cx="341805" cy="324287"/>
            <a:chOff x="0" y="0"/>
            <a:chExt cx="455740" cy="432384"/>
          </a:xfrm>
        </p:grpSpPr>
        <p:sp>
          <p:nvSpPr>
            <p:cNvPr id="8" name="Freeform 8"/>
            <p:cNvSpPr/>
            <p:nvPr/>
          </p:nvSpPr>
          <p:spPr bwMode="auto">
            <a:xfrm rot="0" flipH="0" flipV="0">
              <a:off x="0" y="0"/>
              <a:ext cx="455676" cy="432435"/>
            </a:xfrm>
            <a:custGeom>
              <a:avLst/>
              <a:gdLst/>
              <a:ahLst/>
              <a:cxnLst/>
              <a:rect l="l" t="t" r="r" b="b"/>
              <a:pathLst>
                <a:path w="455676" h="432435" fill="norm" stroke="1" extrusionOk="0">
                  <a:moveTo>
                    <a:pt x="0" y="0"/>
                  </a:moveTo>
                  <a:lnTo>
                    <a:pt x="455676" y="0"/>
                  </a:lnTo>
                  <a:lnTo>
                    <a:pt x="455676" y="432435"/>
                  </a:lnTo>
                  <a:lnTo>
                    <a:pt x="0" y="43243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/>
              <a:stretch>
                <a:fillRect l="0" t="-23" r="-13" b="-10"/>
              </a:stretch>
            </a:blipFill>
          </p:spPr>
        </p:sp>
      </p:grpSp>
      <p:sp>
        <p:nvSpPr>
          <p:cNvPr id="959277077" name="TextBox 9"/>
          <p:cNvSpPr txBox="1"/>
          <p:nvPr/>
        </p:nvSpPr>
        <p:spPr bwMode="auto">
          <a:xfrm rot="0">
            <a:off x="1137942" y="2250204"/>
            <a:ext cx="6237794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8"/>
              </a:lnSpc>
              <a:defRPr/>
            </a:pPr>
            <a:r>
              <a:rPr lang="en-US" sz="2400" b="1">
                <a:solidFill>
                  <a:srgbClr val="000000"/>
                </a:solidFill>
                <a:latin typeface="Balloon Extra Bold"/>
                <a:ea typeface="Balloon Extra Bold"/>
                <a:cs typeface="Balloon Extra Bold"/>
              </a:rPr>
              <a:t>Création de </a:t>
            </a:r>
            <a:r>
              <a:rPr lang="fr-FR" sz="2400" b="1">
                <a:solidFill>
                  <a:srgbClr val="000000"/>
                </a:solidFill>
                <a:latin typeface="Balloon Extra Bold"/>
                <a:ea typeface="Balloon Extra Bold"/>
                <a:cs typeface="Balloon Extra Bold"/>
              </a:rPr>
              <a:t>9</a:t>
            </a:r>
            <a:r>
              <a:rPr lang="en-US" sz="2400" b="1">
                <a:solidFill>
                  <a:srgbClr val="000000"/>
                </a:solidFill>
                <a:latin typeface="Balloon Extra Bold"/>
                <a:ea typeface="Balloon Extra Bold"/>
                <a:cs typeface="Balloon Extra Bold"/>
              </a:rPr>
              <a:t> ratios :</a:t>
            </a:r>
            <a:endParaRPr/>
          </a:p>
        </p:txBody>
      </p:sp>
      <p:grpSp>
        <p:nvGrpSpPr>
          <p:cNvPr id="1457924307" name="Group 10"/>
          <p:cNvGrpSpPr/>
          <p:nvPr/>
        </p:nvGrpSpPr>
        <p:grpSpPr bwMode="auto">
          <a:xfrm rot="0">
            <a:off x="2060542" y="5805372"/>
            <a:ext cx="341805" cy="324287"/>
            <a:chOff x="0" y="0"/>
            <a:chExt cx="455740" cy="432384"/>
          </a:xfrm>
        </p:grpSpPr>
        <p:sp>
          <p:nvSpPr>
            <p:cNvPr id="11" name="Freeform 11"/>
            <p:cNvSpPr/>
            <p:nvPr/>
          </p:nvSpPr>
          <p:spPr bwMode="auto">
            <a:xfrm rot="0" flipH="0" flipV="0">
              <a:off x="0" y="0"/>
              <a:ext cx="455676" cy="432435"/>
            </a:xfrm>
            <a:custGeom>
              <a:avLst/>
              <a:gdLst/>
              <a:ahLst/>
              <a:cxnLst/>
              <a:rect l="l" t="t" r="r" b="b"/>
              <a:pathLst>
                <a:path w="455676" h="432435" fill="norm" stroke="1" extrusionOk="0">
                  <a:moveTo>
                    <a:pt x="0" y="0"/>
                  </a:moveTo>
                  <a:lnTo>
                    <a:pt x="455676" y="0"/>
                  </a:lnTo>
                  <a:lnTo>
                    <a:pt x="455676" y="432435"/>
                  </a:lnTo>
                  <a:lnTo>
                    <a:pt x="0" y="43243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/>
              <a:stretch>
                <a:fillRect l="0" t="-23" r="-13" b="-10"/>
              </a:stretch>
            </a:blipFill>
          </p:spPr>
        </p:sp>
      </p:grpSp>
      <p:grpSp>
        <p:nvGrpSpPr>
          <p:cNvPr id="855008503" name="Group 12"/>
          <p:cNvGrpSpPr/>
          <p:nvPr/>
        </p:nvGrpSpPr>
        <p:grpSpPr bwMode="auto">
          <a:xfrm rot="0">
            <a:off x="2060542" y="6417297"/>
            <a:ext cx="341805" cy="324287"/>
            <a:chOff x="0" y="0"/>
            <a:chExt cx="455740" cy="432384"/>
          </a:xfrm>
        </p:grpSpPr>
        <p:sp>
          <p:nvSpPr>
            <p:cNvPr id="13" name="Freeform 13"/>
            <p:cNvSpPr/>
            <p:nvPr/>
          </p:nvSpPr>
          <p:spPr bwMode="auto">
            <a:xfrm rot="0" flipH="0" flipV="0">
              <a:off x="0" y="0"/>
              <a:ext cx="455676" cy="432435"/>
            </a:xfrm>
            <a:custGeom>
              <a:avLst/>
              <a:gdLst/>
              <a:ahLst/>
              <a:cxnLst/>
              <a:rect l="l" t="t" r="r" b="b"/>
              <a:pathLst>
                <a:path w="455676" h="432435" fill="norm" stroke="1" extrusionOk="0">
                  <a:moveTo>
                    <a:pt x="0" y="0"/>
                  </a:moveTo>
                  <a:lnTo>
                    <a:pt x="455676" y="0"/>
                  </a:lnTo>
                  <a:lnTo>
                    <a:pt x="455676" y="432435"/>
                  </a:lnTo>
                  <a:lnTo>
                    <a:pt x="0" y="43243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/>
              <a:stretch>
                <a:fillRect l="0" t="-23" r="-13" b="-10"/>
              </a:stretch>
            </a:blipFill>
          </p:spPr>
        </p:sp>
      </p:grpSp>
      <p:grpSp>
        <p:nvGrpSpPr>
          <p:cNvPr id="1719946410" name="Group 14"/>
          <p:cNvGrpSpPr/>
          <p:nvPr/>
        </p:nvGrpSpPr>
        <p:grpSpPr bwMode="auto">
          <a:xfrm rot="0">
            <a:off x="2077967" y="7058631"/>
            <a:ext cx="341805" cy="324287"/>
            <a:chOff x="0" y="0"/>
            <a:chExt cx="455740" cy="432384"/>
          </a:xfrm>
        </p:grpSpPr>
        <p:sp>
          <p:nvSpPr>
            <p:cNvPr id="15" name="Freeform 15"/>
            <p:cNvSpPr/>
            <p:nvPr/>
          </p:nvSpPr>
          <p:spPr bwMode="auto">
            <a:xfrm rot="0" flipH="0" flipV="0">
              <a:off x="0" y="0"/>
              <a:ext cx="455676" cy="432435"/>
            </a:xfrm>
            <a:custGeom>
              <a:avLst/>
              <a:gdLst/>
              <a:ahLst/>
              <a:cxnLst/>
              <a:rect l="l" t="t" r="r" b="b"/>
              <a:pathLst>
                <a:path w="455676" h="432435" fill="norm" stroke="1" extrusionOk="0">
                  <a:moveTo>
                    <a:pt x="0" y="0"/>
                  </a:moveTo>
                  <a:lnTo>
                    <a:pt x="455676" y="0"/>
                  </a:lnTo>
                  <a:lnTo>
                    <a:pt x="455676" y="432435"/>
                  </a:lnTo>
                  <a:lnTo>
                    <a:pt x="0" y="43243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/>
              <a:stretch>
                <a:fillRect l="0" t="-23" r="-13" b="-10"/>
              </a:stretch>
            </a:blipFill>
          </p:spPr>
        </p:sp>
      </p:grpSp>
      <p:grpSp>
        <p:nvGrpSpPr>
          <p:cNvPr id="1203505590" name="Group 16"/>
          <p:cNvGrpSpPr/>
          <p:nvPr/>
        </p:nvGrpSpPr>
        <p:grpSpPr bwMode="auto">
          <a:xfrm rot="0">
            <a:off x="2105181" y="7591899"/>
            <a:ext cx="341805" cy="324287"/>
            <a:chOff x="0" y="0"/>
            <a:chExt cx="455740" cy="432384"/>
          </a:xfrm>
        </p:grpSpPr>
        <p:sp>
          <p:nvSpPr>
            <p:cNvPr id="17" name="Freeform 17"/>
            <p:cNvSpPr/>
            <p:nvPr/>
          </p:nvSpPr>
          <p:spPr bwMode="auto">
            <a:xfrm rot="0" flipH="0" flipV="0">
              <a:off x="0" y="0"/>
              <a:ext cx="455676" cy="432435"/>
            </a:xfrm>
            <a:custGeom>
              <a:avLst/>
              <a:gdLst/>
              <a:ahLst/>
              <a:cxnLst/>
              <a:rect l="l" t="t" r="r" b="b"/>
              <a:pathLst>
                <a:path w="455676" h="432435" fill="norm" stroke="1" extrusionOk="0">
                  <a:moveTo>
                    <a:pt x="0" y="0"/>
                  </a:moveTo>
                  <a:lnTo>
                    <a:pt x="455676" y="0"/>
                  </a:lnTo>
                  <a:lnTo>
                    <a:pt x="455676" y="432435"/>
                  </a:lnTo>
                  <a:lnTo>
                    <a:pt x="0" y="43243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/>
              <a:stretch>
                <a:fillRect l="0" t="-23" r="-13" b="-10"/>
              </a:stretch>
            </a:blipFill>
          </p:spPr>
        </p:sp>
      </p:grpSp>
      <p:grpSp>
        <p:nvGrpSpPr>
          <p:cNvPr id="1280312512" name="Group 18"/>
          <p:cNvGrpSpPr/>
          <p:nvPr/>
        </p:nvGrpSpPr>
        <p:grpSpPr bwMode="auto">
          <a:xfrm rot="0">
            <a:off x="2060542" y="4719654"/>
            <a:ext cx="341805" cy="324287"/>
            <a:chOff x="0" y="0"/>
            <a:chExt cx="455740" cy="432384"/>
          </a:xfrm>
        </p:grpSpPr>
        <p:sp>
          <p:nvSpPr>
            <p:cNvPr id="19" name="Freeform 19"/>
            <p:cNvSpPr/>
            <p:nvPr/>
          </p:nvSpPr>
          <p:spPr bwMode="auto">
            <a:xfrm rot="0" flipH="0" flipV="0">
              <a:off x="0" y="0"/>
              <a:ext cx="455676" cy="432435"/>
            </a:xfrm>
            <a:custGeom>
              <a:avLst/>
              <a:gdLst/>
              <a:ahLst/>
              <a:cxnLst/>
              <a:rect l="l" t="t" r="r" b="b"/>
              <a:pathLst>
                <a:path w="455676" h="432435" fill="norm" stroke="1" extrusionOk="0">
                  <a:moveTo>
                    <a:pt x="0" y="0"/>
                  </a:moveTo>
                  <a:lnTo>
                    <a:pt x="455676" y="0"/>
                  </a:lnTo>
                  <a:lnTo>
                    <a:pt x="455676" y="432435"/>
                  </a:lnTo>
                  <a:lnTo>
                    <a:pt x="0" y="43243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/>
              <a:stretch>
                <a:fillRect l="0" t="-23" r="-13" b="-10"/>
              </a:stretch>
            </a:blipFill>
          </p:spPr>
        </p:sp>
      </p:grpSp>
      <p:grpSp>
        <p:nvGrpSpPr>
          <p:cNvPr id="786921107" name="Group 20"/>
          <p:cNvGrpSpPr/>
          <p:nvPr/>
        </p:nvGrpSpPr>
        <p:grpSpPr bwMode="auto">
          <a:xfrm rot="0">
            <a:off x="2023538" y="5300109"/>
            <a:ext cx="341805" cy="324287"/>
            <a:chOff x="0" y="0"/>
            <a:chExt cx="455740" cy="432384"/>
          </a:xfrm>
        </p:grpSpPr>
        <p:sp>
          <p:nvSpPr>
            <p:cNvPr id="21" name="Freeform 21"/>
            <p:cNvSpPr/>
            <p:nvPr/>
          </p:nvSpPr>
          <p:spPr bwMode="auto">
            <a:xfrm rot="0" flipH="0" flipV="0">
              <a:off x="0" y="0"/>
              <a:ext cx="455676" cy="432435"/>
            </a:xfrm>
            <a:custGeom>
              <a:avLst/>
              <a:gdLst/>
              <a:ahLst/>
              <a:cxnLst/>
              <a:rect l="l" t="t" r="r" b="b"/>
              <a:pathLst>
                <a:path w="455676" h="432435" fill="norm" stroke="1" extrusionOk="0">
                  <a:moveTo>
                    <a:pt x="0" y="0"/>
                  </a:moveTo>
                  <a:lnTo>
                    <a:pt x="455676" y="0"/>
                  </a:lnTo>
                  <a:lnTo>
                    <a:pt x="455676" y="432435"/>
                  </a:lnTo>
                  <a:lnTo>
                    <a:pt x="0" y="43243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/>
              <a:stretch>
                <a:fillRect l="0" t="-23" r="-13" b="-10"/>
              </a:stretch>
            </a:blipFill>
          </p:spPr>
        </p:sp>
      </p:grpSp>
      <p:grpSp>
        <p:nvGrpSpPr>
          <p:cNvPr id="1622792007" name="Group 22"/>
          <p:cNvGrpSpPr/>
          <p:nvPr/>
        </p:nvGrpSpPr>
        <p:grpSpPr bwMode="auto">
          <a:xfrm rot="0">
            <a:off x="2060543" y="4125811"/>
            <a:ext cx="341805" cy="324287"/>
            <a:chOff x="0" y="0"/>
            <a:chExt cx="455740" cy="432384"/>
          </a:xfrm>
        </p:grpSpPr>
        <p:sp>
          <p:nvSpPr>
            <p:cNvPr id="23" name="Freeform 23"/>
            <p:cNvSpPr/>
            <p:nvPr/>
          </p:nvSpPr>
          <p:spPr bwMode="auto">
            <a:xfrm rot="0" flipH="0" flipV="0">
              <a:off x="0" y="0"/>
              <a:ext cx="455676" cy="432435"/>
            </a:xfrm>
            <a:custGeom>
              <a:avLst/>
              <a:gdLst/>
              <a:ahLst/>
              <a:cxnLst/>
              <a:rect l="l" t="t" r="r" b="b"/>
              <a:pathLst>
                <a:path w="455676" h="432435" fill="norm" stroke="1" extrusionOk="0">
                  <a:moveTo>
                    <a:pt x="0" y="0"/>
                  </a:moveTo>
                  <a:lnTo>
                    <a:pt x="455676" y="0"/>
                  </a:lnTo>
                  <a:lnTo>
                    <a:pt x="455676" y="432435"/>
                  </a:lnTo>
                  <a:lnTo>
                    <a:pt x="0" y="43243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/>
              <a:stretch>
                <a:fillRect l="0" t="-23" r="-13" b="-10"/>
              </a:stretch>
            </a:blipFill>
          </p:spPr>
        </p:sp>
      </p:grpSp>
      <p:grpSp>
        <p:nvGrpSpPr>
          <p:cNvPr id="177948817" name="Group 26"/>
          <p:cNvGrpSpPr/>
          <p:nvPr/>
        </p:nvGrpSpPr>
        <p:grpSpPr bwMode="auto">
          <a:xfrm rot="0">
            <a:off x="2060543" y="3534823"/>
            <a:ext cx="341805" cy="324287"/>
            <a:chOff x="0" y="0"/>
            <a:chExt cx="455740" cy="432384"/>
          </a:xfrm>
        </p:grpSpPr>
        <p:sp>
          <p:nvSpPr>
            <p:cNvPr id="27" name="Freeform 27"/>
            <p:cNvSpPr/>
            <p:nvPr/>
          </p:nvSpPr>
          <p:spPr bwMode="auto">
            <a:xfrm rot="0" flipH="0" flipV="0">
              <a:off x="0" y="0"/>
              <a:ext cx="455676" cy="432435"/>
            </a:xfrm>
            <a:custGeom>
              <a:avLst/>
              <a:gdLst/>
              <a:ahLst/>
              <a:cxnLst/>
              <a:rect l="l" t="t" r="r" b="b"/>
              <a:pathLst>
                <a:path w="455676" h="432435" fill="norm" stroke="1" extrusionOk="0">
                  <a:moveTo>
                    <a:pt x="0" y="0"/>
                  </a:moveTo>
                  <a:lnTo>
                    <a:pt x="455676" y="0"/>
                  </a:lnTo>
                  <a:lnTo>
                    <a:pt x="455676" y="432435"/>
                  </a:lnTo>
                  <a:lnTo>
                    <a:pt x="0" y="43243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/>
              <a:stretch>
                <a:fillRect l="0" t="-23" r="-13" b="-10"/>
              </a:stretch>
            </a:blipFill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3537356" name="Freeform 2"/>
          <p:cNvSpPr/>
          <p:nvPr/>
        </p:nvSpPr>
        <p:spPr bwMode="auto">
          <a:xfrm rot="0" flipH="0" flipV="0">
            <a:off x="-256019" y="9876295"/>
            <a:ext cx="18544019" cy="410705"/>
          </a:xfrm>
          <a:custGeom>
            <a:avLst/>
            <a:gdLst/>
            <a:ahLst/>
            <a:cxnLst/>
            <a:rect l="l" t="t" r="r" b="b"/>
            <a:pathLst>
              <a:path w="18544019" h="410705" fill="norm" stroke="1" extrusionOk="0">
                <a:moveTo>
                  <a:pt x="0" y="0"/>
                </a:moveTo>
                <a:lnTo>
                  <a:pt x="18544019" y="0"/>
                </a:lnTo>
                <a:lnTo>
                  <a:pt x="18544019" y="410705"/>
                </a:lnTo>
                <a:lnTo>
                  <a:pt x="0" y="4107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 l="0" t="0" r="0" b="0"/>
            </a:stretch>
          </a:blipFill>
        </p:spPr>
      </p:sp>
      <p:grpSp>
        <p:nvGrpSpPr>
          <p:cNvPr id="692915039" name="Group 3"/>
          <p:cNvGrpSpPr/>
          <p:nvPr/>
        </p:nvGrpSpPr>
        <p:grpSpPr bwMode="auto">
          <a:xfrm rot="5400000">
            <a:off x="457733" y="-501329"/>
            <a:ext cx="6989568" cy="7992237"/>
            <a:chOff x="0" y="0"/>
            <a:chExt cx="9319424" cy="10656316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9319387" cy="10656316"/>
            </a:xfrm>
            <a:custGeom>
              <a:avLst/>
              <a:gdLst/>
              <a:ahLst/>
              <a:cxnLst/>
              <a:rect l="l" t="t" r="r" b="b"/>
              <a:pathLst>
                <a:path w="9319387" h="10656316" fill="norm" stroke="1" extrusionOk="0">
                  <a:moveTo>
                    <a:pt x="0" y="0"/>
                  </a:moveTo>
                  <a:lnTo>
                    <a:pt x="9319387" y="0"/>
                  </a:lnTo>
                  <a:lnTo>
                    <a:pt x="9319387" y="10656316"/>
                  </a:lnTo>
                  <a:lnTo>
                    <a:pt x="0" y="1065631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/>
              <a:stretch>
                <a:fillRect l="0" t="-23" r="0" b="-22"/>
              </a:stretch>
            </a:blipFill>
          </p:spPr>
        </p:sp>
      </p:grpSp>
      <p:grpSp>
        <p:nvGrpSpPr>
          <p:cNvPr id="1345641048" name="Group 5"/>
          <p:cNvGrpSpPr/>
          <p:nvPr/>
        </p:nvGrpSpPr>
        <p:grpSpPr bwMode="auto">
          <a:xfrm rot="0">
            <a:off x="3160071" y="4001976"/>
            <a:ext cx="575148" cy="603828"/>
            <a:chOff x="0" y="0"/>
            <a:chExt cx="766864" cy="805104"/>
          </a:xfrm>
        </p:grpSpPr>
        <p:sp>
          <p:nvSpPr>
            <p:cNvPr id="6" name="Freeform 6"/>
            <p:cNvSpPr/>
            <p:nvPr/>
          </p:nvSpPr>
          <p:spPr bwMode="auto">
            <a:xfrm rot="0" flipH="0" flipV="0">
              <a:off x="0" y="0"/>
              <a:ext cx="766826" cy="805053"/>
            </a:xfrm>
            <a:custGeom>
              <a:avLst/>
              <a:gdLst/>
              <a:ahLst/>
              <a:cxnLst/>
              <a:rect l="l" t="t" r="r" b="b"/>
              <a:pathLst>
                <a:path w="766826" h="805053" fill="norm" stroke="1" extrusionOk="0">
                  <a:moveTo>
                    <a:pt x="0" y="0"/>
                  </a:moveTo>
                  <a:lnTo>
                    <a:pt x="766826" y="0"/>
                  </a:lnTo>
                  <a:lnTo>
                    <a:pt x="766826" y="805053"/>
                  </a:lnTo>
                  <a:lnTo>
                    <a:pt x="0" y="80505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/>
              <a:stretch>
                <a:fillRect l="0" t="-6" r="-4" b="-12"/>
              </a:stretch>
            </a:blipFill>
          </p:spPr>
        </p:sp>
      </p:grpSp>
      <p:grpSp>
        <p:nvGrpSpPr>
          <p:cNvPr id="990379747" name="Group 7"/>
          <p:cNvGrpSpPr/>
          <p:nvPr/>
        </p:nvGrpSpPr>
        <p:grpSpPr bwMode="auto">
          <a:xfrm rot="0">
            <a:off x="3160071" y="6385382"/>
            <a:ext cx="487851" cy="512178"/>
            <a:chOff x="0" y="0"/>
            <a:chExt cx="650469" cy="682904"/>
          </a:xfrm>
        </p:grpSpPr>
        <p:sp>
          <p:nvSpPr>
            <p:cNvPr id="8" name="Freeform 8"/>
            <p:cNvSpPr/>
            <p:nvPr/>
          </p:nvSpPr>
          <p:spPr bwMode="auto">
            <a:xfrm rot="0" flipH="0" flipV="0">
              <a:off x="0" y="0"/>
              <a:ext cx="650494" cy="682879"/>
            </a:xfrm>
            <a:custGeom>
              <a:avLst/>
              <a:gdLst/>
              <a:ahLst/>
              <a:cxnLst/>
              <a:rect l="l" t="t" r="r" b="b"/>
              <a:pathLst>
                <a:path w="650494" h="682879" fill="norm" stroke="1" extrusionOk="0">
                  <a:moveTo>
                    <a:pt x="0" y="0"/>
                  </a:moveTo>
                  <a:lnTo>
                    <a:pt x="650494" y="0"/>
                  </a:lnTo>
                  <a:lnTo>
                    <a:pt x="650494" y="682879"/>
                  </a:lnTo>
                  <a:lnTo>
                    <a:pt x="0" y="68287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/>
              <a:stretch>
                <a:fillRect l="0" t="-5" r="3" b="-10"/>
              </a:stretch>
            </a:blipFill>
          </p:spPr>
        </p:sp>
      </p:grpSp>
      <p:grpSp>
        <p:nvGrpSpPr>
          <p:cNvPr id="1131983246" name="Group 9"/>
          <p:cNvGrpSpPr/>
          <p:nvPr/>
        </p:nvGrpSpPr>
        <p:grpSpPr bwMode="auto">
          <a:xfrm rot="0">
            <a:off x="10661066" y="4049297"/>
            <a:ext cx="484994" cy="509178"/>
            <a:chOff x="0" y="0"/>
            <a:chExt cx="646659" cy="678904"/>
          </a:xfrm>
        </p:grpSpPr>
        <p:sp>
          <p:nvSpPr>
            <p:cNvPr id="10" name="Freeform 10"/>
            <p:cNvSpPr/>
            <p:nvPr/>
          </p:nvSpPr>
          <p:spPr bwMode="auto">
            <a:xfrm rot="0" flipH="0" flipV="0">
              <a:off x="0" y="0"/>
              <a:ext cx="646684" cy="678942"/>
            </a:xfrm>
            <a:custGeom>
              <a:avLst/>
              <a:gdLst/>
              <a:ahLst/>
              <a:cxnLst/>
              <a:rect l="l" t="t" r="r" b="b"/>
              <a:pathLst>
                <a:path w="646684" h="678942" fill="norm" stroke="1" extrusionOk="0">
                  <a:moveTo>
                    <a:pt x="0" y="0"/>
                  </a:moveTo>
                  <a:lnTo>
                    <a:pt x="646684" y="0"/>
                  </a:lnTo>
                  <a:lnTo>
                    <a:pt x="646684" y="678942"/>
                  </a:lnTo>
                  <a:lnTo>
                    <a:pt x="0" y="67894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/>
              <a:stretch>
                <a:fillRect l="0" t="-5" r="3" b="-1"/>
              </a:stretch>
            </a:blipFill>
          </p:spPr>
        </p:sp>
      </p:grpSp>
      <p:grpSp>
        <p:nvGrpSpPr>
          <p:cNvPr id="498753884" name="Group 11"/>
          <p:cNvGrpSpPr/>
          <p:nvPr/>
        </p:nvGrpSpPr>
        <p:grpSpPr bwMode="auto">
          <a:xfrm rot="0" flipH="0" flipV="0">
            <a:off x="3735218" y="4667249"/>
            <a:ext cx="609180" cy="108856"/>
            <a:chOff x="0" y="0"/>
            <a:chExt cx="609180" cy="108856"/>
          </a:xfrm>
        </p:grpSpPr>
        <p:sp>
          <p:nvSpPr>
            <p:cNvPr id="12" name="Freeform 12"/>
            <p:cNvSpPr/>
            <p:nvPr/>
          </p:nvSpPr>
          <p:spPr bwMode="auto">
            <a:xfrm rot="0" flipH="0" flipV="0">
              <a:off x="0" y="0"/>
              <a:ext cx="609219" cy="108826"/>
            </a:xfrm>
            <a:custGeom>
              <a:avLst/>
              <a:gdLst/>
              <a:ahLst/>
              <a:cxnLst/>
              <a:rect l="l" t="t" r="r" b="b"/>
              <a:pathLst>
                <a:path w="812292" h="135001" fill="norm" stroke="1" extrusionOk="0">
                  <a:moveTo>
                    <a:pt x="0" y="0"/>
                  </a:moveTo>
                  <a:lnTo>
                    <a:pt x="812292" y="0"/>
                  </a:lnTo>
                  <a:lnTo>
                    <a:pt x="812292" y="135001"/>
                  </a:lnTo>
                  <a:lnTo>
                    <a:pt x="0" y="13500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/>
              <a:stretch>
                <a:fillRect l="0" t="-122" r="6" b="-150"/>
              </a:stretch>
            </a:blipFill>
          </p:spPr>
        </p:sp>
      </p:grpSp>
      <p:sp>
        <p:nvSpPr>
          <p:cNvPr id="233614446" name="TextBox 13"/>
          <p:cNvSpPr txBox="1"/>
          <p:nvPr/>
        </p:nvSpPr>
        <p:spPr bwMode="auto">
          <a:xfrm rot="0">
            <a:off x="11260360" y="4032428"/>
            <a:ext cx="4414256" cy="538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0"/>
              </a:lnSpc>
              <a:defRPr/>
            </a:pPr>
            <a:r>
              <a:rPr lang="en-US" sz="1750" b="1">
                <a:solidFill>
                  <a:srgbClr val="000000"/>
                </a:solidFill>
                <a:latin typeface="Balloon Extra Bold"/>
                <a:ea typeface="Balloon Extra Bold"/>
                <a:cs typeface="Balloon Extra Bold"/>
              </a:rPr>
              <a:t>Variables calculées à partir de la target</a:t>
            </a:r>
            <a:endParaRPr/>
          </a:p>
        </p:txBody>
      </p:sp>
      <p:sp>
        <p:nvSpPr>
          <p:cNvPr id="567267500" name="TextBox 14"/>
          <p:cNvSpPr txBox="1"/>
          <p:nvPr/>
        </p:nvSpPr>
        <p:spPr bwMode="auto">
          <a:xfrm rot="0">
            <a:off x="11505295" y="4513269"/>
            <a:ext cx="3208620" cy="2279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0"/>
              </a:lnSpc>
              <a:defRPr/>
            </a:pPr>
            <a:r>
              <a:rPr lang="en-US" sz="1750" b="1">
                <a:solidFill>
                  <a:srgbClr val="000000"/>
                </a:solidFill>
                <a:latin typeface="Balloon Extra Bold"/>
                <a:ea typeface="Balloon Extra Bold"/>
                <a:cs typeface="Balloon Extra Bold"/>
              </a:rPr>
              <a:t>SiteEUI(kBtu/sf)</a:t>
            </a:r>
            <a:endParaRPr/>
          </a:p>
          <a:p>
            <a:pPr algn="l">
              <a:lnSpc>
                <a:spcPts val="3450"/>
              </a:lnSpc>
              <a:defRPr/>
            </a:pPr>
            <a:r>
              <a:rPr lang="en-US" sz="1750" b="1">
                <a:solidFill>
                  <a:srgbClr val="000000"/>
                </a:solidFill>
                <a:latin typeface="Balloon Extra Bold"/>
                <a:ea typeface="Balloon Extra Bold"/>
                <a:cs typeface="Balloon Extra Bold"/>
              </a:rPr>
              <a:t>SiteEUIWN(kBtu/sf)</a:t>
            </a:r>
            <a:endParaRPr/>
          </a:p>
          <a:p>
            <a:pPr algn="l">
              <a:lnSpc>
                <a:spcPts val="3450"/>
              </a:lnSpc>
              <a:defRPr/>
            </a:pPr>
            <a:r>
              <a:rPr lang="en-US" sz="1750" b="1">
                <a:solidFill>
                  <a:srgbClr val="000000"/>
                </a:solidFill>
                <a:latin typeface="Balloon Extra Bold"/>
                <a:ea typeface="Balloon Extra Bold"/>
                <a:cs typeface="Balloon Extra Bold"/>
              </a:rPr>
              <a:t>SourceEUI(kBtu/sf)</a:t>
            </a:r>
            <a:endParaRPr/>
          </a:p>
          <a:p>
            <a:pPr algn="l">
              <a:lnSpc>
                <a:spcPts val="3450"/>
              </a:lnSpc>
              <a:defRPr/>
            </a:pPr>
            <a:r>
              <a:rPr lang="en-US" sz="1750" b="1">
                <a:solidFill>
                  <a:srgbClr val="000000"/>
                </a:solidFill>
                <a:latin typeface="Balloon Extra Bold"/>
                <a:ea typeface="Balloon Extra Bold"/>
                <a:cs typeface="Balloon Extra Bold"/>
              </a:rPr>
              <a:t>SourceEUIWN(kBtu/sf)</a:t>
            </a:r>
            <a:endParaRPr/>
          </a:p>
          <a:p>
            <a:pPr algn="l">
              <a:lnSpc>
                <a:spcPts val="3450"/>
              </a:lnSpc>
              <a:defRPr/>
            </a:pPr>
            <a:r>
              <a:rPr lang="en-US" sz="1750" b="1">
                <a:solidFill>
                  <a:srgbClr val="000000"/>
                </a:solidFill>
                <a:latin typeface="Balloon Extra Bold"/>
                <a:ea typeface="Balloon Extra Bold"/>
                <a:cs typeface="Balloon Extra Bold"/>
              </a:rPr>
              <a:t>SiteEnergyUseWN(kBtu)</a:t>
            </a:r>
            <a:endParaRPr/>
          </a:p>
        </p:txBody>
      </p:sp>
      <p:sp>
        <p:nvSpPr>
          <p:cNvPr id="352051109" name="TextBox 15"/>
          <p:cNvSpPr txBox="1"/>
          <p:nvPr/>
        </p:nvSpPr>
        <p:spPr bwMode="auto">
          <a:xfrm rot="0">
            <a:off x="3365678" y="1190711"/>
            <a:ext cx="11020463" cy="1343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00"/>
              </a:lnSpc>
              <a:defRPr/>
            </a:pPr>
            <a:r>
              <a:rPr lang="en-US" sz="7200" spc="-480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100000">
                      <a:srgbClr val="CB6CE6">
                        <a:alpha val="100000"/>
                      </a:srgbClr>
                    </a:gs>
                  </a:gsLst>
                  <a:lin ang="0" scaled="1"/>
                </a:gradFill>
                <a:latin typeface="Arimo"/>
                <a:ea typeface="Arimo"/>
                <a:cs typeface="Arimo"/>
              </a:rPr>
              <a:t>Data Leakage</a:t>
            </a:r>
            <a:endParaRPr/>
          </a:p>
        </p:txBody>
      </p:sp>
      <p:sp>
        <p:nvSpPr>
          <p:cNvPr id="1919770155" name="TextBox 16"/>
          <p:cNvSpPr txBox="1"/>
          <p:nvPr/>
        </p:nvSpPr>
        <p:spPr bwMode="auto">
          <a:xfrm rot="0">
            <a:off x="3403997" y="3077747"/>
            <a:ext cx="6950945" cy="424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25"/>
              </a:lnSpc>
              <a:defRPr/>
            </a:pPr>
            <a:r>
              <a:rPr lang="en-US" sz="2000" b="1">
                <a:solidFill>
                  <a:srgbClr val="000000"/>
                </a:solidFill>
                <a:latin typeface="Balloon Extra Bold"/>
                <a:ea typeface="Balloon Extra Bold"/>
                <a:cs typeface="Balloon Extra Bold"/>
              </a:rPr>
              <a:t>Suppression des colonnes pour éviter le Data Leakage</a:t>
            </a:r>
            <a:endParaRPr/>
          </a:p>
        </p:txBody>
      </p:sp>
      <p:sp>
        <p:nvSpPr>
          <p:cNvPr id="1523471051" name="TextBox 17"/>
          <p:cNvSpPr txBox="1"/>
          <p:nvPr/>
        </p:nvSpPr>
        <p:spPr bwMode="auto">
          <a:xfrm rot="0">
            <a:off x="3853529" y="3958885"/>
            <a:ext cx="6807537" cy="538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0"/>
              </a:lnSpc>
              <a:defRPr/>
            </a:pPr>
            <a:r>
              <a:rPr lang="en-US" sz="1750" b="1">
                <a:solidFill>
                  <a:srgbClr val="000000"/>
                </a:solidFill>
                <a:latin typeface="Balloon Extra Bold"/>
                <a:ea typeface="Balloon Extra Bold"/>
                <a:cs typeface="Balloon Extra Bold"/>
              </a:rPr>
              <a:t>Composantes de la consommation (= data leakage direct)</a:t>
            </a:r>
            <a:endParaRPr/>
          </a:p>
        </p:txBody>
      </p:sp>
      <p:sp>
        <p:nvSpPr>
          <p:cNvPr id="1248571406" name="TextBox 18"/>
          <p:cNvSpPr txBox="1"/>
          <p:nvPr/>
        </p:nvSpPr>
        <p:spPr bwMode="auto">
          <a:xfrm rot="0">
            <a:off x="4221861" y="4399321"/>
            <a:ext cx="2491264" cy="1409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0"/>
              </a:lnSpc>
              <a:defRPr/>
            </a:pPr>
            <a:r>
              <a:rPr lang="en-US" sz="1750" b="1">
                <a:solidFill>
                  <a:srgbClr val="000000"/>
                </a:solidFill>
                <a:latin typeface="Balloon Extra Bold"/>
                <a:ea typeface="Balloon Extra Bold"/>
                <a:cs typeface="Balloon Extra Bold"/>
              </a:rPr>
              <a:t>    Electricity(kBtu)</a:t>
            </a:r>
            <a:endParaRPr/>
          </a:p>
          <a:p>
            <a:pPr algn="l">
              <a:lnSpc>
                <a:spcPts val="3450"/>
              </a:lnSpc>
              <a:defRPr/>
            </a:pPr>
            <a:r>
              <a:rPr lang="en-US" sz="1750" b="1">
                <a:solidFill>
                  <a:srgbClr val="000000"/>
                </a:solidFill>
                <a:latin typeface="Balloon Extra Bold"/>
                <a:ea typeface="Balloon Extra Bold"/>
                <a:cs typeface="Balloon Extra Bold"/>
              </a:rPr>
              <a:t>    NaturalGas(kBtu)</a:t>
            </a:r>
            <a:endParaRPr/>
          </a:p>
          <a:p>
            <a:pPr algn="l">
              <a:lnSpc>
                <a:spcPts val="3450"/>
              </a:lnSpc>
              <a:defRPr/>
            </a:pPr>
            <a:r>
              <a:rPr lang="en-US" sz="1750" b="1">
                <a:solidFill>
                  <a:srgbClr val="000000"/>
                </a:solidFill>
                <a:latin typeface="Balloon Extra Bold"/>
                <a:ea typeface="Balloon Extra Bold"/>
                <a:cs typeface="Balloon Extra Bold"/>
              </a:rPr>
              <a:t>    SteamUse(kBtu)</a:t>
            </a:r>
            <a:endParaRPr/>
          </a:p>
        </p:txBody>
      </p:sp>
      <p:sp>
        <p:nvSpPr>
          <p:cNvPr id="956819524" name="TextBox 19"/>
          <p:cNvSpPr txBox="1"/>
          <p:nvPr/>
        </p:nvSpPr>
        <p:spPr bwMode="auto">
          <a:xfrm rot="0">
            <a:off x="3764954" y="6396237"/>
            <a:ext cx="5664879" cy="538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0"/>
              </a:lnSpc>
              <a:defRPr/>
            </a:pPr>
            <a:r>
              <a:rPr lang="en-US" sz="1750" b="1">
                <a:solidFill>
                  <a:srgbClr val="000000"/>
                </a:solidFill>
                <a:latin typeface="Balloon Extra Bold"/>
                <a:ea typeface="Balloon Extra Bold"/>
                <a:cs typeface="Balloon Extra Bold"/>
              </a:rPr>
              <a:t> Émissions (liées directement à la consommation)</a:t>
            </a:r>
            <a:endParaRPr/>
          </a:p>
        </p:txBody>
      </p:sp>
      <p:sp>
        <p:nvSpPr>
          <p:cNvPr id="700672033" name="TextBox 20"/>
          <p:cNvSpPr txBox="1"/>
          <p:nvPr/>
        </p:nvSpPr>
        <p:spPr bwMode="auto">
          <a:xfrm rot="0">
            <a:off x="4257226" y="6934552"/>
            <a:ext cx="2893714" cy="9737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0"/>
              </a:lnSpc>
              <a:defRPr/>
            </a:pPr>
            <a:r>
              <a:rPr lang="en-US" sz="1750" b="1">
                <a:solidFill>
                  <a:srgbClr val="000000"/>
                </a:solidFill>
                <a:latin typeface="Balloon Extra Bold"/>
                <a:ea typeface="Balloon Extra Bold"/>
                <a:cs typeface="Balloon Extra Bold"/>
              </a:rPr>
              <a:t> TotalGHGEmissions</a:t>
            </a:r>
            <a:endParaRPr/>
          </a:p>
          <a:p>
            <a:pPr algn="l">
              <a:lnSpc>
                <a:spcPts val="3450"/>
              </a:lnSpc>
              <a:defRPr/>
            </a:pPr>
            <a:r>
              <a:rPr lang="en-US" sz="1750" b="1">
                <a:solidFill>
                  <a:srgbClr val="000000"/>
                </a:solidFill>
                <a:latin typeface="Balloon Extra Bold"/>
                <a:ea typeface="Balloon Extra Bold"/>
                <a:cs typeface="Balloon Extra Bold"/>
              </a:rPr>
              <a:t> GHGEmissionsIntensity</a:t>
            </a:r>
            <a:endParaRPr/>
          </a:p>
        </p:txBody>
      </p:sp>
      <p:grpSp>
        <p:nvGrpSpPr>
          <p:cNvPr id="1986489400" name="Group 21"/>
          <p:cNvGrpSpPr/>
          <p:nvPr/>
        </p:nvGrpSpPr>
        <p:grpSpPr bwMode="auto">
          <a:xfrm rot="0">
            <a:off x="10777337" y="6605530"/>
            <a:ext cx="609181" cy="101279"/>
            <a:chOff x="0" y="0"/>
            <a:chExt cx="812241" cy="135039"/>
          </a:xfrm>
        </p:grpSpPr>
        <p:sp>
          <p:nvSpPr>
            <p:cNvPr id="22" name="Freeform 22"/>
            <p:cNvSpPr/>
            <p:nvPr/>
          </p:nvSpPr>
          <p:spPr bwMode="auto">
            <a:xfrm rot="0" flipH="0" flipV="0">
              <a:off x="0" y="0"/>
              <a:ext cx="812292" cy="135001"/>
            </a:xfrm>
            <a:custGeom>
              <a:avLst/>
              <a:gdLst/>
              <a:ahLst/>
              <a:cxnLst/>
              <a:rect l="l" t="t" r="r" b="b"/>
              <a:pathLst>
                <a:path w="812292" h="135001" fill="norm" stroke="1" extrusionOk="0">
                  <a:moveTo>
                    <a:pt x="0" y="0"/>
                  </a:moveTo>
                  <a:lnTo>
                    <a:pt x="812292" y="0"/>
                  </a:lnTo>
                  <a:lnTo>
                    <a:pt x="812292" y="135001"/>
                  </a:lnTo>
                  <a:lnTo>
                    <a:pt x="0" y="13500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/>
              <a:stretch>
                <a:fillRect l="0" t="-122" r="6" b="-150"/>
              </a:stretch>
            </a:blipFill>
          </p:spPr>
        </p:sp>
      </p:grpSp>
      <p:grpSp>
        <p:nvGrpSpPr>
          <p:cNvPr id="1224318624" name="Group 23"/>
          <p:cNvGrpSpPr/>
          <p:nvPr/>
        </p:nvGrpSpPr>
        <p:grpSpPr bwMode="auto">
          <a:xfrm rot="0">
            <a:off x="10777337" y="6173372"/>
            <a:ext cx="609181" cy="101279"/>
            <a:chOff x="0" y="0"/>
            <a:chExt cx="812241" cy="135039"/>
          </a:xfrm>
        </p:grpSpPr>
        <p:sp>
          <p:nvSpPr>
            <p:cNvPr id="24" name="Freeform 24"/>
            <p:cNvSpPr/>
            <p:nvPr/>
          </p:nvSpPr>
          <p:spPr bwMode="auto">
            <a:xfrm rot="0" flipH="0" flipV="0">
              <a:off x="0" y="0"/>
              <a:ext cx="812292" cy="135001"/>
            </a:xfrm>
            <a:custGeom>
              <a:avLst/>
              <a:gdLst/>
              <a:ahLst/>
              <a:cxnLst/>
              <a:rect l="l" t="t" r="r" b="b"/>
              <a:pathLst>
                <a:path w="812292" h="135001" fill="norm" stroke="1" extrusionOk="0">
                  <a:moveTo>
                    <a:pt x="0" y="0"/>
                  </a:moveTo>
                  <a:lnTo>
                    <a:pt x="812292" y="0"/>
                  </a:lnTo>
                  <a:lnTo>
                    <a:pt x="812292" y="135001"/>
                  </a:lnTo>
                  <a:lnTo>
                    <a:pt x="0" y="13500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/>
              <a:stretch>
                <a:fillRect l="0" t="-122" r="6" b="-150"/>
              </a:stretch>
            </a:blipFill>
          </p:spPr>
        </p:sp>
      </p:grpSp>
      <p:grpSp>
        <p:nvGrpSpPr>
          <p:cNvPr id="7894946" name="Group 25"/>
          <p:cNvGrpSpPr/>
          <p:nvPr/>
        </p:nvGrpSpPr>
        <p:grpSpPr bwMode="auto">
          <a:xfrm rot="0">
            <a:off x="10777337" y="5757777"/>
            <a:ext cx="609181" cy="101279"/>
            <a:chOff x="0" y="0"/>
            <a:chExt cx="812241" cy="135039"/>
          </a:xfrm>
        </p:grpSpPr>
        <p:sp>
          <p:nvSpPr>
            <p:cNvPr id="26" name="Freeform 26"/>
            <p:cNvSpPr/>
            <p:nvPr/>
          </p:nvSpPr>
          <p:spPr bwMode="auto">
            <a:xfrm rot="0" flipH="0" flipV="0">
              <a:off x="0" y="0"/>
              <a:ext cx="812292" cy="135001"/>
            </a:xfrm>
            <a:custGeom>
              <a:avLst/>
              <a:gdLst/>
              <a:ahLst/>
              <a:cxnLst/>
              <a:rect l="l" t="t" r="r" b="b"/>
              <a:pathLst>
                <a:path w="812292" h="135001" fill="norm" stroke="1" extrusionOk="0">
                  <a:moveTo>
                    <a:pt x="0" y="0"/>
                  </a:moveTo>
                  <a:lnTo>
                    <a:pt x="812292" y="0"/>
                  </a:lnTo>
                  <a:lnTo>
                    <a:pt x="812292" y="135001"/>
                  </a:lnTo>
                  <a:lnTo>
                    <a:pt x="0" y="13500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/>
              <a:stretch>
                <a:fillRect l="0" t="-122" r="6" b="-150"/>
              </a:stretch>
            </a:blipFill>
          </p:spPr>
        </p:sp>
      </p:grpSp>
      <p:grpSp>
        <p:nvGrpSpPr>
          <p:cNvPr id="947434743" name="Group 27"/>
          <p:cNvGrpSpPr/>
          <p:nvPr/>
        </p:nvGrpSpPr>
        <p:grpSpPr bwMode="auto">
          <a:xfrm rot="0">
            <a:off x="10777337" y="5288975"/>
            <a:ext cx="609181" cy="101279"/>
            <a:chOff x="0" y="0"/>
            <a:chExt cx="812241" cy="135039"/>
          </a:xfrm>
        </p:grpSpPr>
        <p:sp>
          <p:nvSpPr>
            <p:cNvPr id="28" name="Freeform 28"/>
            <p:cNvSpPr/>
            <p:nvPr/>
          </p:nvSpPr>
          <p:spPr bwMode="auto">
            <a:xfrm rot="0" flipH="0" flipV="0">
              <a:off x="0" y="0"/>
              <a:ext cx="812292" cy="135001"/>
            </a:xfrm>
            <a:custGeom>
              <a:avLst/>
              <a:gdLst/>
              <a:ahLst/>
              <a:cxnLst/>
              <a:rect l="l" t="t" r="r" b="b"/>
              <a:pathLst>
                <a:path w="812292" h="135001" fill="norm" stroke="1" extrusionOk="0">
                  <a:moveTo>
                    <a:pt x="0" y="0"/>
                  </a:moveTo>
                  <a:lnTo>
                    <a:pt x="812292" y="0"/>
                  </a:lnTo>
                  <a:lnTo>
                    <a:pt x="812292" y="135001"/>
                  </a:lnTo>
                  <a:lnTo>
                    <a:pt x="0" y="13500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/>
              <a:stretch>
                <a:fillRect l="0" t="-122" r="6" b="-150"/>
              </a:stretch>
            </a:blipFill>
          </p:spPr>
        </p:sp>
      </p:grpSp>
      <p:grpSp>
        <p:nvGrpSpPr>
          <p:cNvPr id="2072588556" name="Group 29"/>
          <p:cNvGrpSpPr/>
          <p:nvPr/>
        </p:nvGrpSpPr>
        <p:grpSpPr bwMode="auto">
          <a:xfrm rot="0">
            <a:off x="10777337" y="4873381"/>
            <a:ext cx="609181" cy="101279"/>
            <a:chOff x="0" y="0"/>
            <a:chExt cx="812241" cy="135039"/>
          </a:xfrm>
        </p:grpSpPr>
        <p:sp>
          <p:nvSpPr>
            <p:cNvPr id="30" name="Freeform 30"/>
            <p:cNvSpPr/>
            <p:nvPr/>
          </p:nvSpPr>
          <p:spPr bwMode="auto">
            <a:xfrm rot="0" flipH="0" flipV="0">
              <a:off x="0" y="0"/>
              <a:ext cx="812292" cy="135001"/>
            </a:xfrm>
            <a:custGeom>
              <a:avLst/>
              <a:gdLst/>
              <a:ahLst/>
              <a:cxnLst/>
              <a:rect l="l" t="t" r="r" b="b"/>
              <a:pathLst>
                <a:path w="812292" h="135001" fill="norm" stroke="1" extrusionOk="0">
                  <a:moveTo>
                    <a:pt x="0" y="0"/>
                  </a:moveTo>
                  <a:lnTo>
                    <a:pt x="812292" y="0"/>
                  </a:lnTo>
                  <a:lnTo>
                    <a:pt x="812292" y="135001"/>
                  </a:lnTo>
                  <a:lnTo>
                    <a:pt x="0" y="13500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/>
              <a:stretch>
                <a:fillRect l="0" t="-122" r="6" b="-150"/>
              </a:stretch>
            </a:blipFill>
          </p:spPr>
        </p:sp>
      </p:grpSp>
      <p:grpSp>
        <p:nvGrpSpPr>
          <p:cNvPr id="2130052112" name="Group 31"/>
          <p:cNvGrpSpPr/>
          <p:nvPr/>
        </p:nvGrpSpPr>
        <p:grpSpPr bwMode="auto">
          <a:xfrm rot="0">
            <a:off x="3647931" y="7616604"/>
            <a:ext cx="609181" cy="101279"/>
            <a:chOff x="0" y="0"/>
            <a:chExt cx="812241" cy="135039"/>
          </a:xfrm>
        </p:grpSpPr>
        <p:sp>
          <p:nvSpPr>
            <p:cNvPr id="32" name="Freeform 32"/>
            <p:cNvSpPr/>
            <p:nvPr/>
          </p:nvSpPr>
          <p:spPr bwMode="auto">
            <a:xfrm rot="0" flipH="0" flipV="0">
              <a:off x="0" y="0"/>
              <a:ext cx="812292" cy="135001"/>
            </a:xfrm>
            <a:custGeom>
              <a:avLst/>
              <a:gdLst/>
              <a:ahLst/>
              <a:cxnLst/>
              <a:rect l="l" t="t" r="r" b="b"/>
              <a:pathLst>
                <a:path w="812292" h="135001" fill="norm" stroke="1" extrusionOk="0">
                  <a:moveTo>
                    <a:pt x="0" y="0"/>
                  </a:moveTo>
                  <a:lnTo>
                    <a:pt x="812292" y="0"/>
                  </a:lnTo>
                  <a:lnTo>
                    <a:pt x="812292" y="135001"/>
                  </a:lnTo>
                  <a:lnTo>
                    <a:pt x="0" y="13500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/>
              <a:stretch>
                <a:fillRect l="0" t="-122" r="6" b="-150"/>
              </a:stretch>
            </a:blipFill>
          </p:spPr>
        </p:sp>
      </p:grpSp>
      <p:grpSp>
        <p:nvGrpSpPr>
          <p:cNvPr id="1925395822" name="Group 33"/>
          <p:cNvGrpSpPr/>
          <p:nvPr/>
        </p:nvGrpSpPr>
        <p:grpSpPr bwMode="auto">
          <a:xfrm rot="0">
            <a:off x="3647931" y="7162899"/>
            <a:ext cx="609181" cy="101279"/>
            <a:chOff x="0" y="0"/>
            <a:chExt cx="812241" cy="135039"/>
          </a:xfrm>
        </p:grpSpPr>
        <p:sp>
          <p:nvSpPr>
            <p:cNvPr id="34" name="Freeform 34"/>
            <p:cNvSpPr/>
            <p:nvPr/>
          </p:nvSpPr>
          <p:spPr bwMode="auto">
            <a:xfrm rot="0" flipH="0" flipV="0">
              <a:off x="0" y="0"/>
              <a:ext cx="812292" cy="135001"/>
            </a:xfrm>
            <a:custGeom>
              <a:avLst/>
              <a:gdLst/>
              <a:ahLst/>
              <a:cxnLst/>
              <a:rect l="l" t="t" r="r" b="b"/>
              <a:pathLst>
                <a:path w="812292" h="135001" fill="norm" stroke="1" extrusionOk="0">
                  <a:moveTo>
                    <a:pt x="0" y="0"/>
                  </a:moveTo>
                  <a:lnTo>
                    <a:pt x="812292" y="0"/>
                  </a:lnTo>
                  <a:lnTo>
                    <a:pt x="812292" y="135001"/>
                  </a:lnTo>
                  <a:lnTo>
                    <a:pt x="0" y="13500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/>
              <a:stretch>
                <a:fillRect l="0" t="-122" r="6" b="-150"/>
              </a:stretch>
            </a:blipFill>
          </p:spPr>
        </p:sp>
      </p:grpSp>
      <p:grpSp>
        <p:nvGrpSpPr>
          <p:cNvPr id="992004333" name="Group 35"/>
          <p:cNvGrpSpPr/>
          <p:nvPr/>
        </p:nvGrpSpPr>
        <p:grpSpPr bwMode="auto">
          <a:xfrm rot="0">
            <a:off x="3735218" y="5055695"/>
            <a:ext cx="609181" cy="101279"/>
            <a:chOff x="0" y="0"/>
            <a:chExt cx="812241" cy="135039"/>
          </a:xfrm>
        </p:grpSpPr>
        <p:sp>
          <p:nvSpPr>
            <p:cNvPr id="36" name="Freeform 36"/>
            <p:cNvSpPr/>
            <p:nvPr/>
          </p:nvSpPr>
          <p:spPr bwMode="auto">
            <a:xfrm rot="0" flipH="0" flipV="0">
              <a:off x="0" y="0"/>
              <a:ext cx="812292" cy="135001"/>
            </a:xfrm>
            <a:custGeom>
              <a:avLst/>
              <a:gdLst/>
              <a:ahLst/>
              <a:cxnLst/>
              <a:rect l="l" t="t" r="r" b="b"/>
              <a:pathLst>
                <a:path w="812292" h="135001" fill="norm" stroke="1" extrusionOk="0">
                  <a:moveTo>
                    <a:pt x="0" y="0"/>
                  </a:moveTo>
                  <a:lnTo>
                    <a:pt x="812292" y="0"/>
                  </a:lnTo>
                  <a:lnTo>
                    <a:pt x="812292" y="135001"/>
                  </a:lnTo>
                  <a:lnTo>
                    <a:pt x="0" y="13500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/>
              <a:stretch>
                <a:fillRect l="0" t="-122" r="6" b="-150"/>
              </a:stretch>
            </a:blipFill>
          </p:spPr>
        </p:sp>
      </p:grpSp>
      <p:grpSp>
        <p:nvGrpSpPr>
          <p:cNvPr id="286036853" name="Group 37"/>
          <p:cNvGrpSpPr/>
          <p:nvPr/>
        </p:nvGrpSpPr>
        <p:grpSpPr bwMode="auto">
          <a:xfrm rot="0">
            <a:off x="3735218" y="5476743"/>
            <a:ext cx="609181" cy="101279"/>
            <a:chOff x="0" y="0"/>
            <a:chExt cx="812241" cy="135039"/>
          </a:xfrm>
        </p:grpSpPr>
        <p:sp>
          <p:nvSpPr>
            <p:cNvPr id="38" name="Freeform 38"/>
            <p:cNvSpPr/>
            <p:nvPr/>
          </p:nvSpPr>
          <p:spPr bwMode="auto">
            <a:xfrm rot="0" flipH="0" flipV="0">
              <a:off x="0" y="0"/>
              <a:ext cx="812292" cy="135001"/>
            </a:xfrm>
            <a:custGeom>
              <a:avLst/>
              <a:gdLst/>
              <a:ahLst/>
              <a:cxnLst/>
              <a:rect l="l" t="t" r="r" b="b"/>
              <a:pathLst>
                <a:path w="812292" h="135001" fill="norm" stroke="1" extrusionOk="0">
                  <a:moveTo>
                    <a:pt x="0" y="0"/>
                  </a:moveTo>
                  <a:lnTo>
                    <a:pt x="812292" y="0"/>
                  </a:lnTo>
                  <a:lnTo>
                    <a:pt x="812292" y="135001"/>
                  </a:lnTo>
                  <a:lnTo>
                    <a:pt x="0" y="13500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/>
              <a:stretch>
                <a:fillRect l="0" t="-122" r="6" b="-150"/>
              </a:stretch>
            </a:blipFill>
          </p:spPr>
        </p:sp>
      </p:grpSp>
      <p:sp>
        <p:nvSpPr>
          <p:cNvPr id="1559882006" name=""/>
          <p:cNvSpPr txBox="1"/>
          <p:nvPr/>
        </p:nvSpPr>
        <p:spPr bwMode="auto">
          <a:xfrm rot="0" flipH="0" flipV="0">
            <a:off x="6306688" y="8691371"/>
            <a:ext cx="4860713" cy="63434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ts val="2135"/>
              </a:lnSpc>
              <a:defRPr/>
            </a:pPr>
            <a:r>
              <a:rPr lang="en-US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</a:rPr>
              <a:t>Dataset initial : </a:t>
            </a:r>
            <a:r>
              <a:rPr lang="fr-FR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</a:rPr>
              <a:t>1,601</a:t>
            </a:r>
            <a:r>
              <a:rPr lang="en-US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</a:rPr>
              <a:t>lignes × 34 colonnes</a:t>
            </a:r>
            <a:endParaRPr/>
          </a:p>
          <a:p>
            <a:pPr algn="l">
              <a:lnSpc>
                <a:spcPts val="2135"/>
              </a:lnSpc>
              <a:defRPr/>
            </a:pPr>
            <a:r>
              <a:rPr lang="en-US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</a:rPr>
              <a:t> Dataset final : 1,6</a:t>
            </a:r>
            <a:r>
              <a:rPr lang="fr-FR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</a:rPr>
              <a:t>01</a:t>
            </a:r>
            <a:r>
              <a:rPr lang="en-US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</a:rPr>
              <a:t> lignes × </a:t>
            </a:r>
            <a:r>
              <a:rPr lang="fr-FR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</a:rPr>
              <a:t>65</a:t>
            </a:r>
            <a:r>
              <a:rPr lang="en-US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</a:rPr>
              <a:t> colonnes</a:t>
            </a:r>
            <a:endParaRPr/>
          </a:p>
        </p:txBody>
      </p:sp>
      <p:sp>
        <p:nvSpPr>
          <p:cNvPr id="723408680" name=""/>
          <p:cNvSpPr txBox="1"/>
          <p:nvPr/>
        </p:nvSpPr>
        <p:spPr bwMode="auto">
          <a:xfrm rot="0" flipH="0" flipV="0">
            <a:off x="6306688" y="8328659"/>
            <a:ext cx="1969357" cy="3627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ts val="2135"/>
              </a:lnSpc>
              <a:defRPr/>
            </a:pPr>
            <a:r>
              <a:rPr lang="en-US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</a:rPr>
              <a:t> RÉCAPITULATIF</a:t>
            </a:r>
            <a:endParaRPr/>
          </a:p>
        </p:txBody>
      </p:sp>
      <p:grpSp>
        <p:nvGrpSpPr>
          <p:cNvPr id="1757006268" name="Group 28"/>
          <p:cNvGrpSpPr/>
          <p:nvPr/>
        </p:nvGrpSpPr>
        <p:grpSpPr bwMode="auto">
          <a:xfrm rot="5399977">
            <a:off x="9847982" y="8104011"/>
            <a:ext cx="1249489" cy="1827408"/>
            <a:chOff x="0" y="0"/>
            <a:chExt cx="1665985" cy="2436545"/>
          </a:xfrm>
        </p:grpSpPr>
        <p:sp>
          <p:nvSpPr>
            <p:cNvPr id="693795133" name="Freeform 29"/>
            <p:cNvSpPr/>
            <p:nvPr/>
          </p:nvSpPr>
          <p:spPr bwMode="auto">
            <a:xfrm rot="0" flipH="1" flipV="0">
              <a:off x="0" y="0"/>
              <a:ext cx="1665985" cy="2436494"/>
            </a:xfrm>
            <a:custGeom>
              <a:avLst/>
              <a:gdLst/>
              <a:ahLst/>
              <a:cxnLst/>
              <a:rect l="l" t="t" r="r" b="b"/>
              <a:pathLst>
                <a:path w="1665986" h="2436495" fill="norm" stroke="1" extrusionOk="0">
                  <a:moveTo>
                    <a:pt x="1665986" y="0"/>
                  </a:moveTo>
                  <a:lnTo>
                    <a:pt x="0" y="0"/>
                  </a:lnTo>
                  <a:lnTo>
                    <a:pt x="0" y="2436495"/>
                  </a:lnTo>
                  <a:lnTo>
                    <a:pt x="1665986" y="2436495"/>
                  </a:lnTo>
                  <a:lnTo>
                    <a:pt x="1665986" y="0"/>
                  </a:lnTo>
                  <a:close/>
                </a:path>
              </a:pathLst>
            </a:custGeom>
            <a:blipFill rotWithShape="1">
              <a:blip r:embed="rId9"/>
              <a:stretch>
                <a:fillRect l="-33" t="0" r="-33" b="-1"/>
              </a:stretch>
            </a:blipFill>
          </p:spPr>
        </p:sp>
      </p:grpSp>
      <p:grpSp>
        <p:nvGrpSpPr>
          <p:cNvPr id="1706071820" name="Group 28"/>
          <p:cNvGrpSpPr/>
          <p:nvPr/>
        </p:nvGrpSpPr>
        <p:grpSpPr bwMode="auto">
          <a:xfrm rot="16199969">
            <a:off x="6353667" y="7777667"/>
            <a:ext cx="1249489" cy="1827408"/>
            <a:chOff x="0" y="0"/>
            <a:chExt cx="1665985" cy="2436545"/>
          </a:xfrm>
        </p:grpSpPr>
        <p:sp>
          <p:nvSpPr>
            <p:cNvPr id="1444653731" name="Freeform 29"/>
            <p:cNvSpPr/>
            <p:nvPr/>
          </p:nvSpPr>
          <p:spPr bwMode="auto">
            <a:xfrm rot="0" flipH="1" flipV="0">
              <a:off x="0" y="0"/>
              <a:ext cx="1665985" cy="2436494"/>
            </a:xfrm>
            <a:custGeom>
              <a:avLst/>
              <a:gdLst/>
              <a:ahLst/>
              <a:cxnLst/>
              <a:rect l="l" t="t" r="r" b="b"/>
              <a:pathLst>
                <a:path w="1665986" h="2436495" fill="norm" stroke="1" extrusionOk="0">
                  <a:moveTo>
                    <a:pt x="1665986" y="0"/>
                  </a:moveTo>
                  <a:lnTo>
                    <a:pt x="0" y="0"/>
                  </a:lnTo>
                  <a:lnTo>
                    <a:pt x="0" y="2436495"/>
                  </a:lnTo>
                  <a:lnTo>
                    <a:pt x="1665986" y="2436495"/>
                  </a:lnTo>
                  <a:lnTo>
                    <a:pt x="1665986" y="0"/>
                  </a:lnTo>
                  <a:close/>
                </a:path>
              </a:pathLst>
            </a:custGeom>
            <a:blipFill rotWithShape="1">
              <a:blip r:embed="rId9"/>
              <a:stretch>
                <a:fillRect l="-33" t="0" r="-33" b="-1"/>
              </a:stretch>
            </a:blipFill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8128465" name="Freeform 2"/>
          <p:cNvSpPr/>
          <p:nvPr/>
        </p:nvSpPr>
        <p:spPr bwMode="auto">
          <a:xfrm rot="0" flipH="0" flipV="0">
            <a:off x="-145546" y="9875518"/>
            <a:ext cx="18579092" cy="411482"/>
          </a:xfrm>
          <a:custGeom>
            <a:avLst/>
            <a:gdLst/>
            <a:ahLst/>
            <a:cxnLst/>
            <a:rect l="l" t="t" r="r" b="b"/>
            <a:pathLst>
              <a:path w="18579092" h="411482" fill="norm" stroke="1" extrusionOk="0">
                <a:moveTo>
                  <a:pt x="0" y="0"/>
                </a:moveTo>
                <a:lnTo>
                  <a:pt x="18579092" y="0"/>
                </a:lnTo>
                <a:lnTo>
                  <a:pt x="18579092" y="411482"/>
                </a:lnTo>
                <a:lnTo>
                  <a:pt x="0" y="4114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 l="0" t="0" r="0" b="0"/>
            </a:stretch>
          </a:blipFill>
        </p:spPr>
      </p:sp>
      <p:grpSp>
        <p:nvGrpSpPr>
          <p:cNvPr id="1415758936" name="Group 3"/>
          <p:cNvGrpSpPr/>
          <p:nvPr/>
        </p:nvGrpSpPr>
        <p:grpSpPr bwMode="auto">
          <a:xfrm rot="0">
            <a:off x="7557049" y="193538"/>
            <a:ext cx="10730951" cy="9711271"/>
            <a:chOff x="0" y="0"/>
            <a:chExt cx="14307934" cy="12948361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14307947" cy="12948412"/>
            </a:xfrm>
            <a:custGeom>
              <a:avLst/>
              <a:gdLst/>
              <a:ahLst/>
              <a:cxnLst/>
              <a:rect l="l" t="t" r="r" b="b"/>
              <a:pathLst>
                <a:path w="14307947" h="12948412" fill="norm" stroke="1" extrusionOk="0">
                  <a:moveTo>
                    <a:pt x="0" y="0"/>
                  </a:moveTo>
                  <a:lnTo>
                    <a:pt x="14307947" y="0"/>
                  </a:lnTo>
                  <a:lnTo>
                    <a:pt x="14307947" y="12948412"/>
                  </a:lnTo>
                  <a:lnTo>
                    <a:pt x="0" y="1294841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id="420370681" name="Group 5"/>
          <p:cNvGrpSpPr/>
          <p:nvPr/>
        </p:nvGrpSpPr>
        <p:grpSpPr bwMode="auto">
          <a:xfrm rot="5400000">
            <a:off x="66146" y="-714146"/>
            <a:ext cx="6989568" cy="7992237"/>
            <a:chOff x="0" y="0"/>
            <a:chExt cx="9319424" cy="10656316"/>
          </a:xfrm>
        </p:grpSpPr>
        <p:sp>
          <p:nvSpPr>
            <p:cNvPr id="6" name="Freeform 6"/>
            <p:cNvSpPr/>
            <p:nvPr/>
          </p:nvSpPr>
          <p:spPr bwMode="auto">
            <a:xfrm rot="0" flipH="0" flipV="0">
              <a:off x="0" y="0"/>
              <a:ext cx="9319387" cy="10656316"/>
            </a:xfrm>
            <a:custGeom>
              <a:avLst/>
              <a:gdLst/>
              <a:ahLst/>
              <a:cxnLst/>
              <a:rect l="l" t="t" r="r" b="b"/>
              <a:pathLst>
                <a:path w="9319387" h="10656316" fill="norm" stroke="1" extrusionOk="0">
                  <a:moveTo>
                    <a:pt x="0" y="0"/>
                  </a:moveTo>
                  <a:lnTo>
                    <a:pt x="9319387" y="0"/>
                  </a:lnTo>
                  <a:lnTo>
                    <a:pt x="9319387" y="10656316"/>
                  </a:lnTo>
                  <a:lnTo>
                    <a:pt x="0" y="1065631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/>
              <a:stretch>
                <a:fillRect l="0" t="-23" r="0" b="-22"/>
              </a:stretch>
            </a:blipFill>
          </p:spPr>
        </p:sp>
      </p:grpSp>
      <p:sp>
        <p:nvSpPr>
          <p:cNvPr id="1934454333" name="TextBox 7"/>
          <p:cNvSpPr txBox="1"/>
          <p:nvPr/>
        </p:nvSpPr>
        <p:spPr bwMode="auto">
          <a:xfrm rot="0">
            <a:off x="154286" y="1394012"/>
            <a:ext cx="8226219" cy="1138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08"/>
              </a:lnSpc>
              <a:defRPr/>
            </a:pPr>
            <a:r>
              <a:rPr lang="en-US" sz="6900" b="1" spc="-425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100000">
                      <a:srgbClr val="CB6CE6">
                        <a:alpha val="100000"/>
                      </a:srgbClr>
                    </a:gs>
                  </a:gsLst>
                  <a:lin ang="0" scaled="1"/>
                </a:gradFill>
                <a:latin typeface="Arimo Bold"/>
                <a:ea typeface="Arimo Bold"/>
                <a:cs typeface="Arimo Bold"/>
              </a:rPr>
              <a:t>Matrice de Corrélation</a:t>
            </a:r>
            <a:endParaRPr/>
          </a:p>
        </p:txBody>
      </p:sp>
      <p:sp>
        <p:nvSpPr>
          <p:cNvPr id="2026230070" name="TextBox 8"/>
          <p:cNvSpPr txBox="1"/>
          <p:nvPr/>
        </p:nvSpPr>
        <p:spPr bwMode="auto">
          <a:xfrm rot="0">
            <a:off x="1157954" y="2791416"/>
            <a:ext cx="6134414" cy="4905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7"/>
              </a:lnSpc>
              <a:defRPr/>
            </a:pPr>
            <a:r>
              <a:rPr lang="en-US" sz="1500" b="1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</a:rPr>
              <a:t>CORRÉLATIONS AVEC LA VARIABLE CIBLE (SiteEnergyUse)</a:t>
            </a:r>
            <a:endParaRPr/>
          </a:p>
          <a:p>
            <a:pPr algn="l">
              <a:lnSpc>
                <a:spcPts val="1947"/>
              </a:lnSpc>
              <a:defRPr/>
            </a:pPr>
            <a:r>
              <a:rPr lang="en-US" sz="150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 Variables structurelles UNIQUEMENT - utilisables pour la prédiction</a:t>
            </a:r>
            <a:endParaRPr/>
          </a:p>
        </p:txBody>
      </p:sp>
      <p:sp>
        <p:nvSpPr>
          <p:cNvPr id="994263959" name="TextBox 9"/>
          <p:cNvSpPr txBox="1"/>
          <p:nvPr/>
        </p:nvSpPr>
        <p:spPr bwMode="auto">
          <a:xfrm rot="0">
            <a:off x="1241345" y="3500960"/>
            <a:ext cx="6138733" cy="42633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7"/>
              </a:lnSpc>
              <a:defRPr/>
            </a:pPr>
            <a:r>
              <a:rPr lang="en-US" sz="150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📈 </a:t>
            </a:r>
            <a:r>
              <a:rPr lang="en-US" sz="1500" u="sng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Top 10 des variables</a:t>
            </a:r>
            <a:endParaRPr/>
          </a:p>
          <a:p>
            <a:pPr algn="l">
              <a:lnSpc>
                <a:spcPts val="3162"/>
              </a:lnSpc>
              <a:defRPr/>
            </a:pPr>
            <a:r>
              <a:rPr lang="en-US" sz="150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    1.LargestPropertyUseTypeGFA                </a:t>
            </a:r>
            <a:r>
              <a:rPr lang="fr-FR" sz="150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  </a:t>
            </a:r>
            <a:r>
              <a:rPr lang="en-US" sz="150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: +0.642  MOYENNE   </a:t>
            </a:r>
            <a:endParaRPr/>
          </a:p>
          <a:p>
            <a:pPr algn="l">
              <a:lnSpc>
                <a:spcPts val="3162"/>
              </a:lnSpc>
              <a:defRPr/>
            </a:pPr>
            <a:r>
              <a:rPr lang="en-US" sz="150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    2. PropertyGFABuilding(s)                          : +0.587  MOYENNE   </a:t>
            </a:r>
            <a:endParaRPr/>
          </a:p>
          <a:p>
            <a:pPr algn="l">
              <a:lnSpc>
                <a:spcPts val="3162"/>
              </a:lnSpc>
              <a:defRPr/>
            </a:pPr>
            <a:r>
              <a:rPr lang="en-US" sz="150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    3. usable_area                                             : +0.587  MOYENNE   </a:t>
            </a:r>
            <a:endParaRPr/>
          </a:p>
          <a:p>
            <a:pPr algn="l">
              <a:lnSpc>
                <a:spcPts val="3162"/>
              </a:lnSpc>
              <a:defRPr/>
            </a:pPr>
            <a:r>
              <a:rPr lang="en-US" sz="150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    4. PropertyGFATotal                                    : +0.582  MOYENNE   </a:t>
            </a:r>
            <a:endParaRPr/>
          </a:p>
          <a:p>
            <a:pPr algn="l">
              <a:lnSpc>
                <a:spcPts val="3162"/>
              </a:lnSpc>
              <a:defRPr/>
            </a:pPr>
            <a:r>
              <a:rPr lang="en-US" sz="150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    5. NumberofFloors                                        </a:t>
            </a:r>
            <a:r>
              <a:rPr lang="fr-FR" sz="150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:</a:t>
            </a:r>
            <a:r>
              <a:rPr lang="en-US" sz="150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 +0.363 FAIBLE    </a:t>
            </a:r>
            <a:endParaRPr/>
          </a:p>
          <a:p>
            <a:pPr algn="l">
              <a:lnSpc>
                <a:spcPts val="3162"/>
              </a:lnSpc>
              <a:defRPr/>
            </a:pPr>
            <a:r>
              <a:rPr lang="en-US" sz="150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    6. third_use_ratio                                          : +0.297  FAIBLE    </a:t>
            </a:r>
            <a:endParaRPr/>
          </a:p>
          <a:p>
            <a:pPr algn="l">
              <a:lnSpc>
                <a:spcPts val="3162"/>
              </a:lnSpc>
              <a:defRPr/>
            </a:pPr>
            <a:r>
              <a:rPr lang="en-US" sz="150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    7. PropertyGFAParking                                : +0.296  FAIBLE    </a:t>
            </a:r>
            <a:endParaRPr/>
          </a:p>
          <a:p>
            <a:pPr algn="l">
              <a:lnSpc>
                <a:spcPts val="3162"/>
              </a:lnSpc>
              <a:defRPr/>
            </a:pPr>
            <a:r>
              <a:rPr lang="en-US" sz="150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    8. BuildingType_Campus                             : +0.295  FAIBLE    </a:t>
            </a:r>
            <a:endParaRPr/>
          </a:p>
          <a:p>
            <a:pPr algn="l">
              <a:lnSpc>
                <a:spcPts val="3162"/>
              </a:lnSpc>
              <a:defRPr/>
            </a:pPr>
            <a:r>
              <a:rPr lang="en-US" sz="150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    9. PrimaryPropertyType_4                           : +0.201  FAIBLE    </a:t>
            </a:r>
            <a:endParaRPr/>
          </a:p>
          <a:p>
            <a:pPr algn="l">
              <a:lnSpc>
                <a:spcPts val="3162"/>
              </a:lnSpc>
              <a:defRPr/>
            </a:pPr>
            <a:r>
              <a:rPr lang="en-US" sz="150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   10. second_use_ratio                                    : +0.193  FAIBLE   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9762955" name="Freeform 2"/>
          <p:cNvSpPr/>
          <p:nvPr/>
        </p:nvSpPr>
        <p:spPr bwMode="auto">
          <a:xfrm rot="0" flipH="0" flipV="0">
            <a:off x="-233548" y="9876793"/>
            <a:ext cx="18521548" cy="410207"/>
          </a:xfrm>
          <a:custGeom>
            <a:avLst/>
            <a:gdLst/>
            <a:ahLst/>
            <a:cxnLst/>
            <a:rect l="l" t="t" r="r" b="b"/>
            <a:pathLst>
              <a:path w="18521548" h="410207" fill="norm" stroke="1" extrusionOk="0">
                <a:moveTo>
                  <a:pt x="0" y="0"/>
                </a:moveTo>
                <a:lnTo>
                  <a:pt x="18521548" y="0"/>
                </a:lnTo>
                <a:lnTo>
                  <a:pt x="18521548" y="410207"/>
                </a:lnTo>
                <a:lnTo>
                  <a:pt x="0" y="4102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 l="0" t="0" r="0" b="0"/>
            </a:stretch>
          </a:blipFill>
        </p:spPr>
      </p:sp>
      <p:grpSp>
        <p:nvGrpSpPr>
          <p:cNvPr id="1828302305" name="Group 3"/>
          <p:cNvGrpSpPr/>
          <p:nvPr/>
        </p:nvGrpSpPr>
        <p:grpSpPr bwMode="auto">
          <a:xfrm rot="772019">
            <a:off x="9546203" y="4845672"/>
            <a:ext cx="651053" cy="245031"/>
            <a:chOff x="0" y="0"/>
            <a:chExt cx="868070" cy="326708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868045" cy="326771"/>
            </a:xfrm>
            <a:custGeom>
              <a:avLst/>
              <a:gdLst/>
              <a:ahLst/>
              <a:cxnLst/>
              <a:rect l="l" t="t" r="r" b="b"/>
              <a:pathLst>
                <a:path w="868045" h="326771" fill="norm" stroke="1" extrusionOk="0">
                  <a:moveTo>
                    <a:pt x="0" y="0"/>
                  </a:moveTo>
                  <a:lnTo>
                    <a:pt x="868045" y="0"/>
                  </a:lnTo>
                  <a:lnTo>
                    <a:pt x="868045" y="326771"/>
                  </a:lnTo>
                  <a:lnTo>
                    <a:pt x="0" y="32677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/>
              <a:stretch>
                <a:fillRect l="0" t="-2" r="-1" b="13"/>
              </a:stretch>
            </a:blipFill>
          </p:spPr>
        </p:sp>
      </p:grpSp>
      <p:grpSp>
        <p:nvGrpSpPr>
          <p:cNvPr id="1277079523" name="Group 5"/>
          <p:cNvGrpSpPr/>
          <p:nvPr/>
        </p:nvGrpSpPr>
        <p:grpSpPr bwMode="auto">
          <a:xfrm rot="5400000">
            <a:off x="501334" y="-501334"/>
            <a:ext cx="6989568" cy="7992237"/>
            <a:chOff x="0" y="0"/>
            <a:chExt cx="9319424" cy="10656316"/>
          </a:xfrm>
        </p:grpSpPr>
        <p:sp>
          <p:nvSpPr>
            <p:cNvPr id="6" name="Freeform 6"/>
            <p:cNvSpPr/>
            <p:nvPr/>
          </p:nvSpPr>
          <p:spPr bwMode="auto">
            <a:xfrm rot="0" flipH="0" flipV="0">
              <a:off x="0" y="0"/>
              <a:ext cx="9319387" cy="10656316"/>
            </a:xfrm>
            <a:custGeom>
              <a:avLst/>
              <a:gdLst/>
              <a:ahLst/>
              <a:cxnLst/>
              <a:rect l="l" t="t" r="r" b="b"/>
              <a:pathLst>
                <a:path w="9319387" h="10656316" fill="norm" stroke="1" extrusionOk="0">
                  <a:moveTo>
                    <a:pt x="0" y="0"/>
                  </a:moveTo>
                  <a:lnTo>
                    <a:pt x="9319387" y="0"/>
                  </a:lnTo>
                  <a:lnTo>
                    <a:pt x="9319387" y="10656316"/>
                  </a:lnTo>
                  <a:lnTo>
                    <a:pt x="0" y="1065631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/>
              <a:stretch>
                <a:fillRect l="0" t="-23" r="0" b="-22"/>
              </a:stretch>
            </a:blipFill>
          </p:spPr>
        </p:sp>
      </p:grpSp>
      <p:grpSp>
        <p:nvGrpSpPr>
          <p:cNvPr id="1790611279" name="Group 7"/>
          <p:cNvGrpSpPr/>
          <p:nvPr/>
        </p:nvGrpSpPr>
        <p:grpSpPr bwMode="auto">
          <a:xfrm rot="0">
            <a:off x="2563816" y="2982077"/>
            <a:ext cx="400822" cy="405984"/>
            <a:chOff x="0" y="0"/>
            <a:chExt cx="534429" cy="541312"/>
          </a:xfrm>
        </p:grpSpPr>
        <p:sp>
          <p:nvSpPr>
            <p:cNvPr id="8" name="Freeform 8"/>
            <p:cNvSpPr/>
            <p:nvPr/>
          </p:nvSpPr>
          <p:spPr bwMode="auto">
            <a:xfrm rot="0" flipH="0" flipV="0">
              <a:off x="0" y="0"/>
              <a:ext cx="534416" cy="541274"/>
            </a:xfrm>
            <a:custGeom>
              <a:avLst/>
              <a:gdLst/>
              <a:ahLst/>
              <a:cxnLst/>
              <a:rect l="l" t="t" r="r" b="b"/>
              <a:pathLst>
                <a:path w="534416" h="541274" fill="norm" stroke="1" extrusionOk="0">
                  <a:moveTo>
                    <a:pt x="0" y="0"/>
                  </a:moveTo>
                  <a:lnTo>
                    <a:pt x="534416" y="0"/>
                  </a:lnTo>
                  <a:lnTo>
                    <a:pt x="534416" y="541274"/>
                  </a:lnTo>
                  <a:lnTo>
                    <a:pt x="0" y="54127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/>
              <a:stretch>
                <a:fillRect l="0" t="-11" r="-1" b="-18"/>
              </a:stretch>
            </a:blipFill>
          </p:spPr>
        </p:sp>
      </p:grpSp>
      <p:grpSp>
        <p:nvGrpSpPr>
          <p:cNvPr id="1049339960" name="Group 9"/>
          <p:cNvGrpSpPr/>
          <p:nvPr/>
        </p:nvGrpSpPr>
        <p:grpSpPr bwMode="auto">
          <a:xfrm rot="0">
            <a:off x="2734504" y="7885576"/>
            <a:ext cx="455924" cy="463506"/>
            <a:chOff x="0" y="0"/>
            <a:chExt cx="607898" cy="618007"/>
          </a:xfrm>
        </p:grpSpPr>
        <p:sp>
          <p:nvSpPr>
            <p:cNvPr id="10" name="Freeform 10"/>
            <p:cNvSpPr/>
            <p:nvPr/>
          </p:nvSpPr>
          <p:spPr bwMode="auto">
            <a:xfrm rot="0" flipH="0" flipV="0">
              <a:off x="0" y="0"/>
              <a:ext cx="607949" cy="617982"/>
            </a:xfrm>
            <a:custGeom>
              <a:avLst/>
              <a:gdLst/>
              <a:ahLst/>
              <a:cxnLst/>
              <a:rect l="l" t="t" r="r" b="b"/>
              <a:pathLst>
                <a:path w="607949" h="617982" fill="norm" stroke="1" extrusionOk="0">
                  <a:moveTo>
                    <a:pt x="0" y="0"/>
                  </a:moveTo>
                  <a:lnTo>
                    <a:pt x="607949" y="0"/>
                  </a:lnTo>
                  <a:lnTo>
                    <a:pt x="607949" y="617982"/>
                  </a:lnTo>
                  <a:lnTo>
                    <a:pt x="0" y="61798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/>
              <a:stretch>
                <a:fillRect l="0" t="-34" r="7" b="-40"/>
              </a:stretch>
            </a:blipFill>
          </p:spPr>
        </p:sp>
      </p:grpSp>
      <p:sp>
        <p:nvSpPr>
          <p:cNvPr id="457762173" name="TextBox 11"/>
          <p:cNvSpPr txBox="1"/>
          <p:nvPr/>
        </p:nvSpPr>
        <p:spPr bwMode="auto">
          <a:xfrm rot="0">
            <a:off x="1698687" y="693600"/>
            <a:ext cx="16212057" cy="1096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33"/>
              </a:lnSpc>
              <a:defRPr/>
            </a:pPr>
            <a:r>
              <a:rPr lang="en-US" sz="6000" spc="-431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100000">
                      <a:srgbClr val="CB6CE6">
                        <a:alpha val="100000"/>
                      </a:srgbClr>
                    </a:gs>
                  </a:gsLst>
                  <a:lin ang="0" scaled="1"/>
                </a:gradFill>
                <a:latin typeface="Arimo"/>
                <a:ea typeface="Arimo"/>
                <a:cs typeface="Arimo"/>
              </a:rPr>
              <a:t>Sélection des Features pour entrainer le</a:t>
            </a:r>
            <a:r>
              <a:rPr lang="fr-FR" sz="6000" spc="-430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100000">
                      <a:srgbClr val="CB6CE6">
                        <a:alpha val="100000"/>
                      </a:srgbClr>
                    </a:gs>
                  </a:gsLst>
                  <a:lin ang="0" scaled="1"/>
                </a:gradFill>
                <a:latin typeface="Arimo"/>
                <a:ea typeface="Arimo"/>
                <a:cs typeface="Arimo"/>
              </a:rPr>
              <a:t>s</a:t>
            </a:r>
            <a:r>
              <a:rPr lang="en-US" sz="6000" spc="-430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100000">
                      <a:srgbClr val="CB6CE6">
                        <a:alpha val="100000"/>
                      </a:srgbClr>
                    </a:gs>
                  </a:gsLst>
                  <a:lin ang="0" scaled="1"/>
                </a:gradFill>
                <a:latin typeface="Arimo"/>
                <a:ea typeface="Arimo"/>
                <a:cs typeface="Arimo"/>
              </a:rPr>
              <a:t> modèle</a:t>
            </a:r>
            <a:r>
              <a:rPr lang="fr-FR" sz="6000" spc="-430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100000">
                      <a:srgbClr val="CB6CE6">
                        <a:alpha val="100000"/>
                      </a:srgbClr>
                    </a:gs>
                  </a:gsLst>
                  <a:lin ang="0" scaled="1"/>
                </a:gradFill>
                <a:latin typeface="Arimo"/>
                <a:ea typeface="Arimo"/>
                <a:cs typeface="Arimo"/>
              </a:rPr>
              <a:t>s</a:t>
            </a:r>
            <a:endParaRPr sz="6000"/>
          </a:p>
        </p:txBody>
      </p:sp>
      <p:grpSp>
        <p:nvGrpSpPr>
          <p:cNvPr id="846767048" name="Group 12"/>
          <p:cNvGrpSpPr/>
          <p:nvPr/>
        </p:nvGrpSpPr>
        <p:grpSpPr bwMode="auto">
          <a:xfrm rot="0">
            <a:off x="2563816" y="2143049"/>
            <a:ext cx="434988" cy="438979"/>
            <a:chOff x="0" y="0"/>
            <a:chExt cx="579984" cy="585305"/>
          </a:xfrm>
        </p:grpSpPr>
        <p:sp>
          <p:nvSpPr>
            <p:cNvPr id="13" name="Freeform 13"/>
            <p:cNvSpPr/>
            <p:nvPr/>
          </p:nvSpPr>
          <p:spPr bwMode="auto">
            <a:xfrm rot="0" flipH="0" flipV="0">
              <a:off x="0" y="0"/>
              <a:ext cx="580009" cy="585343"/>
            </a:xfrm>
            <a:custGeom>
              <a:avLst/>
              <a:gdLst/>
              <a:ahLst/>
              <a:cxnLst/>
              <a:rect l="l" t="t" r="r" b="b"/>
              <a:pathLst>
                <a:path w="580009" h="585343" fill="norm" stroke="1" extrusionOk="0">
                  <a:moveTo>
                    <a:pt x="0" y="0"/>
                  </a:moveTo>
                  <a:lnTo>
                    <a:pt x="580009" y="0"/>
                  </a:lnTo>
                  <a:lnTo>
                    <a:pt x="580009" y="585343"/>
                  </a:lnTo>
                  <a:lnTo>
                    <a:pt x="0" y="5853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/>
              <a:stretch>
                <a:fillRect l="0" t="-1" r="4" b="4"/>
              </a:stretch>
            </a:blipFill>
          </p:spPr>
        </p:sp>
      </p:grpSp>
      <p:sp>
        <p:nvSpPr>
          <p:cNvPr id="777871916" name="TextBox 14"/>
          <p:cNvSpPr txBox="1"/>
          <p:nvPr/>
        </p:nvSpPr>
        <p:spPr bwMode="auto">
          <a:xfrm rot="0">
            <a:off x="3097396" y="2292943"/>
            <a:ext cx="10279099" cy="297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  <a:defRPr/>
            </a:pPr>
            <a:r>
              <a:rPr lang="en-US" sz="18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Nouvelle dimension du Dataset : 1601 lignes et 6</a:t>
            </a:r>
            <a:r>
              <a:rPr lang="fr-FR" sz="18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5</a:t>
            </a:r>
            <a:r>
              <a:rPr lang="en-US" sz="18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colonnes</a:t>
            </a:r>
            <a:endParaRPr/>
          </a:p>
        </p:txBody>
      </p:sp>
      <p:sp>
        <p:nvSpPr>
          <p:cNvPr id="998503996" name="TextBox 15"/>
          <p:cNvSpPr txBox="1"/>
          <p:nvPr/>
        </p:nvSpPr>
        <p:spPr bwMode="auto">
          <a:xfrm rot="0">
            <a:off x="3323473" y="7987179"/>
            <a:ext cx="4810373" cy="8713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29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</a:rPr>
              <a:t>Split effectué</a:t>
            </a:r>
            <a:endParaRPr/>
          </a:p>
          <a:p>
            <a:pPr algn="l">
              <a:lnSpc>
                <a:spcPts val="2229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</a:rPr>
              <a:t>📊 Ensemble d'entraînement : 1280 lignes</a:t>
            </a:r>
            <a:endParaRPr/>
          </a:p>
          <a:p>
            <a:pPr algn="l">
              <a:lnSpc>
                <a:spcPts val="2229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</a:rPr>
              <a:t>📊 Ensemble de test : 321 lignes</a:t>
            </a:r>
            <a:endParaRPr/>
          </a:p>
        </p:txBody>
      </p:sp>
      <p:sp>
        <p:nvSpPr>
          <p:cNvPr id="834289559" name="TextBox 16"/>
          <p:cNvSpPr txBox="1"/>
          <p:nvPr/>
        </p:nvSpPr>
        <p:spPr bwMode="auto">
          <a:xfrm rot="0">
            <a:off x="3063220" y="2965254"/>
            <a:ext cx="12669765" cy="569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  <a:defRPr/>
            </a:pPr>
            <a:r>
              <a:rPr lang="fr-FR" sz="1600" b="0" i="0" u="none" strike="noStrike" cap="none" spc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Un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modèle</a:t>
            </a:r>
            <a:r>
              <a:rPr lang="fr-FR" sz="1600" b="0" i="0" u="none" strike="noStrike" cap="none" spc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SVR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est entraîné sur 5 features</a:t>
            </a:r>
            <a:r>
              <a:rPr lang="fr-FR" sz="1600" b="0" i="0" u="none" strike="noStrike" cap="none" spc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p</a:t>
            </a: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our déterminer les meilleurs hyperparamètres </a:t>
            </a:r>
            <a:r>
              <a:rPr lang="fr-FR" sz="16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via le</a:t>
            </a:r>
            <a:r>
              <a:rPr lang="fr-FR" sz="16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GridSearchCV</a:t>
            </a:r>
            <a:r>
              <a:rPr lang="fr-FR" sz="16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.</a:t>
            </a: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</a:t>
            </a:r>
            <a:endParaRPr lang="fr-FR" sz="160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algn="l">
              <a:lnSpc>
                <a:spcPts val="2238"/>
              </a:lnSpc>
              <a:defRPr/>
            </a:pPr>
            <a:r>
              <a:rPr lang="fr-FR" sz="16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les autres modèle seront entrainé sur 41 features </a:t>
            </a:r>
            <a:endParaRPr/>
          </a:p>
        </p:txBody>
      </p:sp>
      <p:grpSp>
        <p:nvGrpSpPr>
          <p:cNvPr id="1482124206" name="Group 17"/>
          <p:cNvGrpSpPr/>
          <p:nvPr/>
        </p:nvGrpSpPr>
        <p:grpSpPr bwMode="auto">
          <a:xfrm rot="772019">
            <a:off x="3207495" y="4987623"/>
            <a:ext cx="581816" cy="218969"/>
            <a:chOff x="0" y="0"/>
            <a:chExt cx="775754" cy="291960"/>
          </a:xfrm>
        </p:grpSpPr>
        <p:sp>
          <p:nvSpPr>
            <p:cNvPr id="18" name="Freeform 18"/>
            <p:cNvSpPr/>
            <p:nvPr/>
          </p:nvSpPr>
          <p:spPr bwMode="auto">
            <a:xfrm rot="0" flipH="0" flipV="0">
              <a:off x="0" y="0"/>
              <a:ext cx="775716" cy="291973"/>
            </a:xfrm>
            <a:custGeom>
              <a:avLst/>
              <a:gdLst/>
              <a:ahLst/>
              <a:cxnLst/>
              <a:rect l="l" t="t" r="r" b="b"/>
              <a:pathLst>
                <a:path w="775716" h="291973" fill="norm" stroke="1" extrusionOk="0">
                  <a:moveTo>
                    <a:pt x="0" y="0"/>
                  </a:moveTo>
                  <a:lnTo>
                    <a:pt x="775716" y="0"/>
                  </a:lnTo>
                  <a:lnTo>
                    <a:pt x="775716" y="291973"/>
                  </a:lnTo>
                  <a:lnTo>
                    <a:pt x="0" y="29197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/>
              <a:stretch>
                <a:fillRect l="0" t="-2" r="-4" b="1"/>
              </a:stretch>
            </a:blipFill>
          </p:spPr>
        </p:sp>
      </p:grpSp>
      <p:sp>
        <p:nvSpPr>
          <p:cNvPr id="997743222" name="TextBox 19"/>
          <p:cNvSpPr txBox="1"/>
          <p:nvPr/>
        </p:nvSpPr>
        <p:spPr bwMode="auto">
          <a:xfrm rot="0">
            <a:off x="3806390" y="5363585"/>
            <a:ext cx="5793534" cy="12988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65760" lvl="2" indent="-121920" algn="l">
              <a:lnSpc>
                <a:spcPts val="2080"/>
              </a:lnSpc>
              <a:buAutoNum type="arabicPeriod" startAt="1"/>
              <a:defRPr/>
            </a:pPr>
            <a:r>
              <a:rPr lang="en-US" sz="160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LargestPropertyUseTypeGFA - Surface du principal usage</a:t>
            </a:r>
            <a:endParaRPr/>
          </a:p>
          <a:p>
            <a:pPr marL="365760" lvl="2" indent="-121920" algn="l">
              <a:lnSpc>
                <a:spcPts val="2080"/>
              </a:lnSpc>
              <a:buAutoNum type="arabicPeriod" startAt="1"/>
              <a:defRPr/>
            </a:pPr>
            <a:r>
              <a:rPr lang="en-US" sz="160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PropertyGFATotal - Surface totale du bâtiment</a:t>
            </a:r>
            <a:endParaRPr/>
          </a:p>
          <a:p>
            <a:pPr marL="365760" lvl="2" indent="-121920" algn="l">
              <a:lnSpc>
                <a:spcPts val="2080"/>
              </a:lnSpc>
              <a:buAutoNum type="arabicPeriod" startAt="1"/>
              <a:defRPr/>
            </a:pPr>
            <a:r>
              <a:rPr lang="en-US" sz="160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PropertyGFABuilding(s) - Surface des bâtiments</a:t>
            </a:r>
            <a:endParaRPr/>
          </a:p>
          <a:p>
            <a:pPr marL="365760" lvl="2" indent="-121920" algn="l">
              <a:lnSpc>
                <a:spcPts val="2080"/>
              </a:lnSpc>
              <a:buAutoNum type="arabicPeriod" startAt="1"/>
              <a:defRPr/>
            </a:pPr>
            <a:r>
              <a:rPr lang="en-US" sz="160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main_use_ratio - Ratio d'utilisation principale (feature engineeré)</a:t>
            </a:r>
            <a:endParaRPr/>
          </a:p>
          <a:p>
            <a:pPr marL="365760" lvl="2" indent="-121920" algn="l">
              <a:lnSpc>
                <a:spcPts val="2080"/>
              </a:lnSpc>
              <a:buAutoNum type="arabicPeriod" startAt="1"/>
              <a:defRPr/>
            </a:pPr>
            <a:r>
              <a:rPr lang="en-US" sz="160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NumberofFloors - Nombres d'étages</a:t>
            </a:r>
            <a:endParaRPr/>
          </a:p>
        </p:txBody>
      </p:sp>
      <p:sp>
        <p:nvSpPr>
          <p:cNvPr id="829550726" name="TextBox 20"/>
          <p:cNvSpPr txBox="1"/>
          <p:nvPr/>
        </p:nvSpPr>
        <p:spPr bwMode="auto">
          <a:xfrm rot="0" flipH="0" flipV="0">
            <a:off x="3806389" y="4983041"/>
            <a:ext cx="4783629" cy="284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</a:rPr>
              <a:t> </a:t>
            </a:r>
            <a:r>
              <a:rPr lang="fr-FR" sz="16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</a:rPr>
              <a:t> 5 </a:t>
            </a:r>
            <a:r>
              <a:rPr lang="en-US" sz="16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</a:rPr>
              <a:t>features</a:t>
            </a:r>
            <a:r>
              <a:rPr lang="fr-FR" sz="16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</a:rPr>
              <a:t> </a:t>
            </a:r>
            <a:r>
              <a:rPr lang="en-US" sz="16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</a:rPr>
              <a:t>s</a:t>
            </a:r>
            <a:r>
              <a:rPr lang="fr-FR" sz="16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</a:rPr>
              <a:t>é</a:t>
            </a:r>
            <a:r>
              <a:rPr lang="en-US" sz="16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</a:rPr>
              <a:t>lectionn</a:t>
            </a:r>
            <a:r>
              <a:rPr lang="fr-FR" sz="16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</a:rPr>
              <a:t>é</a:t>
            </a:r>
            <a:r>
              <a:rPr lang="en-US" sz="16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</a:rPr>
              <a:t>es</a:t>
            </a:r>
            <a:r>
              <a:rPr lang="fr-FR" sz="16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</a:rPr>
              <a:t> pour modèle </a:t>
            </a:r>
            <a:r>
              <a:rPr lang="en-US" sz="16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</a:rPr>
              <a:t>SVR </a:t>
            </a:r>
            <a:endParaRPr/>
          </a:p>
        </p:txBody>
      </p:sp>
      <p:sp>
        <p:nvSpPr>
          <p:cNvPr id="483105666" name="TextBox 21"/>
          <p:cNvSpPr txBox="1"/>
          <p:nvPr/>
        </p:nvSpPr>
        <p:spPr bwMode="auto">
          <a:xfrm rot="0" flipH="0" flipV="0">
            <a:off x="10327728" y="4834908"/>
            <a:ext cx="6370347" cy="323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47"/>
              </a:lnSpc>
              <a:defRPr/>
            </a:pPr>
            <a:r>
              <a:rPr lang="en-US" sz="18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</a:rPr>
              <a:t> </a:t>
            </a:r>
            <a:r>
              <a:rPr lang="fr-FR" sz="18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</a:rPr>
              <a:t>41 </a:t>
            </a:r>
            <a:r>
              <a:rPr lang="en-US" sz="18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</a:rPr>
              <a:t>features</a:t>
            </a:r>
            <a:r>
              <a:rPr lang="fr-FR" sz="18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</a:rPr>
              <a:t> </a:t>
            </a:r>
            <a:r>
              <a:rPr lang="en-US" sz="18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</a:rPr>
              <a:t>s</a:t>
            </a:r>
            <a:r>
              <a:rPr lang="fr-FR" sz="18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</a:rPr>
              <a:t>é</a:t>
            </a:r>
            <a:r>
              <a:rPr lang="en-US" sz="18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</a:rPr>
              <a:t>lectionn</a:t>
            </a:r>
            <a:r>
              <a:rPr lang="fr-FR" sz="18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</a:rPr>
              <a:t>é</a:t>
            </a:r>
            <a:r>
              <a:rPr lang="en-US" sz="18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</a:rPr>
              <a:t>es</a:t>
            </a:r>
            <a:r>
              <a:rPr lang="fr-FR" sz="18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</a:rPr>
              <a:t> pour autres modèles</a:t>
            </a:r>
            <a:endParaRPr/>
          </a:p>
        </p:txBody>
      </p:sp>
      <p:sp>
        <p:nvSpPr>
          <p:cNvPr id="503271206" name="TextBox 22"/>
          <p:cNvSpPr txBox="1"/>
          <p:nvPr/>
        </p:nvSpPr>
        <p:spPr bwMode="auto">
          <a:xfrm rot="0" flipH="0" flipV="0">
            <a:off x="13311572" y="5363584"/>
            <a:ext cx="3664731" cy="40719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3995" lvl="2" indent="-94665" algn="l">
              <a:lnSpc>
                <a:spcPts val="1603"/>
              </a:lnSpc>
              <a:buAutoNum type="arabicPeriod" startAt="1"/>
              <a:defRPr/>
            </a:pPr>
            <a:r>
              <a:rPr lang="en-US" sz="125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'PropertyGFATotal_log',              </a:t>
            </a:r>
            <a:endParaRPr/>
          </a:p>
          <a:p>
            <a:pPr marL="283995" lvl="2" indent="-94665" algn="l">
              <a:lnSpc>
                <a:spcPts val="1603"/>
              </a:lnSpc>
              <a:buAutoNum type="arabicPeriod" startAt="1"/>
              <a:defRPr/>
            </a:pPr>
            <a:r>
              <a:rPr lang="en-US" sz="125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    'PropertyGFABuilding(s)_log',        </a:t>
            </a:r>
            <a:endParaRPr/>
          </a:p>
          <a:p>
            <a:pPr marL="283995" lvl="2" indent="-94665" algn="l">
              <a:lnSpc>
                <a:spcPts val="1603"/>
              </a:lnSpc>
              <a:buAutoNum type="arabicPeriod" startAt="1"/>
              <a:defRPr/>
            </a:pPr>
            <a:r>
              <a:rPr lang="en-US" sz="125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    'PropertyGFAParking',            </a:t>
            </a:r>
            <a:endParaRPr/>
          </a:p>
          <a:p>
            <a:pPr marL="283995" lvl="2" indent="-94665" algn="l">
              <a:lnSpc>
                <a:spcPts val="1603"/>
              </a:lnSpc>
              <a:buAutoNum type="arabicPeriod" startAt="1"/>
              <a:defRPr/>
            </a:pPr>
            <a:r>
              <a:rPr lang="en-US" sz="125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    'LargestPropertyUseTypeGFA_log',     </a:t>
            </a:r>
            <a:endParaRPr/>
          </a:p>
          <a:p>
            <a:pPr marL="283995" lvl="2" indent="-94665" algn="l">
              <a:lnSpc>
                <a:spcPts val="1603"/>
              </a:lnSpc>
              <a:buAutoNum type="arabicPeriod" startAt="1"/>
              <a:defRPr/>
            </a:pPr>
            <a:r>
              <a:rPr lang="en-US" sz="125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    'SecondLargestPropertyUseTypeGFA', </a:t>
            </a:r>
            <a:endParaRPr/>
          </a:p>
          <a:p>
            <a:pPr marL="283995" lvl="2" indent="-94665" algn="l">
              <a:lnSpc>
                <a:spcPts val="1603"/>
              </a:lnSpc>
              <a:buAutoNum type="arabicPeriod" startAt="1"/>
              <a:defRPr/>
            </a:pPr>
            <a:r>
              <a:rPr lang="en-US" sz="125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    'ThirdLargestPropertyUseTypeGFA',  </a:t>
            </a:r>
            <a:endParaRPr/>
          </a:p>
          <a:p>
            <a:pPr marL="283995" lvl="2" indent="-94665" algn="l">
              <a:lnSpc>
                <a:spcPts val="1603"/>
              </a:lnSpc>
              <a:buAutoNum type="arabicPeriod" startAt="1"/>
              <a:defRPr/>
            </a:pPr>
            <a:r>
              <a:rPr lang="en-US" sz="125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    'SecondLargestPropertyUseType_1',</a:t>
            </a:r>
            <a:endParaRPr/>
          </a:p>
          <a:p>
            <a:pPr marL="283995" lvl="2" indent="-94665" algn="l">
              <a:lnSpc>
                <a:spcPts val="1603"/>
              </a:lnSpc>
              <a:buAutoNum type="arabicPeriod" startAt="1"/>
              <a:defRPr/>
            </a:pPr>
            <a:r>
              <a:rPr lang="en-US" sz="125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    'SecondLargestPropertyUseType_2', </a:t>
            </a:r>
            <a:endParaRPr/>
          </a:p>
          <a:p>
            <a:pPr marL="283995" lvl="2" indent="-94665" algn="l">
              <a:lnSpc>
                <a:spcPts val="1603"/>
              </a:lnSpc>
              <a:buAutoNum type="arabicPeriod" startAt="1"/>
              <a:defRPr/>
            </a:pPr>
            <a:r>
              <a:rPr lang="en-US" sz="125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    'SecondLargestPropertyUseType_3',</a:t>
            </a:r>
            <a:endParaRPr/>
          </a:p>
          <a:p>
            <a:pPr marL="283995" lvl="2" indent="-94665" algn="l">
              <a:lnSpc>
                <a:spcPts val="1603"/>
              </a:lnSpc>
              <a:buAutoNum type="arabicPeriod" startAt="1"/>
              <a:defRPr/>
            </a:pPr>
            <a:r>
              <a:rPr lang="en-US" sz="125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    'SecondLargestPropertyUseType_4',</a:t>
            </a:r>
            <a:endParaRPr/>
          </a:p>
          <a:p>
            <a:pPr marL="283995" lvl="2" indent="-94665" algn="l">
              <a:lnSpc>
                <a:spcPts val="1603"/>
              </a:lnSpc>
              <a:buAutoNum type="arabicPeriod" startAt="1"/>
              <a:defRPr/>
            </a:pPr>
            <a:r>
              <a:rPr lang="en-US" sz="125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    'ThirdLargestPropertyUseType_0', </a:t>
            </a:r>
            <a:endParaRPr/>
          </a:p>
          <a:p>
            <a:pPr marL="283995" lvl="2" indent="-94665" algn="l">
              <a:lnSpc>
                <a:spcPts val="1603"/>
              </a:lnSpc>
              <a:buAutoNum type="arabicPeriod" startAt="1"/>
              <a:defRPr/>
            </a:pPr>
            <a:r>
              <a:rPr lang="en-US" sz="125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    'ThirdLargestPropertyUseType_1', </a:t>
            </a:r>
            <a:endParaRPr/>
          </a:p>
          <a:p>
            <a:pPr marL="283995" lvl="2" indent="-94665" algn="l">
              <a:lnSpc>
                <a:spcPts val="1603"/>
              </a:lnSpc>
              <a:buAutoNum type="arabicPeriod" startAt="1"/>
              <a:defRPr/>
            </a:pPr>
            <a:r>
              <a:rPr lang="en-US" sz="125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    'ThirdLargestPropertyUseType_2', </a:t>
            </a:r>
            <a:endParaRPr/>
          </a:p>
          <a:p>
            <a:pPr marL="283995" lvl="2" indent="-94665" algn="l">
              <a:lnSpc>
                <a:spcPts val="1603"/>
              </a:lnSpc>
              <a:buAutoNum type="arabicPeriod" startAt="1"/>
              <a:defRPr/>
            </a:pPr>
            <a:r>
              <a:rPr lang="en-US" sz="125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    'ThirdLargestPropertyUseType_3', </a:t>
            </a:r>
            <a:endParaRPr/>
          </a:p>
          <a:p>
            <a:pPr marL="283995" lvl="2" indent="-94665" algn="l">
              <a:lnSpc>
                <a:spcPts val="1603"/>
              </a:lnSpc>
              <a:buAutoNum type="arabicPeriod" startAt="1"/>
              <a:defRPr/>
            </a:pPr>
            <a:r>
              <a:rPr lang="en-US" sz="125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    'ThirdLargestPropertyUseType_4', </a:t>
            </a:r>
            <a:endParaRPr/>
          </a:p>
          <a:p>
            <a:pPr marL="283995" lvl="2" indent="-94665" algn="l">
              <a:lnSpc>
                <a:spcPts val="1603"/>
              </a:lnSpc>
              <a:buAutoNum type="arabicPeriod" startAt="1"/>
              <a:defRPr/>
            </a:pPr>
            <a:r>
              <a:rPr lang="en-US" sz="125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    'ThirdLargestPropertyUseType_5'</a:t>
            </a:r>
            <a:endParaRPr/>
          </a:p>
          <a:p>
            <a:pPr marL="283995" lvl="2" indent="-94665" algn="l">
              <a:lnSpc>
                <a:spcPts val="1603"/>
              </a:lnSpc>
              <a:buAutoNum type="arabicPeriod" startAt="1"/>
              <a:defRPr/>
            </a:pPr>
            <a:r>
              <a:rPr lang="en-US" sz="125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    'NumberofFloors',         </a:t>
            </a:r>
            <a:endParaRPr/>
          </a:p>
          <a:p>
            <a:pPr marL="283995" lvl="2" indent="-94665" algn="l">
              <a:lnSpc>
                <a:spcPts val="1603"/>
              </a:lnSpc>
              <a:buAutoNum type="arabicPeriod" startAt="1"/>
              <a:defRPr/>
            </a:pPr>
            <a:r>
              <a:rPr lang="en-US" sz="125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    'NumberofBuildings',           </a:t>
            </a:r>
            <a:endParaRPr/>
          </a:p>
          <a:p>
            <a:pPr marL="283995" lvl="2" indent="-94665" algn="l">
              <a:lnSpc>
                <a:spcPts val="1603"/>
              </a:lnSpc>
              <a:buAutoNum type="arabicPeriod" startAt="1"/>
              <a:defRPr/>
            </a:pPr>
            <a:r>
              <a:rPr lang="en-US" sz="125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    'Latitude',                      </a:t>
            </a:r>
            <a:endParaRPr/>
          </a:p>
          <a:p>
            <a:pPr marL="283995" lvl="2" indent="-94665" algn="l">
              <a:lnSpc>
                <a:spcPts val="1603"/>
              </a:lnSpc>
              <a:buAutoNum type="arabicPeriod" startAt="1"/>
              <a:defRPr/>
            </a:pPr>
            <a:r>
              <a:rPr lang="en-US" sz="125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    'Longitude',                  </a:t>
            </a:r>
            <a:endParaRPr/>
          </a:p>
        </p:txBody>
      </p:sp>
      <p:sp>
        <p:nvSpPr>
          <p:cNvPr id="1469518562" name="TextBox 23"/>
          <p:cNvSpPr txBox="1"/>
          <p:nvPr/>
        </p:nvSpPr>
        <p:spPr bwMode="auto">
          <a:xfrm rot="0">
            <a:off x="9937922" y="5268629"/>
            <a:ext cx="3373650" cy="42201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3995" lvl="2" indent="-94665" algn="l">
              <a:lnSpc>
                <a:spcPts val="1603"/>
              </a:lnSpc>
              <a:buAutoNum type="arabicPeriod" startAt="1"/>
              <a:defRPr/>
            </a:pPr>
            <a:r>
              <a:rPr lang="en-US" sz="125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'    'BuildingType_Campus',                            </a:t>
            </a:r>
            <a:endParaRPr/>
          </a:p>
          <a:p>
            <a:pPr marL="283995" lvl="2" indent="-94665" algn="l">
              <a:lnSpc>
                <a:spcPts val="1603"/>
              </a:lnSpc>
              <a:buAutoNum type="arabicPeriod" startAt="1"/>
              <a:defRPr/>
            </a:pPr>
            <a:r>
              <a:rPr lang="en-US" sz="125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    'BuildingType_NonResidential',                   </a:t>
            </a:r>
            <a:endParaRPr/>
          </a:p>
          <a:p>
            <a:pPr marL="283995" lvl="2" indent="-94665" algn="l">
              <a:lnSpc>
                <a:spcPts val="1603"/>
              </a:lnSpc>
              <a:buAutoNum type="arabicPeriod" startAt="1"/>
              <a:defRPr/>
            </a:pPr>
            <a:r>
              <a:rPr lang="en-US" sz="125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    'BuildingType_Nonresidential COS',                </a:t>
            </a:r>
            <a:endParaRPr/>
          </a:p>
          <a:p>
            <a:pPr marL="283995" lvl="2" indent="-94665" algn="l">
              <a:lnSpc>
                <a:spcPts val="1603"/>
              </a:lnSpc>
              <a:buAutoNum type="arabicPeriod" startAt="1"/>
              <a:defRPr/>
            </a:pPr>
            <a:r>
              <a:rPr lang="en-US" sz="125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    'BuildingType_Nonresidential WA',                 </a:t>
            </a:r>
            <a:endParaRPr/>
          </a:p>
          <a:p>
            <a:pPr marL="283995" lvl="2" indent="-94665" algn="l">
              <a:lnSpc>
                <a:spcPts val="1603"/>
              </a:lnSpc>
              <a:buAutoNum type="arabicPeriod" startAt="1"/>
              <a:defRPr/>
            </a:pPr>
            <a:r>
              <a:rPr lang="en-US" sz="125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    'BuildingType_SPS-District K-12', </a:t>
            </a:r>
            <a:endParaRPr/>
          </a:p>
          <a:p>
            <a:pPr marL="283995" lvl="2" indent="-94665" algn="l">
              <a:lnSpc>
                <a:spcPts val="1603"/>
              </a:lnSpc>
              <a:buAutoNum type="arabicPeriod" startAt="1"/>
              <a:defRPr/>
            </a:pPr>
            <a:r>
              <a:rPr lang="en-US" sz="125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    'PrimaryPropertyType_0',</a:t>
            </a:r>
            <a:endParaRPr/>
          </a:p>
          <a:p>
            <a:pPr marL="283995" lvl="2" indent="-94665" algn="l">
              <a:lnSpc>
                <a:spcPts val="1603"/>
              </a:lnSpc>
              <a:buAutoNum type="arabicPeriod" startAt="1"/>
              <a:defRPr/>
            </a:pPr>
            <a:r>
              <a:rPr lang="en-US" sz="125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    'PrimaryPropertyType_1',</a:t>
            </a:r>
            <a:endParaRPr/>
          </a:p>
          <a:p>
            <a:pPr marL="283995" lvl="2" indent="-94665" algn="l">
              <a:lnSpc>
                <a:spcPts val="1603"/>
              </a:lnSpc>
              <a:buAutoNum type="arabicPeriod" startAt="1"/>
              <a:defRPr/>
            </a:pPr>
            <a:r>
              <a:rPr lang="en-US" sz="125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    'PrimaryPropertyType_2',</a:t>
            </a:r>
            <a:endParaRPr/>
          </a:p>
          <a:p>
            <a:pPr marL="283995" lvl="2" indent="-94665" algn="l">
              <a:lnSpc>
                <a:spcPts val="1603"/>
              </a:lnSpc>
              <a:buAutoNum type="arabicPeriod" startAt="1"/>
              <a:defRPr/>
            </a:pPr>
            <a:r>
              <a:rPr lang="en-US" sz="125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    'PrimaryPropertyType_3',</a:t>
            </a:r>
            <a:endParaRPr/>
          </a:p>
          <a:p>
            <a:pPr marL="283995" lvl="2" indent="-94665" algn="l">
              <a:lnSpc>
                <a:spcPts val="1603"/>
              </a:lnSpc>
              <a:buAutoNum type="arabicPeriod" startAt="1"/>
              <a:defRPr/>
            </a:pPr>
            <a:r>
              <a:rPr lang="en-US" sz="125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    'PrimaryPropertyType_4',</a:t>
            </a:r>
            <a:endParaRPr/>
          </a:p>
          <a:p>
            <a:pPr marL="283995" lvl="2" indent="-94665" algn="l">
              <a:lnSpc>
                <a:spcPts val="1603"/>
              </a:lnSpc>
              <a:buAutoNum type="arabicPeriod" startAt="1"/>
              <a:defRPr/>
            </a:pPr>
            <a:r>
              <a:rPr lang="en-US" sz="125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    'Neighborhood_0',</a:t>
            </a:r>
            <a:endParaRPr/>
          </a:p>
          <a:p>
            <a:pPr marL="283995" lvl="2" indent="-94665" algn="l">
              <a:lnSpc>
                <a:spcPts val="1603"/>
              </a:lnSpc>
              <a:buAutoNum type="arabicPeriod" startAt="1"/>
              <a:defRPr/>
            </a:pPr>
            <a:r>
              <a:rPr lang="en-US" sz="125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    'Neighborhood_1', </a:t>
            </a:r>
            <a:endParaRPr/>
          </a:p>
          <a:p>
            <a:pPr marL="283995" lvl="2" indent="-94665" algn="l">
              <a:lnSpc>
                <a:spcPts val="1603"/>
              </a:lnSpc>
              <a:buAutoNum type="arabicPeriod" startAt="1"/>
              <a:defRPr/>
            </a:pPr>
            <a:r>
              <a:rPr lang="en-US" sz="125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    'Neighborhood_2', </a:t>
            </a:r>
            <a:endParaRPr/>
          </a:p>
          <a:p>
            <a:pPr marL="283995" lvl="2" indent="-94665" algn="l">
              <a:lnSpc>
                <a:spcPts val="1603"/>
              </a:lnSpc>
              <a:buAutoNum type="arabicPeriod" startAt="1"/>
              <a:defRPr/>
            </a:pPr>
            <a:r>
              <a:rPr lang="en-US" sz="125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    'Neighborhood_3', </a:t>
            </a:r>
            <a:endParaRPr/>
          </a:p>
          <a:p>
            <a:pPr marL="283995" lvl="2" indent="-94665" algn="l">
              <a:lnSpc>
                <a:spcPts val="1603"/>
              </a:lnSpc>
              <a:buAutoNum type="arabicPeriod" startAt="1"/>
              <a:defRPr/>
            </a:pPr>
            <a:r>
              <a:rPr lang="en-US" sz="125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    'Neighborhood_4', </a:t>
            </a:r>
            <a:endParaRPr/>
          </a:p>
          <a:p>
            <a:pPr marL="283995" lvl="2" indent="-94665" algn="l">
              <a:lnSpc>
                <a:spcPts val="1603"/>
              </a:lnSpc>
              <a:buAutoNum type="arabicPeriod" startAt="1"/>
              <a:defRPr/>
            </a:pPr>
            <a:r>
              <a:rPr lang="en-US" sz="125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    'parking_ratio',                   </a:t>
            </a:r>
            <a:endParaRPr/>
          </a:p>
          <a:p>
            <a:pPr marL="283995" lvl="2" indent="-94665" algn="l">
              <a:lnSpc>
                <a:spcPts val="1603"/>
              </a:lnSpc>
              <a:buAutoNum type="arabicPeriod" startAt="1"/>
              <a:defRPr/>
            </a:pPr>
            <a:r>
              <a:rPr lang="en-US" sz="125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    'main_use_ratio',              </a:t>
            </a:r>
            <a:endParaRPr/>
          </a:p>
          <a:p>
            <a:pPr marL="283995" lvl="2" indent="-94665" algn="l">
              <a:lnSpc>
                <a:spcPts val="1603"/>
              </a:lnSpc>
              <a:buAutoNum type="arabicPeriod" startAt="1"/>
              <a:defRPr/>
            </a:pPr>
            <a:r>
              <a:rPr lang="en-US" sz="125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    'third_use_ratio',</a:t>
            </a:r>
            <a:endParaRPr/>
          </a:p>
          <a:p>
            <a:pPr marL="283995" lvl="2" indent="-94665" algn="l">
              <a:lnSpc>
                <a:spcPts val="1603"/>
              </a:lnSpc>
              <a:buAutoNum type="arabicPeriod" startAt="1"/>
              <a:defRPr/>
            </a:pPr>
            <a:r>
              <a:rPr lang="en-US" sz="125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    'second_use_ratio',</a:t>
            </a:r>
            <a:endParaRPr/>
          </a:p>
          <a:p>
            <a:pPr marL="283995" lvl="2" indent="-94665" algn="l">
              <a:lnSpc>
                <a:spcPts val="1603"/>
              </a:lnSpc>
              <a:buAutoNum type="arabicPeriod" startAt="1"/>
              <a:defRPr/>
            </a:pPr>
            <a:r>
              <a:rPr lang="en-US" sz="125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    'usable_area', </a:t>
            </a:r>
            <a:endParaRPr/>
          </a:p>
          <a:p>
            <a:pPr marL="283995" lvl="2" indent="-94665" algn="l">
              <a:lnSpc>
                <a:spcPts val="1603"/>
              </a:lnSpc>
              <a:buAutoNum type="arabicPeriod" startAt="1"/>
              <a:defRPr/>
            </a:pPr>
            <a:r>
              <a:rPr lang="en-US" sz="1250">
                <a:solidFill>
                  <a:srgbClr val="000000"/>
                </a:solidFill>
                <a:latin typeface="Neue Montreal"/>
                <a:ea typeface="Neue Montreal"/>
                <a:cs typeface="Neue Montreal"/>
              </a:rPr>
              <a:t>    'building_age'</a:t>
            </a:r>
            <a:endParaRPr/>
          </a:p>
        </p:txBody>
      </p:sp>
      <p:sp>
        <p:nvSpPr>
          <p:cNvPr id="674109062" name="TextBox 24"/>
          <p:cNvSpPr txBox="1"/>
          <p:nvPr/>
        </p:nvSpPr>
        <p:spPr bwMode="auto">
          <a:xfrm rot="0">
            <a:off x="5403094" y="3677088"/>
            <a:ext cx="4334132" cy="313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  <a:defRPr/>
            </a:pP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Création de 2 variables : </a:t>
            </a:r>
            <a:endParaRPr/>
          </a:p>
        </p:txBody>
      </p:sp>
      <p:grpSp>
        <p:nvGrpSpPr>
          <p:cNvPr id="222683700" name="Group 25"/>
          <p:cNvGrpSpPr/>
          <p:nvPr/>
        </p:nvGrpSpPr>
        <p:grpSpPr bwMode="auto">
          <a:xfrm rot="0">
            <a:off x="5824490" y="4401179"/>
            <a:ext cx="151486" cy="151486"/>
            <a:chOff x="0" y="0"/>
            <a:chExt cx="201981" cy="201981"/>
          </a:xfrm>
        </p:grpSpPr>
        <p:sp>
          <p:nvSpPr>
            <p:cNvPr id="26" name="Freeform 26"/>
            <p:cNvSpPr/>
            <p:nvPr/>
          </p:nvSpPr>
          <p:spPr bwMode="auto">
            <a:xfrm rot="0" flipH="0" flipV="0">
              <a:off x="0" y="0"/>
              <a:ext cx="201930" cy="201930"/>
            </a:xfrm>
            <a:custGeom>
              <a:avLst/>
              <a:gdLst/>
              <a:ahLst/>
              <a:cxnLst/>
              <a:rect l="l" t="t" r="r" b="b"/>
              <a:pathLst>
                <a:path w="201930" h="201930" fill="norm" stroke="1" extrusionOk="0">
                  <a:moveTo>
                    <a:pt x="0" y="0"/>
                  </a:moveTo>
                  <a:lnTo>
                    <a:pt x="201930" y="0"/>
                  </a:lnTo>
                  <a:lnTo>
                    <a:pt x="201930" y="201930"/>
                  </a:lnTo>
                  <a:lnTo>
                    <a:pt x="0" y="20193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9"/>
              <a:stretch>
                <a:fillRect l="0" t="0" r="-25" b="-25"/>
              </a:stretch>
            </a:blipFill>
          </p:spPr>
        </p:sp>
      </p:grpSp>
      <p:sp>
        <p:nvSpPr>
          <p:cNvPr id="307747273" name="TextBox 27"/>
          <p:cNvSpPr txBox="1"/>
          <p:nvPr/>
        </p:nvSpPr>
        <p:spPr bwMode="auto">
          <a:xfrm rot="0">
            <a:off x="5980700" y="3995366"/>
            <a:ext cx="6785466" cy="597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  <a:defRPr/>
            </a:pP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1600" i="1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</a:rPr>
              <a:t>features_selectionnees_SVR</a:t>
            </a: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pour le modèle SVR </a:t>
            </a:r>
            <a:endParaRPr/>
          </a:p>
          <a:p>
            <a:pPr algn="l">
              <a:lnSpc>
                <a:spcPts val="2239"/>
              </a:lnSpc>
              <a:defRPr/>
            </a:pP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1600" i="1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</a:rPr>
              <a:t>features_selectionnees</a:t>
            </a: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pour les autres modèle</a:t>
            </a:r>
            <a:endParaRPr/>
          </a:p>
        </p:txBody>
      </p:sp>
      <p:grpSp>
        <p:nvGrpSpPr>
          <p:cNvPr id="1409770948" name="Group 28"/>
          <p:cNvGrpSpPr/>
          <p:nvPr/>
        </p:nvGrpSpPr>
        <p:grpSpPr bwMode="auto">
          <a:xfrm rot="0">
            <a:off x="5824490" y="4109761"/>
            <a:ext cx="151486" cy="151486"/>
            <a:chOff x="0" y="0"/>
            <a:chExt cx="201981" cy="201981"/>
          </a:xfrm>
        </p:grpSpPr>
        <p:sp>
          <p:nvSpPr>
            <p:cNvPr id="29" name="Freeform 29"/>
            <p:cNvSpPr/>
            <p:nvPr/>
          </p:nvSpPr>
          <p:spPr bwMode="auto">
            <a:xfrm rot="0" flipH="0" flipV="0">
              <a:off x="0" y="0"/>
              <a:ext cx="201930" cy="201930"/>
            </a:xfrm>
            <a:custGeom>
              <a:avLst/>
              <a:gdLst/>
              <a:ahLst/>
              <a:cxnLst/>
              <a:rect l="l" t="t" r="r" b="b"/>
              <a:pathLst>
                <a:path w="201930" h="201930" fill="norm" stroke="1" extrusionOk="0">
                  <a:moveTo>
                    <a:pt x="0" y="0"/>
                  </a:moveTo>
                  <a:lnTo>
                    <a:pt x="201930" y="0"/>
                  </a:lnTo>
                  <a:lnTo>
                    <a:pt x="201930" y="201930"/>
                  </a:lnTo>
                  <a:lnTo>
                    <a:pt x="0" y="20193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9"/>
              <a:stretch>
                <a:fillRect l="0" t="0" r="-25" b="-25"/>
              </a:stretch>
            </a:blipFill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8457780" name="Freeform 2"/>
          <p:cNvSpPr/>
          <p:nvPr/>
        </p:nvSpPr>
        <p:spPr bwMode="auto">
          <a:xfrm rot="0" flipH="0" flipV="0">
            <a:off x="-145968" y="9915525"/>
            <a:ext cx="18579935" cy="411500"/>
          </a:xfrm>
          <a:custGeom>
            <a:avLst/>
            <a:gdLst/>
            <a:ahLst/>
            <a:cxnLst/>
            <a:rect l="l" t="t" r="r" b="b"/>
            <a:pathLst>
              <a:path w="18579935" h="411500" fill="norm" stroke="1" extrusionOk="0">
                <a:moveTo>
                  <a:pt x="0" y="0"/>
                </a:moveTo>
                <a:lnTo>
                  <a:pt x="18579936" y="0"/>
                </a:lnTo>
                <a:lnTo>
                  <a:pt x="18579936" y="411500"/>
                </a:lnTo>
                <a:lnTo>
                  <a:pt x="0" y="4115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 l="0" t="0" r="0" b="0"/>
            </a:stretch>
          </a:blipFill>
        </p:spPr>
      </p:sp>
      <p:grpSp>
        <p:nvGrpSpPr>
          <p:cNvPr id="399744452" name="Group 3"/>
          <p:cNvGrpSpPr/>
          <p:nvPr/>
        </p:nvGrpSpPr>
        <p:grpSpPr bwMode="auto">
          <a:xfrm rot="5400000">
            <a:off x="481055" y="-565028"/>
            <a:ext cx="6989568" cy="7992237"/>
            <a:chOff x="0" y="0"/>
            <a:chExt cx="9319424" cy="10656316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9319387" cy="10656316"/>
            </a:xfrm>
            <a:custGeom>
              <a:avLst/>
              <a:gdLst/>
              <a:ahLst/>
              <a:cxnLst/>
              <a:rect l="l" t="t" r="r" b="b"/>
              <a:pathLst>
                <a:path w="9319387" h="10656316" fill="norm" stroke="1" extrusionOk="0">
                  <a:moveTo>
                    <a:pt x="0" y="0"/>
                  </a:moveTo>
                  <a:lnTo>
                    <a:pt x="9319387" y="0"/>
                  </a:lnTo>
                  <a:lnTo>
                    <a:pt x="9319387" y="10656316"/>
                  </a:lnTo>
                  <a:lnTo>
                    <a:pt x="0" y="1065631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/>
              <a:stretch>
                <a:fillRect l="0" t="-23" r="0" b="-22"/>
              </a:stretch>
            </a:blipFill>
          </p:spPr>
        </p:sp>
      </p:grpSp>
      <p:grpSp>
        <p:nvGrpSpPr>
          <p:cNvPr id="1603702005" name="Group 5"/>
          <p:cNvGrpSpPr/>
          <p:nvPr/>
        </p:nvGrpSpPr>
        <p:grpSpPr bwMode="auto">
          <a:xfrm rot="772019">
            <a:off x="7532722" y="4653058"/>
            <a:ext cx="366789" cy="138046"/>
            <a:chOff x="0" y="0"/>
            <a:chExt cx="489052" cy="184061"/>
          </a:xfrm>
        </p:grpSpPr>
        <p:sp>
          <p:nvSpPr>
            <p:cNvPr id="6" name="Freeform 6"/>
            <p:cNvSpPr/>
            <p:nvPr/>
          </p:nvSpPr>
          <p:spPr bwMode="auto">
            <a:xfrm rot="0" flipH="0" flipV="0">
              <a:off x="0" y="0"/>
              <a:ext cx="489077" cy="184023"/>
            </a:xfrm>
            <a:custGeom>
              <a:avLst/>
              <a:gdLst/>
              <a:ahLst/>
              <a:cxnLst/>
              <a:rect l="l" t="t" r="r" b="b"/>
              <a:pathLst>
                <a:path w="489077" h="184023" fill="norm" stroke="1" extrusionOk="0">
                  <a:moveTo>
                    <a:pt x="0" y="0"/>
                  </a:moveTo>
                  <a:lnTo>
                    <a:pt x="489077" y="0"/>
                  </a:lnTo>
                  <a:lnTo>
                    <a:pt x="489077" y="184023"/>
                  </a:lnTo>
                  <a:lnTo>
                    <a:pt x="0" y="18402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/>
              <a:stretch>
                <a:fillRect l="0" t="-2" r="4" b="-25"/>
              </a:stretch>
            </a:blipFill>
          </p:spPr>
        </p:sp>
      </p:grpSp>
      <p:grpSp>
        <p:nvGrpSpPr>
          <p:cNvPr id="63404876" name="Group 7"/>
          <p:cNvGrpSpPr/>
          <p:nvPr/>
        </p:nvGrpSpPr>
        <p:grpSpPr bwMode="auto">
          <a:xfrm rot="0">
            <a:off x="6501679" y="3250844"/>
            <a:ext cx="449294" cy="453409"/>
            <a:chOff x="0" y="0"/>
            <a:chExt cx="599059" cy="604545"/>
          </a:xfrm>
        </p:grpSpPr>
        <p:sp>
          <p:nvSpPr>
            <p:cNvPr id="8" name="Freeform 8"/>
            <p:cNvSpPr/>
            <p:nvPr/>
          </p:nvSpPr>
          <p:spPr bwMode="auto">
            <a:xfrm rot="0" flipH="0" flipV="0">
              <a:off x="0" y="0"/>
              <a:ext cx="599059" cy="604520"/>
            </a:xfrm>
            <a:custGeom>
              <a:avLst/>
              <a:gdLst/>
              <a:ahLst/>
              <a:cxnLst/>
              <a:rect l="l" t="t" r="r" b="b"/>
              <a:pathLst>
                <a:path w="599059" h="604520" fill="norm" stroke="1" extrusionOk="0">
                  <a:moveTo>
                    <a:pt x="0" y="0"/>
                  </a:moveTo>
                  <a:lnTo>
                    <a:pt x="599059" y="0"/>
                  </a:lnTo>
                  <a:lnTo>
                    <a:pt x="599059" y="604520"/>
                  </a:lnTo>
                  <a:lnTo>
                    <a:pt x="0" y="60452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/>
              <a:stretch>
                <a:fillRect l="0" t="-1" r="0" b="-6"/>
              </a:stretch>
            </a:blipFill>
          </p:spPr>
        </p:sp>
      </p:grpSp>
      <p:grpSp>
        <p:nvGrpSpPr>
          <p:cNvPr id="1394403976" name="Group 9"/>
          <p:cNvGrpSpPr/>
          <p:nvPr/>
        </p:nvGrpSpPr>
        <p:grpSpPr bwMode="auto">
          <a:xfrm rot="0">
            <a:off x="6569945" y="5656878"/>
            <a:ext cx="455924" cy="461801"/>
            <a:chOff x="0" y="0"/>
            <a:chExt cx="607898" cy="615733"/>
          </a:xfrm>
        </p:grpSpPr>
        <p:sp>
          <p:nvSpPr>
            <p:cNvPr id="10" name="Freeform 10"/>
            <p:cNvSpPr/>
            <p:nvPr/>
          </p:nvSpPr>
          <p:spPr bwMode="auto">
            <a:xfrm rot="0" flipH="0" flipV="0">
              <a:off x="0" y="0"/>
              <a:ext cx="607949" cy="615696"/>
            </a:xfrm>
            <a:custGeom>
              <a:avLst/>
              <a:gdLst/>
              <a:ahLst/>
              <a:cxnLst/>
              <a:rect l="l" t="t" r="r" b="b"/>
              <a:pathLst>
                <a:path w="607949" h="615696" fill="norm" stroke="1" extrusionOk="0">
                  <a:moveTo>
                    <a:pt x="0" y="0"/>
                  </a:moveTo>
                  <a:lnTo>
                    <a:pt x="607949" y="0"/>
                  </a:lnTo>
                  <a:lnTo>
                    <a:pt x="607949" y="615696"/>
                  </a:lnTo>
                  <a:lnTo>
                    <a:pt x="0" y="61569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/>
              <a:stretch>
                <a:fillRect l="0" t="-12" r="7" b="-18"/>
              </a:stretch>
            </a:blipFill>
          </p:spPr>
        </p:sp>
      </p:grpSp>
      <p:grpSp>
        <p:nvGrpSpPr>
          <p:cNvPr id="843065880" name="Group 11"/>
          <p:cNvGrpSpPr/>
          <p:nvPr/>
        </p:nvGrpSpPr>
        <p:grpSpPr bwMode="auto">
          <a:xfrm rot="0">
            <a:off x="6569945" y="8438902"/>
            <a:ext cx="455924" cy="463506"/>
            <a:chOff x="0" y="0"/>
            <a:chExt cx="607898" cy="618007"/>
          </a:xfrm>
        </p:grpSpPr>
        <p:sp>
          <p:nvSpPr>
            <p:cNvPr id="12" name="Freeform 12"/>
            <p:cNvSpPr/>
            <p:nvPr/>
          </p:nvSpPr>
          <p:spPr bwMode="auto">
            <a:xfrm rot="0" flipH="0" flipV="0">
              <a:off x="0" y="0"/>
              <a:ext cx="607949" cy="617982"/>
            </a:xfrm>
            <a:custGeom>
              <a:avLst/>
              <a:gdLst/>
              <a:ahLst/>
              <a:cxnLst/>
              <a:rect l="l" t="t" r="r" b="b"/>
              <a:pathLst>
                <a:path w="607949" h="617982" fill="norm" stroke="1" extrusionOk="0">
                  <a:moveTo>
                    <a:pt x="0" y="0"/>
                  </a:moveTo>
                  <a:lnTo>
                    <a:pt x="607949" y="0"/>
                  </a:lnTo>
                  <a:lnTo>
                    <a:pt x="607949" y="617982"/>
                  </a:lnTo>
                  <a:lnTo>
                    <a:pt x="0" y="61798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/>
              <a:stretch>
                <a:fillRect l="0" t="-34" r="7" b="-40"/>
              </a:stretch>
            </a:blipFill>
          </p:spPr>
        </p:sp>
      </p:grpSp>
      <p:grpSp>
        <p:nvGrpSpPr>
          <p:cNvPr id="1511874389" name="Group 13"/>
          <p:cNvGrpSpPr/>
          <p:nvPr/>
        </p:nvGrpSpPr>
        <p:grpSpPr bwMode="auto">
          <a:xfrm rot="0">
            <a:off x="7631049" y="6146968"/>
            <a:ext cx="151486" cy="151486"/>
            <a:chOff x="0" y="0"/>
            <a:chExt cx="201981" cy="201981"/>
          </a:xfrm>
        </p:grpSpPr>
        <p:sp>
          <p:nvSpPr>
            <p:cNvPr id="14" name="Freeform 14"/>
            <p:cNvSpPr/>
            <p:nvPr/>
          </p:nvSpPr>
          <p:spPr bwMode="auto">
            <a:xfrm rot="0" flipH="0" flipV="0">
              <a:off x="0" y="0"/>
              <a:ext cx="201930" cy="201930"/>
            </a:xfrm>
            <a:custGeom>
              <a:avLst/>
              <a:gdLst/>
              <a:ahLst/>
              <a:cxnLst/>
              <a:rect l="l" t="t" r="r" b="b"/>
              <a:pathLst>
                <a:path w="201930" h="201930" fill="norm" stroke="1" extrusionOk="0">
                  <a:moveTo>
                    <a:pt x="0" y="0"/>
                  </a:moveTo>
                  <a:lnTo>
                    <a:pt x="201930" y="0"/>
                  </a:lnTo>
                  <a:lnTo>
                    <a:pt x="201930" y="201930"/>
                  </a:lnTo>
                  <a:lnTo>
                    <a:pt x="0" y="20193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9"/>
              <a:stretch>
                <a:fillRect l="0" t="0" r="-25" b="-25"/>
              </a:stretch>
            </a:blipFill>
          </p:spPr>
        </p:sp>
      </p:grpSp>
      <p:sp>
        <p:nvSpPr>
          <p:cNvPr id="638727875" name="TextBox 15"/>
          <p:cNvSpPr txBox="1"/>
          <p:nvPr/>
        </p:nvSpPr>
        <p:spPr bwMode="auto">
          <a:xfrm rot="0">
            <a:off x="3975840" y="1355369"/>
            <a:ext cx="12948333" cy="1543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00"/>
              </a:lnSpc>
              <a:defRPr/>
            </a:pPr>
            <a:r>
              <a:rPr lang="en-US" sz="8000" spc="-480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100000">
                      <a:srgbClr val="CB6CE6">
                        <a:alpha val="100000"/>
                      </a:srgbClr>
                    </a:gs>
                  </a:gsLst>
                  <a:lin ang="0" scaled="1"/>
                </a:gradFill>
                <a:latin typeface="Goudy"/>
                <a:ea typeface="Goudy"/>
                <a:cs typeface="Goudy"/>
              </a:rPr>
              <a:t>Le GridSearchCV</a:t>
            </a:r>
            <a:endParaRPr/>
          </a:p>
        </p:txBody>
      </p:sp>
      <p:sp>
        <p:nvSpPr>
          <p:cNvPr id="117856152" name="TextBox 16"/>
          <p:cNvSpPr txBox="1"/>
          <p:nvPr/>
        </p:nvSpPr>
        <p:spPr bwMode="auto">
          <a:xfrm rot="0">
            <a:off x="7649489" y="8955853"/>
            <a:ext cx="6501860" cy="302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29"/>
              </a:lnSpc>
              <a:defRPr/>
            </a:pPr>
            <a:r>
              <a:rPr lang="en-US" sz="160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Meilleurs paramètres : {'C': 1, 'epsilon': 0.01, 'kernel': 'linear'}</a:t>
            </a:r>
            <a:endParaRPr/>
          </a:p>
        </p:txBody>
      </p:sp>
      <p:sp>
        <p:nvSpPr>
          <p:cNvPr id="676876386" name="TextBox 17"/>
          <p:cNvSpPr txBox="1"/>
          <p:nvPr/>
        </p:nvSpPr>
        <p:spPr bwMode="auto">
          <a:xfrm rot="0">
            <a:off x="7325249" y="5684930"/>
            <a:ext cx="4585840" cy="292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  <a:defRPr/>
            </a:pP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On choisit des paramètres d’utilisations</a:t>
            </a:r>
            <a:endParaRPr/>
          </a:p>
        </p:txBody>
      </p:sp>
      <p:sp>
        <p:nvSpPr>
          <p:cNvPr id="663374574" name="TextBox 18"/>
          <p:cNvSpPr txBox="1"/>
          <p:nvPr/>
        </p:nvSpPr>
        <p:spPr bwMode="auto">
          <a:xfrm rot="0">
            <a:off x="7925038" y="6005722"/>
            <a:ext cx="9051179" cy="313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  <a:defRPr/>
            </a:pP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kernel : linear (</a:t>
            </a:r>
            <a:r>
              <a:rPr lang="en-US" sz="1600" i="1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</a:rPr>
              <a:t>choix du noyaux linear ou polynomial</a:t>
            </a: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)</a:t>
            </a:r>
            <a:endParaRPr/>
          </a:p>
        </p:txBody>
      </p:sp>
      <p:grpSp>
        <p:nvGrpSpPr>
          <p:cNvPr id="514229008" name="Group 19"/>
          <p:cNvGrpSpPr/>
          <p:nvPr/>
        </p:nvGrpSpPr>
        <p:grpSpPr bwMode="auto">
          <a:xfrm rot="0">
            <a:off x="7631049" y="6511957"/>
            <a:ext cx="151486" cy="151486"/>
            <a:chOff x="0" y="0"/>
            <a:chExt cx="201981" cy="201981"/>
          </a:xfrm>
        </p:grpSpPr>
        <p:sp>
          <p:nvSpPr>
            <p:cNvPr id="20" name="Freeform 20"/>
            <p:cNvSpPr/>
            <p:nvPr/>
          </p:nvSpPr>
          <p:spPr bwMode="auto">
            <a:xfrm rot="0" flipH="0" flipV="0">
              <a:off x="0" y="0"/>
              <a:ext cx="201930" cy="201930"/>
            </a:xfrm>
            <a:custGeom>
              <a:avLst/>
              <a:gdLst/>
              <a:ahLst/>
              <a:cxnLst/>
              <a:rect l="l" t="t" r="r" b="b"/>
              <a:pathLst>
                <a:path w="201930" h="201930" fill="norm" stroke="1" extrusionOk="0">
                  <a:moveTo>
                    <a:pt x="0" y="0"/>
                  </a:moveTo>
                  <a:lnTo>
                    <a:pt x="201930" y="0"/>
                  </a:lnTo>
                  <a:lnTo>
                    <a:pt x="201930" y="201930"/>
                  </a:lnTo>
                  <a:lnTo>
                    <a:pt x="0" y="20193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9"/>
              <a:stretch>
                <a:fillRect l="0" t="0" r="-25" b="-25"/>
              </a:stretch>
            </a:blipFill>
          </p:spPr>
        </p:sp>
      </p:grpSp>
      <p:sp>
        <p:nvSpPr>
          <p:cNvPr id="936634181" name="TextBox 21"/>
          <p:cNvSpPr txBox="1"/>
          <p:nvPr/>
        </p:nvSpPr>
        <p:spPr bwMode="auto">
          <a:xfrm rot="0">
            <a:off x="7248582" y="4235491"/>
            <a:ext cx="9537135" cy="313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  <a:defRPr/>
            </a:pP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On </a:t>
            </a:r>
            <a:r>
              <a:rPr lang="en-US" sz="1600" i="1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</a:rPr>
              <a:t>standardise</a:t>
            </a: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avant d’appliquer le GridSearch</a:t>
            </a:r>
            <a:endParaRPr/>
          </a:p>
        </p:txBody>
      </p:sp>
      <p:sp>
        <p:nvSpPr>
          <p:cNvPr id="2014741442" name="TextBox 22"/>
          <p:cNvSpPr txBox="1"/>
          <p:nvPr/>
        </p:nvSpPr>
        <p:spPr bwMode="auto">
          <a:xfrm rot="0">
            <a:off x="7957595" y="4556798"/>
            <a:ext cx="7151732" cy="313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  <a:defRPr/>
            </a:pP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via la méthode StandardScaler</a:t>
            </a:r>
            <a:endParaRPr/>
          </a:p>
        </p:txBody>
      </p:sp>
      <p:sp>
        <p:nvSpPr>
          <p:cNvPr id="2068301494" name="TextBox 23"/>
          <p:cNvSpPr txBox="1"/>
          <p:nvPr/>
        </p:nvSpPr>
        <p:spPr bwMode="auto">
          <a:xfrm rot="0">
            <a:off x="7957595" y="4857140"/>
            <a:ext cx="7970881" cy="313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  <a:defRPr/>
            </a:pP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pour que toutes les features soient sur la même échelle</a:t>
            </a:r>
            <a:endParaRPr/>
          </a:p>
        </p:txBody>
      </p:sp>
      <p:grpSp>
        <p:nvGrpSpPr>
          <p:cNvPr id="575516043" name="Group 24"/>
          <p:cNvGrpSpPr/>
          <p:nvPr/>
        </p:nvGrpSpPr>
        <p:grpSpPr bwMode="auto">
          <a:xfrm rot="772019">
            <a:off x="7532722" y="4963058"/>
            <a:ext cx="366789" cy="138046"/>
            <a:chOff x="0" y="0"/>
            <a:chExt cx="489052" cy="184061"/>
          </a:xfrm>
        </p:grpSpPr>
        <p:sp>
          <p:nvSpPr>
            <p:cNvPr id="25" name="Freeform 25"/>
            <p:cNvSpPr/>
            <p:nvPr/>
          </p:nvSpPr>
          <p:spPr bwMode="auto">
            <a:xfrm rot="0" flipH="0" flipV="0">
              <a:off x="0" y="0"/>
              <a:ext cx="489077" cy="184023"/>
            </a:xfrm>
            <a:custGeom>
              <a:avLst/>
              <a:gdLst/>
              <a:ahLst/>
              <a:cxnLst/>
              <a:rect l="l" t="t" r="r" b="b"/>
              <a:pathLst>
                <a:path w="489077" h="184023" fill="norm" stroke="1" extrusionOk="0">
                  <a:moveTo>
                    <a:pt x="0" y="0"/>
                  </a:moveTo>
                  <a:lnTo>
                    <a:pt x="489077" y="0"/>
                  </a:lnTo>
                  <a:lnTo>
                    <a:pt x="489077" y="184023"/>
                  </a:lnTo>
                  <a:lnTo>
                    <a:pt x="0" y="18402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/>
              <a:stretch>
                <a:fillRect l="0" t="-2" r="4" b="-25"/>
              </a:stretch>
            </a:blipFill>
          </p:spPr>
        </p:sp>
      </p:grpSp>
      <p:sp>
        <p:nvSpPr>
          <p:cNvPr id="2138513080" name="TextBox 26"/>
          <p:cNvSpPr txBox="1"/>
          <p:nvPr/>
        </p:nvSpPr>
        <p:spPr bwMode="auto">
          <a:xfrm rot="0">
            <a:off x="7925038" y="6412754"/>
            <a:ext cx="5584078" cy="313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  <a:defRPr/>
            </a:pP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C: 1, 10, 100 </a:t>
            </a:r>
            <a:r>
              <a:rPr lang="en-US" sz="1600" i="1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</a:rPr>
              <a:t>(régularisation)</a:t>
            </a: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</a:t>
            </a:r>
            <a:endParaRPr/>
          </a:p>
        </p:txBody>
      </p:sp>
      <p:sp>
        <p:nvSpPr>
          <p:cNvPr id="766502955" name="TextBox 27"/>
          <p:cNvSpPr txBox="1"/>
          <p:nvPr/>
        </p:nvSpPr>
        <p:spPr bwMode="auto">
          <a:xfrm rot="0">
            <a:off x="7838618" y="6819786"/>
            <a:ext cx="9937699" cy="313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  <a:defRPr/>
            </a:pP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epsilon : 0.01, 0.1, 0.5, 1 </a:t>
            </a:r>
            <a:r>
              <a:rPr lang="en-US" sz="1600" i="1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</a:rPr>
              <a:t>(tolérance à l’erreur)</a:t>
            </a:r>
            <a:endParaRPr/>
          </a:p>
        </p:txBody>
      </p:sp>
      <p:sp>
        <p:nvSpPr>
          <p:cNvPr id="864855469" name="TextBox 28"/>
          <p:cNvSpPr txBox="1"/>
          <p:nvPr/>
        </p:nvSpPr>
        <p:spPr bwMode="auto">
          <a:xfrm rot="0">
            <a:off x="7925038" y="7240600"/>
            <a:ext cx="10270379" cy="313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  <a:defRPr/>
            </a:pP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cv = 5 fold </a:t>
            </a:r>
            <a:r>
              <a:rPr lang="en-US" sz="1600" i="1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</a:rPr>
              <a:t>(une cross validation, jeux d’entrainement en 5 parties)</a:t>
            </a:r>
            <a:endParaRPr/>
          </a:p>
        </p:txBody>
      </p:sp>
      <p:grpSp>
        <p:nvGrpSpPr>
          <p:cNvPr id="1728056767" name="Group 29"/>
          <p:cNvGrpSpPr/>
          <p:nvPr/>
        </p:nvGrpSpPr>
        <p:grpSpPr bwMode="auto">
          <a:xfrm rot="0">
            <a:off x="7631049" y="6925875"/>
            <a:ext cx="151486" cy="151486"/>
            <a:chOff x="0" y="0"/>
            <a:chExt cx="201981" cy="201981"/>
          </a:xfrm>
        </p:grpSpPr>
        <p:sp>
          <p:nvSpPr>
            <p:cNvPr id="30" name="Freeform 30"/>
            <p:cNvSpPr/>
            <p:nvPr/>
          </p:nvSpPr>
          <p:spPr bwMode="auto">
            <a:xfrm rot="0" flipH="0" flipV="0">
              <a:off x="0" y="0"/>
              <a:ext cx="201930" cy="201930"/>
            </a:xfrm>
            <a:custGeom>
              <a:avLst/>
              <a:gdLst/>
              <a:ahLst/>
              <a:cxnLst/>
              <a:rect l="l" t="t" r="r" b="b"/>
              <a:pathLst>
                <a:path w="201930" h="201930" fill="norm" stroke="1" extrusionOk="0">
                  <a:moveTo>
                    <a:pt x="0" y="0"/>
                  </a:moveTo>
                  <a:lnTo>
                    <a:pt x="201930" y="0"/>
                  </a:lnTo>
                  <a:lnTo>
                    <a:pt x="201930" y="201930"/>
                  </a:lnTo>
                  <a:lnTo>
                    <a:pt x="0" y="20193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9"/>
              <a:stretch>
                <a:fillRect l="0" t="0" r="-25" b="-25"/>
              </a:stretch>
            </a:blipFill>
          </p:spPr>
        </p:sp>
      </p:grpSp>
      <p:grpSp>
        <p:nvGrpSpPr>
          <p:cNvPr id="316823850" name="Group 31"/>
          <p:cNvGrpSpPr/>
          <p:nvPr/>
        </p:nvGrpSpPr>
        <p:grpSpPr bwMode="auto">
          <a:xfrm rot="0">
            <a:off x="7631049" y="7339793"/>
            <a:ext cx="151486" cy="151486"/>
            <a:chOff x="0" y="0"/>
            <a:chExt cx="201981" cy="201981"/>
          </a:xfrm>
        </p:grpSpPr>
        <p:sp>
          <p:nvSpPr>
            <p:cNvPr id="32" name="Freeform 32"/>
            <p:cNvSpPr/>
            <p:nvPr/>
          </p:nvSpPr>
          <p:spPr bwMode="auto">
            <a:xfrm rot="0" flipH="0" flipV="0">
              <a:off x="0" y="0"/>
              <a:ext cx="201930" cy="201930"/>
            </a:xfrm>
            <a:custGeom>
              <a:avLst/>
              <a:gdLst/>
              <a:ahLst/>
              <a:cxnLst/>
              <a:rect l="l" t="t" r="r" b="b"/>
              <a:pathLst>
                <a:path w="201930" h="201930" fill="norm" stroke="1" extrusionOk="0">
                  <a:moveTo>
                    <a:pt x="0" y="0"/>
                  </a:moveTo>
                  <a:lnTo>
                    <a:pt x="201930" y="0"/>
                  </a:lnTo>
                  <a:lnTo>
                    <a:pt x="201930" y="201930"/>
                  </a:lnTo>
                  <a:lnTo>
                    <a:pt x="0" y="20193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9"/>
              <a:stretch>
                <a:fillRect l="0" t="0" r="-25" b="-25"/>
              </a:stretch>
            </a:blipFill>
          </p:spPr>
        </p:sp>
      </p:grpSp>
      <p:sp>
        <p:nvSpPr>
          <p:cNvPr id="1872682677" name="TextBox 33"/>
          <p:cNvSpPr txBox="1"/>
          <p:nvPr/>
        </p:nvSpPr>
        <p:spPr bwMode="auto">
          <a:xfrm rot="0">
            <a:off x="7248582" y="3295393"/>
            <a:ext cx="8317935" cy="313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  <a:defRPr/>
            </a:pP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Le SVR est sensible à l’échelle des variables</a:t>
            </a:r>
            <a:endParaRPr/>
          </a:p>
        </p:txBody>
      </p:sp>
      <p:sp>
        <p:nvSpPr>
          <p:cNvPr id="1505876552" name="TextBox 34"/>
          <p:cNvSpPr txBox="1"/>
          <p:nvPr/>
        </p:nvSpPr>
        <p:spPr bwMode="auto">
          <a:xfrm rot="0">
            <a:off x="7248582" y="3637617"/>
            <a:ext cx="10680135" cy="313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  <a:defRPr/>
            </a:pP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Le GridSearch identifie ainsi des hyperparamètres  optimaux</a:t>
            </a:r>
            <a:endParaRPr/>
          </a:p>
        </p:txBody>
      </p:sp>
      <p:sp>
        <p:nvSpPr>
          <p:cNvPr id="1034243942" name="TextBox 35"/>
          <p:cNvSpPr txBox="1"/>
          <p:nvPr/>
        </p:nvSpPr>
        <p:spPr bwMode="auto">
          <a:xfrm rot="0">
            <a:off x="7192204" y="8539096"/>
            <a:ext cx="1220448" cy="302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29"/>
              </a:lnSpc>
              <a:defRPr/>
            </a:pPr>
            <a:r>
              <a:rPr lang="en-US" sz="160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Résultat :</a:t>
            </a:r>
            <a:endParaRPr/>
          </a:p>
        </p:txBody>
      </p:sp>
      <p:grpSp>
        <p:nvGrpSpPr>
          <p:cNvPr id="808928496" name="Group 36"/>
          <p:cNvGrpSpPr/>
          <p:nvPr/>
        </p:nvGrpSpPr>
        <p:grpSpPr bwMode="auto">
          <a:xfrm rot="772019">
            <a:off x="7205520" y="9052103"/>
            <a:ext cx="366789" cy="138046"/>
            <a:chOff x="0" y="0"/>
            <a:chExt cx="489052" cy="184061"/>
          </a:xfrm>
        </p:grpSpPr>
        <p:sp>
          <p:nvSpPr>
            <p:cNvPr id="37" name="Freeform 37"/>
            <p:cNvSpPr/>
            <p:nvPr/>
          </p:nvSpPr>
          <p:spPr bwMode="auto">
            <a:xfrm rot="0" flipH="0" flipV="0">
              <a:off x="0" y="0"/>
              <a:ext cx="489077" cy="184023"/>
            </a:xfrm>
            <a:custGeom>
              <a:avLst/>
              <a:gdLst/>
              <a:ahLst/>
              <a:cxnLst/>
              <a:rect l="l" t="t" r="r" b="b"/>
              <a:pathLst>
                <a:path w="489077" h="184023" fill="norm" stroke="1" extrusionOk="0">
                  <a:moveTo>
                    <a:pt x="0" y="0"/>
                  </a:moveTo>
                  <a:lnTo>
                    <a:pt x="489077" y="0"/>
                  </a:lnTo>
                  <a:lnTo>
                    <a:pt x="489077" y="184023"/>
                  </a:lnTo>
                  <a:lnTo>
                    <a:pt x="0" y="18402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/>
              <a:stretch>
                <a:fillRect l="0" t="-2" r="4" b="-25"/>
              </a:stretch>
            </a:blipFill>
          </p:spPr>
        </p:sp>
      </p:grpSp>
      <p:sp>
        <p:nvSpPr>
          <p:cNvPr id="1086992514" name="TextBox 38"/>
          <p:cNvSpPr txBox="1"/>
          <p:nvPr/>
        </p:nvSpPr>
        <p:spPr bwMode="auto">
          <a:xfrm rot="0">
            <a:off x="7934134" y="7704782"/>
            <a:ext cx="9346882" cy="313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  <a:defRPr/>
            </a:pP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On va tester 12 modèles différents sur 5 fold,donc ill y aura 60 entrainements (12x5) </a:t>
            </a:r>
            <a:endParaRPr/>
          </a:p>
        </p:txBody>
      </p:sp>
      <p:grpSp>
        <p:nvGrpSpPr>
          <p:cNvPr id="1034998686" name="Group 39"/>
          <p:cNvGrpSpPr/>
          <p:nvPr/>
        </p:nvGrpSpPr>
        <p:grpSpPr bwMode="auto">
          <a:xfrm rot="772019">
            <a:off x="7460256" y="7801042"/>
            <a:ext cx="366789" cy="138046"/>
            <a:chOff x="0" y="0"/>
            <a:chExt cx="489052" cy="184061"/>
          </a:xfrm>
        </p:grpSpPr>
        <p:sp>
          <p:nvSpPr>
            <p:cNvPr id="40" name="Freeform 40"/>
            <p:cNvSpPr/>
            <p:nvPr/>
          </p:nvSpPr>
          <p:spPr bwMode="auto">
            <a:xfrm rot="0" flipH="0" flipV="0">
              <a:off x="0" y="0"/>
              <a:ext cx="489077" cy="184023"/>
            </a:xfrm>
            <a:custGeom>
              <a:avLst/>
              <a:gdLst/>
              <a:ahLst/>
              <a:cxnLst/>
              <a:rect l="l" t="t" r="r" b="b"/>
              <a:pathLst>
                <a:path w="489077" h="184023" fill="norm" stroke="1" extrusionOk="0">
                  <a:moveTo>
                    <a:pt x="0" y="0"/>
                  </a:moveTo>
                  <a:lnTo>
                    <a:pt x="489077" y="0"/>
                  </a:lnTo>
                  <a:lnTo>
                    <a:pt x="489077" y="184023"/>
                  </a:lnTo>
                  <a:lnTo>
                    <a:pt x="0" y="18402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/>
              <a:stretch>
                <a:fillRect l="0" t="-2" r="4" b="-25"/>
              </a:stretch>
            </a:blipFill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383917" name="Freeform 2"/>
          <p:cNvSpPr/>
          <p:nvPr/>
        </p:nvSpPr>
        <p:spPr bwMode="auto">
          <a:xfrm rot="0" flipH="0" flipV="0">
            <a:off x="-180975" y="9901580"/>
            <a:ext cx="18649950" cy="413051"/>
          </a:xfrm>
          <a:custGeom>
            <a:avLst/>
            <a:gdLst/>
            <a:ahLst/>
            <a:cxnLst/>
            <a:rect l="l" t="t" r="r" b="b"/>
            <a:pathLst>
              <a:path w="18649950" h="413051" fill="norm" stroke="1" extrusionOk="0">
                <a:moveTo>
                  <a:pt x="0" y="0"/>
                </a:moveTo>
                <a:lnTo>
                  <a:pt x="18649950" y="0"/>
                </a:lnTo>
                <a:lnTo>
                  <a:pt x="18649950" y="413051"/>
                </a:lnTo>
                <a:lnTo>
                  <a:pt x="0" y="4130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 l="0" t="0" r="0" b="0"/>
            </a:stretch>
          </a:blipFill>
        </p:spPr>
      </p:sp>
      <p:grpSp>
        <p:nvGrpSpPr>
          <p:cNvPr id="79381646" name="Group 3"/>
          <p:cNvGrpSpPr/>
          <p:nvPr/>
        </p:nvGrpSpPr>
        <p:grpSpPr bwMode="auto">
          <a:xfrm rot="5400000">
            <a:off x="501334" y="-551512"/>
            <a:ext cx="6989568" cy="7992237"/>
            <a:chOff x="0" y="0"/>
            <a:chExt cx="9319424" cy="10656316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9319387" cy="10656316"/>
            </a:xfrm>
            <a:custGeom>
              <a:avLst/>
              <a:gdLst/>
              <a:ahLst/>
              <a:cxnLst/>
              <a:rect l="l" t="t" r="r" b="b"/>
              <a:pathLst>
                <a:path w="9319387" h="10656316" fill="norm" stroke="1" extrusionOk="0">
                  <a:moveTo>
                    <a:pt x="0" y="0"/>
                  </a:moveTo>
                  <a:lnTo>
                    <a:pt x="9319387" y="0"/>
                  </a:lnTo>
                  <a:lnTo>
                    <a:pt x="9319387" y="10656316"/>
                  </a:lnTo>
                  <a:lnTo>
                    <a:pt x="0" y="1065631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/>
              <a:stretch>
                <a:fillRect l="0" t="-23" r="0" b="-22"/>
              </a:stretch>
            </a:blipFill>
          </p:spPr>
        </p:sp>
      </p:grpSp>
      <p:sp>
        <p:nvSpPr>
          <p:cNvPr id="797168283" name="TextBox 5"/>
          <p:cNvSpPr txBox="1"/>
          <p:nvPr/>
        </p:nvSpPr>
        <p:spPr bwMode="auto">
          <a:xfrm rot="0">
            <a:off x="5319321" y="4674250"/>
            <a:ext cx="2335969" cy="343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  <a:defRPr/>
            </a:pPr>
            <a:r>
              <a:rPr lang="fr-FR" sz="18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</a:rPr>
              <a:t>Modèles</a:t>
            </a:r>
            <a:r>
              <a:rPr lang="en-US" sz="18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</a:rPr>
              <a:t> testés </a:t>
            </a:r>
            <a:endParaRPr/>
          </a:p>
        </p:txBody>
      </p:sp>
      <p:sp>
        <p:nvSpPr>
          <p:cNvPr id="758728531" name="TextBox 6"/>
          <p:cNvSpPr txBox="1"/>
          <p:nvPr/>
        </p:nvSpPr>
        <p:spPr bwMode="auto">
          <a:xfrm rot="0">
            <a:off x="6501889" y="4960477"/>
            <a:ext cx="7170630" cy="1874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6"/>
              </a:lnSpc>
              <a:defRPr/>
            </a:pPr>
            <a:r>
              <a:rPr lang="en-US" sz="18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Dummy Regressor (baseline) - modèle basique</a:t>
            </a:r>
            <a:endParaRPr/>
          </a:p>
          <a:p>
            <a:pPr algn="l">
              <a:lnSpc>
                <a:spcPts val="3636"/>
              </a:lnSpc>
              <a:defRPr/>
            </a:pPr>
            <a:r>
              <a:rPr lang="en-US" sz="18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Linear Regression - Relation linéaire simple</a:t>
            </a:r>
            <a:endParaRPr/>
          </a:p>
          <a:p>
            <a:pPr algn="l">
              <a:lnSpc>
                <a:spcPts val="3636"/>
              </a:lnSpc>
              <a:defRPr/>
            </a:pPr>
            <a:r>
              <a:rPr lang="en-US" sz="18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SVR (Support Vector Regression) - Relation non-linéaire</a:t>
            </a:r>
            <a:endParaRPr/>
          </a:p>
          <a:p>
            <a:pPr algn="l">
              <a:lnSpc>
                <a:spcPts val="3636"/>
              </a:lnSpc>
              <a:defRPr/>
            </a:pPr>
            <a:r>
              <a:rPr lang="en-US" sz="18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Random Forest - Ensemble d'arbres de décision</a:t>
            </a:r>
            <a:endParaRPr/>
          </a:p>
        </p:txBody>
      </p:sp>
      <p:grpSp>
        <p:nvGrpSpPr>
          <p:cNvPr id="743815520" name="Group 7"/>
          <p:cNvGrpSpPr/>
          <p:nvPr/>
        </p:nvGrpSpPr>
        <p:grpSpPr bwMode="auto">
          <a:xfrm rot="0">
            <a:off x="4620530" y="3368773"/>
            <a:ext cx="575148" cy="603828"/>
            <a:chOff x="0" y="0"/>
            <a:chExt cx="766864" cy="805104"/>
          </a:xfrm>
        </p:grpSpPr>
        <p:sp>
          <p:nvSpPr>
            <p:cNvPr id="8" name="Freeform 8"/>
            <p:cNvSpPr/>
            <p:nvPr/>
          </p:nvSpPr>
          <p:spPr bwMode="auto">
            <a:xfrm rot="0" flipH="0" flipV="0">
              <a:off x="0" y="0"/>
              <a:ext cx="766826" cy="805053"/>
            </a:xfrm>
            <a:custGeom>
              <a:avLst/>
              <a:gdLst/>
              <a:ahLst/>
              <a:cxnLst/>
              <a:rect l="l" t="t" r="r" b="b"/>
              <a:pathLst>
                <a:path w="766826" h="805053" fill="norm" stroke="1" extrusionOk="0">
                  <a:moveTo>
                    <a:pt x="0" y="0"/>
                  </a:moveTo>
                  <a:lnTo>
                    <a:pt x="766826" y="0"/>
                  </a:lnTo>
                  <a:lnTo>
                    <a:pt x="766826" y="805053"/>
                  </a:lnTo>
                  <a:lnTo>
                    <a:pt x="0" y="80505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/>
              <a:stretch>
                <a:fillRect l="0" t="-6" r="-4" b="-12"/>
              </a:stretch>
            </a:blipFill>
          </p:spPr>
        </p:sp>
      </p:grpSp>
      <p:grpSp>
        <p:nvGrpSpPr>
          <p:cNvPr id="625833119" name="Group 9"/>
          <p:cNvGrpSpPr/>
          <p:nvPr/>
        </p:nvGrpSpPr>
        <p:grpSpPr bwMode="auto">
          <a:xfrm rot="0">
            <a:off x="4665601" y="4633741"/>
            <a:ext cx="487851" cy="512178"/>
            <a:chOff x="0" y="0"/>
            <a:chExt cx="650469" cy="682904"/>
          </a:xfrm>
        </p:grpSpPr>
        <p:sp>
          <p:nvSpPr>
            <p:cNvPr id="10" name="Freeform 10"/>
            <p:cNvSpPr/>
            <p:nvPr/>
          </p:nvSpPr>
          <p:spPr bwMode="auto">
            <a:xfrm rot="0" flipH="0" flipV="0">
              <a:off x="0" y="0"/>
              <a:ext cx="650494" cy="682879"/>
            </a:xfrm>
            <a:custGeom>
              <a:avLst/>
              <a:gdLst/>
              <a:ahLst/>
              <a:cxnLst/>
              <a:rect l="l" t="t" r="r" b="b"/>
              <a:pathLst>
                <a:path w="650494" h="682879" fill="norm" stroke="1" extrusionOk="0">
                  <a:moveTo>
                    <a:pt x="0" y="0"/>
                  </a:moveTo>
                  <a:lnTo>
                    <a:pt x="650494" y="0"/>
                  </a:lnTo>
                  <a:lnTo>
                    <a:pt x="650494" y="682879"/>
                  </a:lnTo>
                  <a:lnTo>
                    <a:pt x="0" y="68287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/>
              <a:stretch>
                <a:fillRect l="0" t="-5" r="3" b="-10"/>
              </a:stretch>
            </a:blipFill>
          </p:spPr>
        </p:sp>
      </p:grpSp>
      <p:grpSp>
        <p:nvGrpSpPr>
          <p:cNvPr id="1323503743" name="Group 11"/>
          <p:cNvGrpSpPr/>
          <p:nvPr/>
        </p:nvGrpSpPr>
        <p:grpSpPr bwMode="auto">
          <a:xfrm rot="0">
            <a:off x="4665601" y="7139416"/>
            <a:ext cx="484994" cy="509178"/>
            <a:chOff x="0" y="0"/>
            <a:chExt cx="646659" cy="678904"/>
          </a:xfrm>
        </p:grpSpPr>
        <p:sp>
          <p:nvSpPr>
            <p:cNvPr id="12" name="Freeform 12"/>
            <p:cNvSpPr/>
            <p:nvPr/>
          </p:nvSpPr>
          <p:spPr bwMode="auto">
            <a:xfrm rot="0" flipH="0" flipV="0">
              <a:off x="0" y="0"/>
              <a:ext cx="646684" cy="678942"/>
            </a:xfrm>
            <a:custGeom>
              <a:avLst/>
              <a:gdLst/>
              <a:ahLst/>
              <a:cxnLst/>
              <a:rect l="l" t="t" r="r" b="b"/>
              <a:pathLst>
                <a:path w="646684" h="678942" fill="norm" stroke="1" extrusionOk="0">
                  <a:moveTo>
                    <a:pt x="0" y="0"/>
                  </a:moveTo>
                  <a:lnTo>
                    <a:pt x="646684" y="0"/>
                  </a:lnTo>
                  <a:lnTo>
                    <a:pt x="646684" y="678942"/>
                  </a:lnTo>
                  <a:lnTo>
                    <a:pt x="0" y="67894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/>
              <a:stretch>
                <a:fillRect l="0" t="-5" r="3" b="-1"/>
              </a:stretch>
            </a:blipFill>
          </p:spPr>
        </p:sp>
      </p:grpSp>
      <p:grpSp>
        <p:nvGrpSpPr>
          <p:cNvPr id="560451840" name="Group 13"/>
          <p:cNvGrpSpPr/>
          <p:nvPr/>
        </p:nvGrpSpPr>
        <p:grpSpPr bwMode="auto">
          <a:xfrm rot="242219">
            <a:off x="5785437" y="5233283"/>
            <a:ext cx="584464" cy="219970"/>
            <a:chOff x="0" y="0"/>
            <a:chExt cx="779285" cy="293294"/>
          </a:xfrm>
        </p:grpSpPr>
        <p:sp>
          <p:nvSpPr>
            <p:cNvPr id="14" name="Freeform 14"/>
            <p:cNvSpPr/>
            <p:nvPr/>
          </p:nvSpPr>
          <p:spPr bwMode="auto">
            <a:xfrm rot="0" flipH="0" flipV="0">
              <a:off x="0" y="0"/>
              <a:ext cx="779272" cy="293243"/>
            </a:xfrm>
            <a:custGeom>
              <a:avLst/>
              <a:gdLst/>
              <a:ahLst/>
              <a:cxnLst/>
              <a:rect l="l" t="t" r="r" b="b"/>
              <a:pathLst>
                <a:path w="779272" h="293243" fill="norm" stroke="1" extrusionOk="0">
                  <a:moveTo>
                    <a:pt x="0" y="0"/>
                  </a:moveTo>
                  <a:lnTo>
                    <a:pt x="779272" y="0"/>
                  </a:lnTo>
                  <a:lnTo>
                    <a:pt x="779272" y="293243"/>
                  </a:lnTo>
                  <a:lnTo>
                    <a:pt x="0" y="2932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/>
              <a:stretch>
                <a:fillRect l="0" t="-2" r="-1" b="-19"/>
              </a:stretch>
            </a:blipFill>
          </p:spPr>
        </p:sp>
      </p:grpSp>
      <p:grpSp>
        <p:nvGrpSpPr>
          <p:cNvPr id="245345299" name="Group 15"/>
          <p:cNvGrpSpPr/>
          <p:nvPr/>
        </p:nvGrpSpPr>
        <p:grpSpPr bwMode="auto">
          <a:xfrm rot="242219">
            <a:off x="5785437" y="5659012"/>
            <a:ext cx="584464" cy="219970"/>
            <a:chOff x="0" y="0"/>
            <a:chExt cx="779285" cy="293294"/>
          </a:xfrm>
        </p:grpSpPr>
        <p:sp>
          <p:nvSpPr>
            <p:cNvPr id="16" name="Freeform 16"/>
            <p:cNvSpPr/>
            <p:nvPr/>
          </p:nvSpPr>
          <p:spPr bwMode="auto">
            <a:xfrm rot="0" flipH="0" flipV="0">
              <a:off x="0" y="0"/>
              <a:ext cx="779272" cy="293243"/>
            </a:xfrm>
            <a:custGeom>
              <a:avLst/>
              <a:gdLst/>
              <a:ahLst/>
              <a:cxnLst/>
              <a:rect l="l" t="t" r="r" b="b"/>
              <a:pathLst>
                <a:path w="779272" h="293243" fill="norm" stroke="1" extrusionOk="0">
                  <a:moveTo>
                    <a:pt x="0" y="0"/>
                  </a:moveTo>
                  <a:lnTo>
                    <a:pt x="779272" y="0"/>
                  </a:lnTo>
                  <a:lnTo>
                    <a:pt x="779272" y="293243"/>
                  </a:lnTo>
                  <a:lnTo>
                    <a:pt x="0" y="2932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/>
              <a:stretch>
                <a:fillRect l="0" t="-2" r="-1" b="-19"/>
              </a:stretch>
            </a:blipFill>
          </p:spPr>
        </p:sp>
      </p:grpSp>
      <p:grpSp>
        <p:nvGrpSpPr>
          <p:cNvPr id="986782787" name="Group 17"/>
          <p:cNvGrpSpPr/>
          <p:nvPr/>
        </p:nvGrpSpPr>
        <p:grpSpPr bwMode="auto">
          <a:xfrm rot="242219">
            <a:off x="5790990" y="6129137"/>
            <a:ext cx="584464" cy="219970"/>
            <a:chOff x="0" y="0"/>
            <a:chExt cx="779285" cy="293294"/>
          </a:xfrm>
        </p:grpSpPr>
        <p:sp>
          <p:nvSpPr>
            <p:cNvPr id="18" name="Freeform 18"/>
            <p:cNvSpPr/>
            <p:nvPr/>
          </p:nvSpPr>
          <p:spPr bwMode="auto">
            <a:xfrm rot="0" flipH="0" flipV="0">
              <a:off x="0" y="0"/>
              <a:ext cx="779272" cy="293243"/>
            </a:xfrm>
            <a:custGeom>
              <a:avLst/>
              <a:gdLst/>
              <a:ahLst/>
              <a:cxnLst/>
              <a:rect l="l" t="t" r="r" b="b"/>
              <a:pathLst>
                <a:path w="779272" h="293243" fill="norm" stroke="1" extrusionOk="0">
                  <a:moveTo>
                    <a:pt x="0" y="0"/>
                  </a:moveTo>
                  <a:lnTo>
                    <a:pt x="779272" y="0"/>
                  </a:lnTo>
                  <a:lnTo>
                    <a:pt x="779272" y="293243"/>
                  </a:lnTo>
                  <a:lnTo>
                    <a:pt x="0" y="2932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/>
              <a:stretch>
                <a:fillRect l="0" t="-2" r="-1" b="-19"/>
              </a:stretch>
            </a:blipFill>
          </p:spPr>
        </p:sp>
      </p:grpSp>
      <p:grpSp>
        <p:nvGrpSpPr>
          <p:cNvPr id="70185972" name="Group 19"/>
          <p:cNvGrpSpPr/>
          <p:nvPr/>
        </p:nvGrpSpPr>
        <p:grpSpPr bwMode="auto">
          <a:xfrm rot="242219">
            <a:off x="5790990" y="6594909"/>
            <a:ext cx="584464" cy="219970"/>
            <a:chOff x="0" y="0"/>
            <a:chExt cx="779285" cy="293294"/>
          </a:xfrm>
        </p:grpSpPr>
        <p:sp>
          <p:nvSpPr>
            <p:cNvPr id="20" name="Freeform 20"/>
            <p:cNvSpPr/>
            <p:nvPr/>
          </p:nvSpPr>
          <p:spPr bwMode="auto">
            <a:xfrm rot="0" flipH="0" flipV="0">
              <a:off x="0" y="0"/>
              <a:ext cx="779272" cy="293243"/>
            </a:xfrm>
            <a:custGeom>
              <a:avLst/>
              <a:gdLst/>
              <a:ahLst/>
              <a:cxnLst/>
              <a:rect l="l" t="t" r="r" b="b"/>
              <a:pathLst>
                <a:path w="779272" h="293243" fill="norm" stroke="1" extrusionOk="0">
                  <a:moveTo>
                    <a:pt x="0" y="0"/>
                  </a:moveTo>
                  <a:lnTo>
                    <a:pt x="779272" y="0"/>
                  </a:lnTo>
                  <a:lnTo>
                    <a:pt x="779272" y="293243"/>
                  </a:lnTo>
                  <a:lnTo>
                    <a:pt x="0" y="2932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/>
              <a:stretch>
                <a:fillRect l="0" t="-2" r="-1" b="-19"/>
              </a:stretch>
            </a:blipFill>
          </p:spPr>
        </p:sp>
      </p:grpSp>
      <p:grpSp>
        <p:nvGrpSpPr>
          <p:cNvPr id="409468984" name="Group 21"/>
          <p:cNvGrpSpPr/>
          <p:nvPr/>
        </p:nvGrpSpPr>
        <p:grpSpPr bwMode="auto">
          <a:xfrm rot="242219">
            <a:off x="5785437" y="7852581"/>
            <a:ext cx="584464" cy="219970"/>
            <a:chOff x="0" y="0"/>
            <a:chExt cx="779285" cy="293294"/>
          </a:xfrm>
        </p:grpSpPr>
        <p:sp>
          <p:nvSpPr>
            <p:cNvPr id="22" name="Freeform 22"/>
            <p:cNvSpPr/>
            <p:nvPr/>
          </p:nvSpPr>
          <p:spPr bwMode="auto">
            <a:xfrm rot="0" flipH="0" flipV="0">
              <a:off x="0" y="0"/>
              <a:ext cx="779272" cy="293243"/>
            </a:xfrm>
            <a:custGeom>
              <a:avLst/>
              <a:gdLst/>
              <a:ahLst/>
              <a:cxnLst/>
              <a:rect l="l" t="t" r="r" b="b"/>
              <a:pathLst>
                <a:path w="779272" h="293243" fill="norm" stroke="1" extrusionOk="0">
                  <a:moveTo>
                    <a:pt x="0" y="0"/>
                  </a:moveTo>
                  <a:lnTo>
                    <a:pt x="779272" y="0"/>
                  </a:lnTo>
                  <a:lnTo>
                    <a:pt x="779272" y="293243"/>
                  </a:lnTo>
                  <a:lnTo>
                    <a:pt x="0" y="2932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/>
              <a:stretch>
                <a:fillRect l="0" t="-2" r="-1" b="-19"/>
              </a:stretch>
            </a:blipFill>
          </p:spPr>
        </p:sp>
      </p:grpSp>
      <p:grpSp>
        <p:nvGrpSpPr>
          <p:cNvPr id="1135852888" name="Group 23"/>
          <p:cNvGrpSpPr/>
          <p:nvPr/>
        </p:nvGrpSpPr>
        <p:grpSpPr bwMode="auto">
          <a:xfrm rot="242219">
            <a:off x="5790990" y="8322707"/>
            <a:ext cx="584464" cy="219970"/>
            <a:chOff x="0" y="0"/>
            <a:chExt cx="779285" cy="293294"/>
          </a:xfrm>
        </p:grpSpPr>
        <p:sp>
          <p:nvSpPr>
            <p:cNvPr id="24" name="Freeform 24"/>
            <p:cNvSpPr/>
            <p:nvPr/>
          </p:nvSpPr>
          <p:spPr bwMode="auto">
            <a:xfrm rot="0" flipH="0" flipV="0">
              <a:off x="0" y="0"/>
              <a:ext cx="779272" cy="293243"/>
            </a:xfrm>
            <a:custGeom>
              <a:avLst/>
              <a:gdLst/>
              <a:ahLst/>
              <a:cxnLst/>
              <a:rect l="l" t="t" r="r" b="b"/>
              <a:pathLst>
                <a:path w="779272" h="293243" fill="norm" stroke="1" extrusionOk="0">
                  <a:moveTo>
                    <a:pt x="0" y="0"/>
                  </a:moveTo>
                  <a:lnTo>
                    <a:pt x="779272" y="0"/>
                  </a:lnTo>
                  <a:lnTo>
                    <a:pt x="779272" y="293243"/>
                  </a:lnTo>
                  <a:lnTo>
                    <a:pt x="0" y="2932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/>
              <a:stretch>
                <a:fillRect l="0" t="-2" r="-1" b="-19"/>
              </a:stretch>
            </a:blipFill>
          </p:spPr>
        </p:sp>
      </p:grpSp>
      <p:grpSp>
        <p:nvGrpSpPr>
          <p:cNvPr id="1246285251" name="Group 25"/>
          <p:cNvGrpSpPr/>
          <p:nvPr/>
        </p:nvGrpSpPr>
        <p:grpSpPr bwMode="auto">
          <a:xfrm rot="242219">
            <a:off x="5790990" y="8781050"/>
            <a:ext cx="584464" cy="219970"/>
            <a:chOff x="0" y="0"/>
            <a:chExt cx="779285" cy="293294"/>
          </a:xfrm>
        </p:grpSpPr>
        <p:sp>
          <p:nvSpPr>
            <p:cNvPr id="26" name="Freeform 26"/>
            <p:cNvSpPr/>
            <p:nvPr/>
          </p:nvSpPr>
          <p:spPr bwMode="auto">
            <a:xfrm rot="0" flipH="0" flipV="0">
              <a:off x="0" y="0"/>
              <a:ext cx="779272" cy="293243"/>
            </a:xfrm>
            <a:custGeom>
              <a:avLst/>
              <a:gdLst/>
              <a:ahLst/>
              <a:cxnLst/>
              <a:rect l="l" t="t" r="r" b="b"/>
              <a:pathLst>
                <a:path w="779272" h="293243" fill="norm" stroke="1" extrusionOk="0">
                  <a:moveTo>
                    <a:pt x="0" y="0"/>
                  </a:moveTo>
                  <a:lnTo>
                    <a:pt x="779272" y="0"/>
                  </a:lnTo>
                  <a:lnTo>
                    <a:pt x="779272" y="293243"/>
                  </a:lnTo>
                  <a:lnTo>
                    <a:pt x="0" y="2932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/>
              <a:stretch>
                <a:fillRect l="0" t="-2" r="-1" b="-19"/>
              </a:stretch>
            </a:blipFill>
          </p:spPr>
        </p:sp>
      </p:grpSp>
      <p:grpSp>
        <p:nvGrpSpPr>
          <p:cNvPr id="676444153" name="Group 27"/>
          <p:cNvGrpSpPr/>
          <p:nvPr/>
        </p:nvGrpSpPr>
        <p:grpSpPr bwMode="auto">
          <a:xfrm rot="242219">
            <a:off x="5790990" y="9239402"/>
            <a:ext cx="584464" cy="219970"/>
            <a:chOff x="0" y="0"/>
            <a:chExt cx="779285" cy="293294"/>
          </a:xfrm>
        </p:grpSpPr>
        <p:sp>
          <p:nvSpPr>
            <p:cNvPr id="28" name="Freeform 28"/>
            <p:cNvSpPr/>
            <p:nvPr/>
          </p:nvSpPr>
          <p:spPr bwMode="auto">
            <a:xfrm rot="0" flipH="0" flipV="0">
              <a:off x="0" y="0"/>
              <a:ext cx="779272" cy="293243"/>
            </a:xfrm>
            <a:custGeom>
              <a:avLst/>
              <a:gdLst/>
              <a:ahLst/>
              <a:cxnLst/>
              <a:rect l="l" t="t" r="r" b="b"/>
              <a:pathLst>
                <a:path w="779272" h="293243" fill="norm" stroke="1" extrusionOk="0">
                  <a:moveTo>
                    <a:pt x="0" y="0"/>
                  </a:moveTo>
                  <a:lnTo>
                    <a:pt x="779272" y="0"/>
                  </a:lnTo>
                  <a:lnTo>
                    <a:pt x="779272" y="293243"/>
                  </a:lnTo>
                  <a:lnTo>
                    <a:pt x="0" y="2932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/>
              <a:stretch>
                <a:fillRect l="0" t="-2" r="-1" b="-19"/>
              </a:stretch>
            </a:blipFill>
          </p:spPr>
        </p:sp>
      </p:grpSp>
      <p:grpSp>
        <p:nvGrpSpPr>
          <p:cNvPr id="642312614" name="Group 29"/>
          <p:cNvGrpSpPr/>
          <p:nvPr/>
        </p:nvGrpSpPr>
        <p:grpSpPr bwMode="auto">
          <a:xfrm rot="242219">
            <a:off x="5790990" y="4004748"/>
            <a:ext cx="584464" cy="219970"/>
            <a:chOff x="0" y="0"/>
            <a:chExt cx="779285" cy="293294"/>
          </a:xfrm>
        </p:grpSpPr>
        <p:sp>
          <p:nvSpPr>
            <p:cNvPr id="30" name="Freeform 30"/>
            <p:cNvSpPr/>
            <p:nvPr/>
          </p:nvSpPr>
          <p:spPr bwMode="auto">
            <a:xfrm rot="0" flipH="0" flipV="0">
              <a:off x="0" y="0"/>
              <a:ext cx="779272" cy="293243"/>
            </a:xfrm>
            <a:custGeom>
              <a:avLst/>
              <a:gdLst/>
              <a:ahLst/>
              <a:cxnLst/>
              <a:rect l="l" t="t" r="r" b="b"/>
              <a:pathLst>
                <a:path w="779272" h="293243" fill="norm" stroke="1" extrusionOk="0">
                  <a:moveTo>
                    <a:pt x="0" y="0"/>
                  </a:moveTo>
                  <a:lnTo>
                    <a:pt x="779272" y="0"/>
                  </a:lnTo>
                  <a:lnTo>
                    <a:pt x="779272" y="293243"/>
                  </a:lnTo>
                  <a:lnTo>
                    <a:pt x="0" y="2932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/>
              <a:stretch>
                <a:fillRect l="0" t="-2" r="-1" b="-19"/>
              </a:stretch>
            </a:blipFill>
          </p:spPr>
        </p:sp>
      </p:grpSp>
      <p:grpSp>
        <p:nvGrpSpPr>
          <p:cNvPr id="243744806" name="Group 31"/>
          <p:cNvGrpSpPr/>
          <p:nvPr/>
        </p:nvGrpSpPr>
        <p:grpSpPr bwMode="auto">
          <a:xfrm rot="0">
            <a:off x="11780682" y="8251974"/>
            <a:ext cx="469421" cy="1278131"/>
            <a:chOff x="0" y="0"/>
            <a:chExt cx="625894" cy="1704175"/>
          </a:xfrm>
        </p:grpSpPr>
        <p:sp>
          <p:nvSpPr>
            <p:cNvPr id="32" name="Freeform 32"/>
            <p:cNvSpPr/>
            <p:nvPr/>
          </p:nvSpPr>
          <p:spPr bwMode="auto">
            <a:xfrm rot="0" flipH="1" flipV="0">
              <a:off x="0" y="0"/>
              <a:ext cx="625856" cy="1704213"/>
            </a:xfrm>
            <a:custGeom>
              <a:avLst/>
              <a:gdLst/>
              <a:ahLst/>
              <a:cxnLst/>
              <a:rect l="l" t="t" r="r" b="b"/>
              <a:pathLst>
                <a:path w="625856" h="1704213" fill="norm" stroke="1" extrusionOk="0">
                  <a:moveTo>
                    <a:pt x="625856" y="0"/>
                  </a:moveTo>
                  <a:lnTo>
                    <a:pt x="0" y="0"/>
                  </a:lnTo>
                  <a:lnTo>
                    <a:pt x="0" y="1704213"/>
                  </a:lnTo>
                  <a:lnTo>
                    <a:pt x="625856" y="1704213"/>
                  </a:lnTo>
                  <a:lnTo>
                    <a:pt x="625856" y="0"/>
                  </a:lnTo>
                  <a:close/>
                </a:path>
              </a:pathLst>
            </a:custGeom>
            <a:blipFill rotWithShape="1">
              <a:blip r:embed="rId9"/>
              <a:stretch>
                <a:fillRect l="0" t="-17" r="-6" b="-16"/>
              </a:stretch>
            </a:blipFill>
          </p:spPr>
        </p:sp>
      </p:grpSp>
      <p:grpSp>
        <p:nvGrpSpPr>
          <p:cNvPr id="1503642698" name="Group 33"/>
          <p:cNvGrpSpPr/>
          <p:nvPr/>
        </p:nvGrpSpPr>
        <p:grpSpPr bwMode="auto">
          <a:xfrm rot="0">
            <a:off x="10129343" y="7812888"/>
            <a:ext cx="2008518" cy="241021"/>
            <a:chOff x="0" y="0"/>
            <a:chExt cx="2678024" cy="321361"/>
          </a:xfrm>
        </p:grpSpPr>
        <p:sp>
          <p:nvSpPr>
            <p:cNvPr id="34" name="Freeform 34"/>
            <p:cNvSpPr/>
            <p:nvPr/>
          </p:nvSpPr>
          <p:spPr bwMode="auto">
            <a:xfrm rot="0" flipH="0" flipV="0">
              <a:off x="0" y="0"/>
              <a:ext cx="2678049" cy="321310"/>
            </a:xfrm>
            <a:custGeom>
              <a:avLst/>
              <a:gdLst/>
              <a:ahLst/>
              <a:cxnLst/>
              <a:rect l="l" t="t" r="r" b="b"/>
              <a:pathLst>
                <a:path w="2678049" h="321310" fill="norm" stroke="1" extrusionOk="0">
                  <a:moveTo>
                    <a:pt x="0" y="0"/>
                  </a:moveTo>
                  <a:lnTo>
                    <a:pt x="2678049" y="0"/>
                  </a:lnTo>
                  <a:lnTo>
                    <a:pt x="2678049" y="321310"/>
                  </a:lnTo>
                  <a:lnTo>
                    <a:pt x="0" y="32131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0"/>
              <a:stretch>
                <a:fillRect l="-4545" t="0" r="-4543" b="-15"/>
              </a:stretch>
            </a:blipFill>
          </p:spPr>
        </p:sp>
      </p:grpSp>
      <p:sp>
        <p:nvSpPr>
          <p:cNvPr id="455832925" name="TextBox 35"/>
          <p:cNvSpPr txBox="1"/>
          <p:nvPr/>
        </p:nvSpPr>
        <p:spPr bwMode="auto">
          <a:xfrm rot="0">
            <a:off x="2508209" y="1276350"/>
            <a:ext cx="14997351" cy="1825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75"/>
              </a:lnSpc>
              <a:defRPr/>
            </a:pPr>
            <a:r>
              <a:rPr lang="en-US" sz="8050" spc="-482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100000">
                      <a:srgbClr val="CB6CE6">
                        <a:alpha val="100000"/>
                      </a:srgbClr>
                    </a:gs>
                  </a:gsLst>
                  <a:lin ang="0" scaled="1"/>
                </a:gradFill>
                <a:latin typeface="Goudy"/>
                <a:ea typeface="Goudy"/>
                <a:cs typeface="Goudy"/>
              </a:rPr>
              <a:t>Modélisation et Comparaison d'Algorithmes</a:t>
            </a:r>
            <a:endParaRPr/>
          </a:p>
        </p:txBody>
      </p:sp>
      <p:sp>
        <p:nvSpPr>
          <p:cNvPr id="913886047" name="TextBox 36"/>
          <p:cNvSpPr txBox="1"/>
          <p:nvPr/>
        </p:nvSpPr>
        <p:spPr bwMode="auto">
          <a:xfrm rot="0">
            <a:off x="5319322" y="3521373"/>
            <a:ext cx="3259303" cy="291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  <a:defRPr/>
            </a:pPr>
            <a:r>
              <a:rPr lang="en-US" sz="18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</a:rPr>
              <a:t>Approche méthodologique </a:t>
            </a:r>
            <a:endParaRPr/>
          </a:p>
        </p:txBody>
      </p:sp>
      <p:sp>
        <p:nvSpPr>
          <p:cNvPr id="2019994052" name="TextBox 37"/>
          <p:cNvSpPr txBox="1"/>
          <p:nvPr/>
        </p:nvSpPr>
        <p:spPr bwMode="auto">
          <a:xfrm rot="0">
            <a:off x="6501897" y="3953550"/>
            <a:ext cx="6797566" cy="297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  <a:defRPr/>
            </a:pPr>
            <a:r>
              <a:rPr lang="en-US" sz="18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Tester plusieurs </a:t>
            </a:r>
            <a:r>
              <a:rPr lang="fr-FR" sz="18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modèles</a:t>
            </a:r>
            <a:r>
              <a:rPr lang="en-US" sz="18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</a:t>
            </a:r>
            <a:endParaRPr/>
          </a:p>
        </p:txBody>
      </p:sp>
      <p:sp>
        <p:nvSpPr>
          <p:cNvPr id="1885543598" name="TextBox 38"/>
          <p:cNvSpPr txBox="1"/>
          <p:nvPr/>
        </p:nvSpPr>
        <p:spPr bwMode="auto">
          <a:xfrm rot="0">
            <a:off x="5319322" y="7298217"/>
            <a:ext cx="2952826" cy="291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  <a:defRPr/>
            </a:pPr>
            <a:r>
              <a:rPr lang="en-US" sz="18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</a:rPr>
              <a:t>Métriques d'évaluation </a:t>
            </a:r>
            <a:endParaRPr/>
          </a:p>
        </p:txBody>
      </p:sp>
      <p:sp>
        <p:nvSpPr>
          <p:cNvPr id="1101979043" name="TextBox 39"/>
          <p:cNvSpPr txBox="1"/>
          <p:nvPr/>
        </p:nvSpPr>
        <p:spPr bwMode="auto">
          <a:xfrm rot="0">
            <a:off x="6487306" y="7657717"/>
            <a:ext cx="7582756" cy="1939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90"/>
              </a:lnSpc>
              <a:defRPr/>
            </a:pPr>
            <a:r>
              <a:rPr lang="en-US" sz="18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R² : Coefficient de détermination </a:t>
            </a:r>
            <a:endParaRPr/>
          </a:p>
          <a:p>
            <a:pPr algn="l">
              <a:lnSpc>
                <a:spcPts val="3690"/>
              </a:lnSpc>
              <a:defRPr/>
            </a:pPr>
            <a:r>
              <a:rPr lang="en-US" sz="18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RMSE : Erreur quadratique moyenne (en kBtu)</a:t>
            </a:r>
            <a:endParaRPr/>
          </a:p>
          <a:p>
            <a:pPr algn="l">
              <a:lnSpc>
                <a:spcPts val="3690"/>
              </a:lnSpc>
              <a:defRPr/>
            </a:pPr>
            <a:r>
              <a:rPr lang="en-US" sz="18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MAE : Erreur absolue moyenne (en kBtu)</a:t>
            </a:r>
            <a:endParaRPr/>
          </a:p>
          <a:p>
            <a:pPr algn="l">
              <a:lnSpc>
                <a:spcPts val="3690"/>
              </a:lnSpc>
              <a:defRPr/>
            </a:pPr>
            <a:r>
              <a:rPr lang="en-US" sz="18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MAPE : Erreur absolue moyenne en pourcentage</a:t>
            </a:r>
            <a:endParaRPr/>
          </a:p>
        </p:txBody>
      </p:sp>
      <p:sp>
        <p:nvSpPr>
          <p:cNvPr id="1606327256" name="TextBox 40"/>
          <p:cNvSpPr txBox="1"/>
          <p:nvPr/>
        </p:nvSpPr>
        <p:spPr bwMode="auto">
          <a:xfrm rot="0">
            <a:off x="12469349" y="8695573"/>
            <a:ext cx="3092644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lang="en-US" sz="18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</a:rPr>
              <a:t>plus proche de 0, bon score</a:t>
            </a:r>
            <a:endParaRPr/>
          </a:p>
        </p:txBody>
      </p:sp>
      <p:sp>
        <p:nvSpPr>
          <p:cNvPr id="633609690" name="TextBox 41"/>
          <p:cNvSpPr txBox="1"/>
          <p:nvPr/>
        </p:nvSpPr>
        <p:spPr bwMode="auto">
          <a:xfrm rot="0">
            <a:off x="12250101" y="7757303"/>
            <a:ext cx="3092644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lang="en-US" sz="18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</a:rPr>
              <a:t>plus proche de 1, bon score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4615243" name="Freeform 2"/>
          <p:cNvSpPr/>
          <p:nvPr/>
        </p:nvSpPr>
        <p:spPr bwMode="auto">
          <a:xfrm rot="0" flipH="0" flipV="0">
            <a:off x="-20393" y="9876709"/>
            <a:ext cx="18525344" cy="410291"/>
          </a:xfrm>
          <a:custGeom>
            <a:avLst/>
            <a:gdLst/>
            <a:ahLst/>
            <a:cxnLst/>
            <a:rect l="l" t="t" r="r" b="b"/>
            <a:pathLst>
              <a:path w="18525344" h="410291" fill="norm" stroke="1" extrusionOk="0">
                <a:moveTo>
                  <a:pt x="0" y="0"/>
                </a:moveTo>
                <a:lnTo>
                  <a:pt x="18525344" y="0"/>
                </a:lnTo>
                <a:lnTo>
                  <a:pt x="18525344" y="410291"/>
                </a:lnTo>
                <a:lnTo>
                  <a:pt x="0" y="4102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 l="0" t="0" r="0" b="0"/>
            </a:stretch>
          </a:blipFill>
        </p:spPr>
      </p:sp>
      <p:grpSp>
        <p:nvGrpSpPr>
          <p:cNvPr id="1290222137" name="Group 3"/>
          <p:cNvGrpSpPr/>
          <p:nvPr/>
        </p:nvGrpSpPr>
        <p:grpSpPr bwMode="auto">
          <a:xfrm rot="5400000">
            <a:off x="501334" y="-501334"/>
            <a:ext cx="6989568" cy="7992237"/>
            <a:chOff x="0" y="0"/>
            <a:chExt cx="9319424" cy="10656316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9319387" cy="10656316"/>
            </a:xfrm>
            <a:custGeom>
              <a:avLst/>
              <a:gdLst/>
              <a:ahLst/>
              <a:cxnLst/>
              <a:rect l="l" t="t" r="r" b="b"/>
              <a:pathLst>
                <a:path w="9319387" h="10656316" fill="norm" stroke="1" extrusionOk="0">
                  <a:moveTo>
                    <a:pt x="0" y="0"/>
                  </a:moveTo>
                  <a:lnTo>
                    <a:pt x="9319387" y="0"/>
                  </a:lnTo>
                  <a:lnTo>
                    <a:pt x="9319387" y="10656316"/>
                  </a:lnTo>
                  <a:lnTo>
                    <a:pt x="0" y="1065631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/>
              <a:stretch>
                <a:fillRect l="0" t="-23" r="0" b="-22"/>
              </a:stretch>
            </a:blipFill>
          </p:spPr>
        </p:sp>
      </p:grpSp>
      <p:grpSp>
        <p:nvGrpSpPr>
          <p:cNvPr id="1765812148" name="Group 9"/>
          <p:cNvGrpSpPr/>
          <p:nvPr/>
        </p:nvGrpSpPr>
        <p:grpSpPr bwMode="auto">
          <a:xfrm rot="0">
            <a:off x="2175520" y="4502782"/>
            <a:ext cx="575148" cy="603828"/>
            <a:chOff x="0" y="0"/>
            <a:chExt cx="766864" cy="805104"/>
          </a:xfrm>
        </p:grpSpPr>
        <p:sp>
          <p:nvSpPr>
            <p:cNvPr id="10" name="Freeform 10"/>
            <p:cNvSpPr/>
            <p:nvPr/>
          </p:nvSpPr>
          <p:spPr bwMode="auto">
            <a:xfrm rot="0" flipH="0" flipV="0">
              <a:off x="0" y="0"/>
              <a:ext cx="766826" cy="805053"/>
            </a:xfrm>
            <a:custGeom>
              <a:avLst/>
              <a:gdLst/>
              <a:ahLst/>
              <a:cxnLst/>
              <a:rect l="l" t="t" r="r" b="b"/>
              <a:pathLst>
                <a:path w="766826" h="805053" fill="norm" stroke="1" extrusionOk="0">
                  <a:moveTo>
                    <a:pt x="0" y="0"/>
                  </a:moveTo>
                  <a:lnTo>
                    <a:pt x="766826" y="0"/>
                  </a:lnTo>
                  <a:lnTo>
                    <a:pt x="766826" y="805053"/>
                  </a:lnTo>
                  <a:lnTo>
                    <a:pt x="0" y="80505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/>
              <a:stretch>
                <a:fillRect l="0" t="-6" r="-4" b="-12"/>
              </a:stretch>
            </a:blipFill>
          </p:spPr>
        </p:sp>
      </p:grpSp>
      <p:grpSp>
        <p:nvGrpSpPr>
          <p:cNvPr id="14945199" name="Group 11"/>
          <p:cNvGrpSpPr/>
          <p:nvPr/>
        </p:nvGrpSpPr>
        <p:grpSpPr bwMode="auto">
          <a:xfrm rot="0">
            <a:off x="2219173" y="6236741"/>
            <a:ext cx="487851" cy="512178"/>
            <a:chOff x="0" y="0"/>
            <a:chExt cx="650469" cy="682904"/>
          </a:xfrm>
        </p:grpSpPr>
        <p:sp>
          <p:nvSpPr>
            <p:cNvPr id="12" name="Freeform 12"/>
            <p:cNvSpPr/>
            <p:nvPr/>
          </p:nvSpPr>
          <p:spPr bwMode="auto">
            <a:xfrm rot="0" flipH="0" flipV="0">
              <a:off x="0" y="0"/>
              <a:ext cx="650494" cy="682879"/>
            </a:xfrm>
            <a:custGeom>
              <a:avLst/>
              <a:gdLst/>
              <a:ahLst/>
              <a:cxnLst/>
              <a:rect l="l" t="t" r="r" b="b"/>
              <a:pathLst>
                <a:path w="650494" h="682879" fill="norm" stroke="1" extrusionOk="0">
                  <a:moveTo>
                    <a:pt x="0" y="0"/>
                  </a:moveTo>
                  <a:lnTo>
                    <a:pt x="650494" y="0"/>
                  </a:lnTo>
                  <a:lnTo>
                    <a:pt x="650494" y="682879"/>
                  </a:lnTo>
                  <a:lnTo>
                    <a:pt x="0" y="68287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/>
              <a:stretch>
                <a:fillRect l="0" t="-5" r="3" b="-10"/>
              </a:stretch>
            </a:blipFill>
          </p:spPr>
        </p:sp>
      </p:grpSp>
      <p:sp>
        <p:nvSpPr>
          <p:cNvPr id="61106529" name="TextBox 13"/>
          <p:cNvSpPr txBox="1"/>
          <p:nvPr/>
        </p:nvSpPr>
        <p:spPr bwMode="auto">
          <a:xfrm rot="0">
            <a:off x="3759841" y="4838700"/>
            <a:ext cx="12320264" cy="1139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defRPr/>
            </a:pPr>
            <a:r>
              <a:rPr lang="en-US" sz="21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Utilisation d’un pipeline, pour entrainer les 4 modèle de façon similaire</a:t>
            </a:r>
            <a:endParaRPr/>
          </a:p>
          <a:p>
            <a:pPr algn="l">
              <a:lnSpc>
                <a:spcPts val="4199"/>
              </a:lnSpc>
              <a:defRPr/>
            </a:pPr>
            <a:r>
              <a:rPr lang="en-US" sz="21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Utilisation du scaling via </a:t>
            </a:r>
            <a:r>
              <a:rPr lang="en-US" sz="21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</a:rPr>
              <a:t>scaler, StandardScaler()) </a:t>
            </a:r>
            <a:r>
              <a:rPr lang="en-US" sz="21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pour avoir une standardisation des données</a:t>
            </a:r>
            <a:endParaRPr/>
          </a:p>
        </p:txBody>
      </p:sp>
      <p:grpSp>
        <p:nvGrpSpPr>
          <p:cNvPr id="564808586" name="Group 14"/>
          <p:cNvGrpSpPr/>
          <p:nvPr/>
        </p:nvGrpSpPr>
        <p:grpSpPr bwMode="auto">
          <a:xfrm rot="0">
            <a:off x="2222030" y="8317354"/>
            <a:ext cx="484994" cy="509178"/>
            <a:chOff x="0" y="0"/>
            <a:chExt cx="646659" cy="678904"/>
          </a:xfrm>
        </p:grpSpPr>
        <p:sp>
          <p:nvSpPr>
            <p:cNvPr id="15" name="Freeform 15"/>
            <p:cNvSpPr/>
            <p:nvPr/>
          </p:nvSpPr>
          <p:spPr bwMode="auto">
            <a:xfrm rot="0" flipH="0" flipV="0">
              <a:off x="0" y="0"/>
              <a:ext cx="646684" cy="678942"/>
            </a:xfrm>
            <a:custGeom>
              <a:avLst/>
              <a:gdLst/>
              <a:ahLst/>
              <a:cxnLst/>
              <a:rect l="l" t="t" r="r" b="b"/>
              <a:pathLst>
                <a:path w="646684" h="678942" fill="norm" stroke="1" extrusionOk="0">
                  <a:moveTo>
                    <a:pt x="0" y="0"/>
                  </a:moveTo>
                  <a:lnTo>
                    <a:pt x="646684" y="0"/>
                  </a:lnTo>
                  <a:lnTo>
                    <a:pt x="646684" y="678942"/>
                  </a:lnTo>
                  <a:lnTo>
                    <a:pt x="0" y="67894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/>
              <a:stretch>
                <a:fillRect l="0" t="-5" r="3" b="-1"/>
              </a:stretch>
            </a:blipFill>
          </p:spPr>
        </p:sp>
      </p:grpSp>
      <p:sp>
        <p:nvSpPr>
          <p:cNvPr id="842572232" name="TextBox 16"/>
          <p:cNvSpPr txBox="1"/>
          <p:nvPr/>
        </p:nvSpPr>
        <p:spPr bwMode="auto">
          <a:xfrm rot="0">
            <a:off x="1103566" y="545935"/>
            <a:ext cx="15851599" cy="1343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00"/>
              </a:lnSpc>
              <a:defRPr/>
            </a:pPr>
            <a:r>
              <a:rPr lang="en-US" sz="7200" spc="-480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100000">
                      <a:srgbClr val="CB6CE6">
                        <a:alpha val="100000"/>
                      </a:srgbClr>
                    </a:gs>
                  </a:gsLst>
                  <a:lin ang="0" scaled="1"/>
                </a:gradFill>
                <a:latin typeface="Arimo"/>
                <a:ea typeface="Arimo"/>
                <a:cs typeface="Arimo"/>
              </a:rPr>
              <a:t>Modélisation et Comparaison d'Algorithmes</a:t>
            </a:r>
            <a:endParaRPr/>
          </a:p>
        </p:txBody>
      </p:sp>
      <p:sp>
        <p:nvSpPr>
          <p:cNvPr id="308248008" name="TextBox 17"/>
          <p:cNvSpPr txBox="1"/>
          <p:nvPr/>
        </p:nvSpPr>
        <p:spPr bwMode="auto">
          <a:xfrm rot="0">
            <a:off x="3879922" y="7121594"/>
            <a:ext cx="12332502" cy="1039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8"/>
              </a:lnSpc>
              <a:defRPr/>
            </a:pPr>
            <a:r>
              <a:rPr lang="en-US" sz="21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Le modèle Linear Regression parait meilleur :</a:t>
            </a:r>
            <a:endParaRPr/>
          </a:p>
          <a:p>
            <a:pPr marL="480059" lvl="2" indent="-160020" algn="l">
              <a:lnSpc>
                <a:spcPts val="2728"/>
              </a:lnSpc>
              <a:buFont typeface="Arial"/>
              <a:buChar char="⚬"/>
              <a:defRPr/>
            </a:pPr>
            <a:r>
              <a:rPr lang="en-US" sz="21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plus rapide 0,0</a:t>
            </a:r>
            <a:r>
              <a:rPr lang="fr-FR" sz="21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682</a:t>
            </a:r>
            <a:endParaRPr/>
          </a:p>
          <a:p>
            <a:pPr marL="480059" lvl="2" indent="-160020" algn="l">
              <a:lnSpc>
                <a:spcPts val="2728"/>
              </a:lnSpc>
              <a:buFont typeface="Arial"/>
              <a:buChar char="⚬"/>
              <a:defRPr/>
            </a:pPr>
            <a:r>
              <a:rPr lang="en-US" sz="21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R²Train (</a:t>
            </a:r>
            <a:r>
              <a:rPr lang="fr-FR" sz="21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71</a:t>
            </a:r>
            <a:r>
              <a:rPr lang="en-US" sz="21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) &gt; R² test (6</a:t>
            </a:r>
            <a:r>
              <a:rPr lang="fr-FR" sz="21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8</a:t>
            </a:r>
            <a:r>
              <a:rPr lang="en-US" sz="21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), donc</a:t>
            </a:r>
            <a:r>
              <a:rPr lang="en-US" sz="21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pas de surapprentissage</a:t>
            </a:r>
            <a:r>
              <a:rPr lang="en-US" sz="21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et</a:t>
            </a:r>
            <a:r>
              <a:rPr lang="en-US" sz="21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écart faible</a:t>
            </a:r>
            <a:r>
              <a:rPr lang="en-US" sz="21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.</a:t>
            </a:r>
            <a:endParaRPr/>
          </a:p>
        </p:txBody>
      </p:sp>
      <p:sp>
        <p:nvSpPr>
          <p:cNvPr id="1878593571" name="TextBox 18"/>
          <p:cNvSpPr txBox="1"/>
          <p:nvPr/>
        </p:nvSpPr>
        <p:spPr bwMode="auto">
          <a:xfrm rot="0">
            <a:off x="2918889" y="4639132"/>
            <a:ext cx="2535012" cy="434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8"/>
              </a:lnSpc>
              <a:defRPr/>
            </a:pPr>
            <a:r>
              <a:rPr lang="en-US" sz="25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</a:rPr>
              <a:t>Modélisation</a:t>
            </a:r>
            <a:endParaRPr/>
          </a:p>
        </p:txBody>
      </p:sp>
      <p:sp>
        <p:nvSpPr>
          <p:cNvPr id="928255830" name="TextBox 19"/>
          <p:cNvSpPr txBox="1"/>
          <p:nvPr/>
        </p:nvSpPr>
        <p:spPr bwMode="auto">
          <a:xfrm rot="0">
            <a:off x="3972277" y="8903970"/>
            <a:ext cx="11302336" cy="354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8"/>
              </a:lnSpc>
              <a:defRPr/>
            </a:pPr>
            <a:r>
              <a:rPr lang="en-US" sz="21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La Moyenne des erreurs proche de zéro, donc la prédiction est proche des valeurs réelles</a:t>
            </a:r>
            <a:endParaRPr/>
          </a:p>
        </p:txBody>
      </p:sp>
      <p:sp>
        <p:nvSpPr>
          <p:cNvPr id="1652008490" name="TextBox 20"/>
          <p:cNvSpPr txBox="1"/>
          <p:nvPr/>
        </p:nvSpPr>
        <p:spPr bwMode="auto">
          <a:xfrm rot="0">
            <a:off x="2853214" y="6247276"/>
            <a:ext cx="2535012" cy="434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8"/>
              </a:lnSpc>
              <a:defRPr/>
            </a:pPr>
            <a:r>
              <a:rPr lang="en-US" sz="25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</a:rPr>
              <a:t>Comparaison</a:t>
            </a:r>
            <a:endParaRPr/>
          </a:p>
        </p:txBody>
      </p:sp>
      <p:sp>
        <p:nvSpPr>
          <p:cNvPr id="1197739426" name="TextBox 21"/>
          <p:cNvSpPr txBox="1"/>
          <p:nvPr/>
        </p:nvSpPr>
        <p:spPr bwMode="auto">
          <a:xfrm rot="0">
            <a:off x="3879923" y="6710829"/>
            <a:ext cx="5381196" cy="354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8"/>
              </a:lnSpc>
              <a:defRPr/>
            </a:pPr>
            <a:r>
              <a:rPr lang="en-US" sz="21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Nos 3 modèles font mieux que la Baseline</a:t>
            </a:r>
            <a:endParaRPr/>
          </a:p>
        </p:txBody>
      </p:sp>
      <p:sp>
        <p:nvSpPr>
          <p:cNvPr id="1100826772" name="TextBox 22"/>
          <p:cNvSpPr txBox="1"/>
          <p:nvPr/>
        </p:nvSpPr>
        <p:spPr bwMode="auto">
          <a:xfrm rot="0">
            <a:off x="2853214" y="8391563"/>
            <a:ext cx="2535012" cy="434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8"/>
              </a:lnSpc>
              <a:defRPr/>
            </a:pPr>
            <a:r>
              <a:rPr lang="en-US" sz="25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</a:rPr>
              <a:t>Interprétation</a:t>
            </a:r>
            <a:endParaRPr/>
          </a:p>
        </p:txBody>
      </p:sp>
      <p:pic>
        <p:nvPicPr>
          <p:cNvPr id="1600366099" name="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 flipH="0" flipV="0">
            <a:off x="2532321" y="1838477"/>
            <a:ext cx="15047626" cy="2423121"/>
          </a:xfrm>
          <a:prstGeom prst="rect">
            <a:avLst/>
          </a:prstGeom>
        </p:spPr>
      </p:pic>
      <p:grpSp>
        <p:nvGrpSpPr>
          <p:cNvPr id="839347004" name="Group 7"/>
          <p:cNvGrpSpPr/>
          <p:nvPr/>
        </p:nvGrpSpPr>
        <p:grpSpPr bwMode="auto">
          <a:xfrm rot="0" flipH="0" flipV="0">
            <a:off x="1725825" y="2888731"/>
            <a:ext cx="1174894" cy="322611"/>
            <a:chOff x="0" y="0"/>
            <a:chExt cx="1174894" cy="322611"/>
          </a:xfrm>
        </p:grpSpPr>
        <p:sp>
          <p:nvSpPr>
            <p:cNvPr id="8" name="Freeform 8"/>
            <p:cNvSpPr/>
            <p:nvPr/>
          </p:nvSpPr>
          <p:spPr bwMode="auto">
            <a:xfrm rot="0" flipH="0" flipV="0">
              <a:off x="0" y="0"/>
              <a:ext cx="1174822" cy="322611"/>
            </a:xfrm>
            <a:custGeom>
              <a:avLst/>
              <a:gdLst/>
              <a:ahLst/>
              <a:cxnLst/>
              <a:rect l="l" t="t" r="r" b="b"/>
              <a:pathLst>
                <a:path w="1036447" h="430149" fill="norm" stroke="1" extrusionOk="0">
                  <a:moveTo>
                    <a:pt x="0" y="0"/>
                  </a:moveTo>
                  <a:lnTo>
                    <a:pt x="1036447" y="0"/>
                  </a:lnTo>
                  <a:lnTo>
                    <a:pt x="1036447" y="430149"/>
                  </a:lnTo>
                  <a:lnTo>
                    <a:pt x="0" y="43014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9"/>
              <a:stretch>
                <a:fillRect l="0" t="-56" r="-6" b="-55"/>
              </a:stretch>
            </a:blipFill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847584" name="Freeform 2"/>
          <p:cNvSpPr/>
          <p:nvPr/>
        </p:nvSpPr>
        <p:spPr bwMode="auto">
          <a:xfrm rot="0" flipH="0" flipV="0">
            <a:off x="-212821" y="9877252"/>
            <a:ext cx="18500821" cy="409748"/>
          </a:xfrm>
          <a:custGeom>
            <a:avLst/>
            <a:gdLst/>
            <a:ahLst/>
            <a:cxnLst/>
            <a:rect l="l" t="t" r="r" b="b"/>
            <a:pathLst>
              <a:path w="18500821" h="409748" fill="norm" stroke="1" extrusionOk="0">
                <a:moveTo>
                  <a:pt x="0" y="0"/>
                </a:moveTo>
                <a:lnTo>
                  <a:pt x="18500821" y="0"/>
                </a:lnTo>
                <a:lnTo>
                  <a:pt x="18500821" y="409748"/>
                </a:lnTo>
                <a:lnTo>
                  <a:pt x="0" y="4097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 l="0" t="0" r="0" b="0"/>
            </a:stretch>
          </a:blipFill>
        </p:spPr>
      </p:sp>
      <p:grpSp>
        <p:nvGrpSpPr>
          <p:cNvPr id="1633713759" name="Group 3"/>
          <p:cNvGrpSpPr/>
          <p:nvPr/>
        </p:nvGrpSpPr>
        <p:grpSpPr bwMode="auto">
          <a:xfrm rot="5400000">
            <a:off x="501334" y="-501334"/>
            <a:ext cx="6989568" cy="7992237"/>
            <a:chOff x="0" y="0"/>
            <a:chExt cx="9319424" cy="10656316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9319387" cy="10656316"/>
            </a:xfrm>
            <a:custGeom>
              <a:avLst/>
              <a:gdLst/>
              <a:ahLst/>
              <a:cxnLst/>
              <a:rect l="l" t="t" r="r" b="b"/>
              <a:pathLst>
                <a:path w="9319387" h="10656316" fill="norm" stroke="1" extrusionOk="0">
                  <a:moveTo>
                    <a:pt x="0" y="0"/>
                  </a:moveTo>
                  <a:lnTo>
                    <a:pt x="9319387" y="0"/>
                  </a:lnTo>
                  <a:lnTo>
                    <a:pt x="9319387" y="10656316"/>
                  </a:lnTo>
                  <a:lnTo>
                    <a:pt x="0" y="1065631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/>
              <a:stretch>
                <a:fillRect l="0" t="-23" r="0" b="-22"/>
              </a:stretch>
            </a:blipFill>
          </p:spPr>
        </p:sp>
      </p:grpSp>
      <p:grpSp>
        <p:nvGrpSpPr>
          <p:cNvPr id="911856691" name="Group 5"/>
          <p:cNvGrpSpPr/>
          <p:nvPr/>
        </p:nvGrpSpPr>
        <p:grpSpPr bwMode="auto">
          <a:xfrm rot="0">
            <a:off x="1028700" y="2029758"/>
            <a:ext cx="16021955" cy="4452185"/>
            <a:chOff x="0" y="0"/>
            <a:chExt cx="21362606" cy="5936247"/>
          </a:xfrm>
        </p:grpSpPr>
        <p:sp>
          <p:nvSpPr>
            <p:cNvPr id="6" name="Freeform 6"/>
            <p:cNvSpPr/>
            <p:nvPr/>
          </p:nvSpPr>
          <p:spPr bwMode="auto">
            <a:xfrm rot="0" flipH="0" flipV="0">
              <a:off x="0" y="0"/>
              <a:ext cx="21362670" cy="5936234"/>
            </a:xfrm>
            <a:custGeom>
              <a:avLst/>
              <a:gdLst/>
              <a:ahLst/>
              <a:cxnLst/>
              <a:rect l="l" t="t" r="r" b="b"/>
              <a:pathLst>
                <a:path w="21362670" h="5936234" fill="norm" stroke="1" extrusionOk="0">
                  <a:moveTo>
                    <a:pt x="0" y="0"/>
                  </a:moveTo>
                  <a:lnTo>
                    <a:pt x="21362670" y="0"/>
                  </a:lnTo>
                  <a:lnTo>
                    <a:pt x="21362670" y="5936234"/>
                  </a:lnTo>
                  <a:lnTo>
                    <a:pt x="0" y="593623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/>
              <a:stretch>
                <a:fillRect l="0" t="0" r="0" b="0"/>
              </a:stretch>
            </a:blipFill>
          </p:spPr>
        </p:sp>
      </p:grpSp>
      <p:sp>
        <p:nvSpPr>
          <p:cNvPr id="1451125279" name="TextBox 7"/>
          <p:cNvSpPr txBox="1"/>
          <p:nvPr/>
        </p:nvSpPr>
        <p:spPr bwMode="auto">
          <a:xfrm rot="0">
            <a:off x="2183968" y="190205"/>
            <a:ext cx="8513940" cy="1543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00"/>
              </a:lnSpc>
              <a:defRPr/>
            </a:pPr>
            <a:r>
              <a:rPr lang="en-US" sz="8000" spc="-480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100000">
                      <a:srgbClr val="CB6CE6">
                        <a:alpha val="100000"/>
                      </a:srgbClr>
                    </a:gs>
                  </a:gsLst>
                  <a:lin ang="0" scaled="1"/>
                </a:gradFill>
                <a:latin typeface="Goudy"/>
                <a:ea typeface="Goudy"/>
                <a:cs typeface="Goudy"/>
              </a:rPr>
              <a:t>Analyse des résultats</a:t>
            </a:r>
            <a:endParaRPr/>
          </a:p>
        </p:txBody>
      </p:sp>
      <p:sp>
        <p:nvSpPr>
          <p:cNvPr id="1058035589" name="TextBox 8"/>
          <p:cNvSpPr txBox="1"/>
          <p:nvPr/>
        </p:nvSpPr>
        <p:spPr bwMode="auto">
          <a:xfrm rot="0">
            <a:off x="1942233" y="7705811"/>
            <a:ext cx="8755666" cy="354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8"/>
              </a:lnSpc>
              <a:defRPr/>
            </a:pPr>
            <a:r>
              <a:rPr lang="en-US" sz="2100" u="sng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Analyse des résidus:</a:t>
            </a:r>
            <a:r>
              <a:rPr lang="en-US" sz="21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les points ne forment pas de schéma précis</a:t>
            </a:r>
            <a:endParaRPr/>
          </a:p>
        </p:txBody>
      </p:sp>
      <p:sp>
        <p:nvSpPr>
          <p:cNvPr id="418545505" name="TextBox 9"/>
          <p:cNvSpPr txBox="1"/>
          <p:nvPr/>
        </p:nvSpPr>
        <p:spPr bwMode="auto">
          <a:xfrm rot="0">
            <a:off x="1942233" y="6995979"/>
            <a:ext cx="13943819" cy="354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8"/>
              </a:lnSpc>
              <a:defRPr/>
            </a:pPr>
            <a:r>
              <a:rPr lang="en-US" sz="2100" u="sng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Prédictions vs Réalité </a:t>
            </a:r>
            <a:r>
              <a:rPr lang="en-US" sz="21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: l'ensemble des points sont proches de la ligne rouge qui représente la prédiction idéale </a:t>
            </a:r>
            <a:endParaRPr/>
          </a:p>
        </p:txBody>
      </p:sp>
      <p:sp>
        <p:nvSpPr>
          <p:cNvPr id="1961534830" name="TextBox 10"/>
          <p:cNvSpPr txBox="1"/>
          <p:nvPr/>
        </p:nvSpPr>
        <p:spPr bwMode="auto">
          <a:xfrm rot="0">
            <a:off x="1876558" y="8492252"/>
            <a:ext cx="10331815" cy="354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8"/>
              </a:lnSpc>
              <a:defRPr/>
            </a:pPr>
            <a:r>
              <a:rPr lang="en-US" sz="2100" u="sng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Distribution des Erreurs :</a:t>
            </a:r>
            <a:r>
              <a:rPr lang="en-US" sz="21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graphique sous forme de cloche, proche de zéro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088354" name="Freeform 2"/>
          <p:cNvSpPr/>
          <p:nvPr/>
        </p:nvSpPr>
        <p:spPr bwMode="auto">
          <a:xfrm rot="0" flipH="0" flipV="0">
            <a:off x="-231440" y="9876840"/>
            <a:ext cx="18519440" cy="410160"/>
          </a:xfrm>
          <a:custGeom>
            <a:avLst/>
            <a:gdLst/>
            <a:ahLst/>
            <a:cxnLst/>
            <a:rect l="l" t="t" r="r" b="b"/>
            <a:pathLst>
              <a:path w="18519440" h="410160" fill="norm" stroke="1" extrusionOk="0">
                <a:moveTo>
                  <a:pt x="0" y="0"/>
                </a:moveTo>
                <a:lnTo>
                  <a:pt x="18519440" y="0"/>
                </a:lnTo>
                <a:lnTo>
                  <a:pt x="18519440" y="410160"/>
                </a:lnTo>
                <a:lnTo>
                  <a:pt x="0" y="4101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 l="0" t="0" r="0" b="0"/>
            </a:stretch>
          </a:blipFill>
        </p:spPr>
      </p:sp>
      <p:grpSp>
        <p:nvGrpSpPr>
          <p:cNvPr id="851649711" name="Group 3"/>
          <p:cNvGrpSpPr/>
          <p:nvPr/>
        </p:nvGrpSpPr>
        <p:grpSpPr bwMode="auto">
          <a:xfrm rot="5400000">
            <a:off x="501334" y="-501334"/>
            <a:ext cx="6989568" cy="7992237"/>
            <a:chOff x="0" y="0"/>
            <a:chExt cx="9319424" cy="10656316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9319387" cy="10656316"/>
            </a:xfrm>
            <a:custGeom>
              <a:avLst/>
              <a:gdLst/>
              <a:ahLst/>
              <a:cxnLst/>
              <a:rect l="l" t="t" r="r" b="b"/>
              <a:pathLst>
                <a:path w="9319387" h="10656316" fill="norm" stroke="1" extrusionOk="0">
                  <a:moveTo>
                    <a:pt x="0" y="0"/>
                  </a:moveTo>
                  <a:lnTo>
                    <a:pt x="9319387" y="0"/>
                  </a:lnTo>
                  <a:lnTo>
                    <a:pt x="9319387" y="10656316"/>
                  </a:lnTo>
                  <a:lnTo>
                    <a:pt x="0" y="1065631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/>
              <a:stretch>
                <a:fillRect l="0" t="-23" r="0" b="-22"/>
              </a:stretch>
            </a:blipFill>
          </p:spPr>
        </p:sp>
      </p:grpSp>
      <p:grpSp>
        <p:nvGrpSpPr>
          <p:cNvPr id="540536205" name="Group 5"/>
          <p:cNvGrpSpPr/>
          <p:nvPr/>
        </p:nvGrpSpPr>
        <p:grpSpPr bwMode="auto">
          <a:xfrm rot="0">
            <a:off x="2717625" y="2548509"/>
            <a:ext cx="11933320" cy="5715371"/>
            <a:chOff x="0" y="0"/>
            <a:chExt cx="15911093" cy="7620495"/>
          </a:xfrm>
        </p:grpSpPr>
        <p:sp>
          <p:nvSpPr>
            <p:cNvPr id="6" name="Freeform 6"/>
            <p:cNvSpPr/>
            <p:nvPr/>
          </p:nvSpPr>
          <p:spPr bwMode="auto">
            <a:xfrm rot="0" flipH="0" flipV="0">
              <a:off x="0" y="0"/>
              <a:ext cx="15911068" cy="7620508"/>
            </a:xfrm>
            <a:custGeom>
              <a:avLst/>
              <a:gdLst/>
              <a:ahLst/>
              <a:cxnLst/>
              <a:rect l="l" t="t" r="r" b="b"/>
              <a:pathLst>
                <a:path w="15911068" h="7620508" fill="norm" stroke="1" extrusionOk="0">
                  <a:moveTo>
                    <a:pt x="0" y="0"/>
                  </a:moveTo>
                  <a:lnTo>
                    <a:pt x="15911068" y="0"/>
                  </a:lnTo>
                  <a:lnTo>
                    <a:pt x="15911068" y="7620508"/>
                  </a:lnTo>
                  <a:lnTo>
                    <a:pt x="0" y="762050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/>
              <a:stretch>
                <a:fillRect l="0" t="0" r="0" b="0"/>
              </a:stretch>
            </a:blipFill>
          </p:spPr>
        </p:sp>
      </p:grpSp>
      <p:sp>
        <p:nvSpPr>
          <p:cNvPr id="855265569" name="Freeform 7"/>
          <p:cNvSpPr/>
          <p:nvPr/>
        </p:nvSpPr>
        <p:spPr bwMode="auto">
          <a:xfrm rot="0" flipH="0" flipV="0">
            <a:off x="2717625" y="2141081"/>
            <a:ext cx="1009110" cy="407428"/>
          </a:xfrm>
          <a:custGeom>
            <a:avLst/>
            <a:gdLst/>
            <a:ahLst/>
            <a:cxnLst/>
            <a:rect l="l" t="t" r="r" b="b"/>
            <a:pathLst>
              <a:path w="1009110" h="407428" fill="norm" stroke="1" extrusionOk="0">
                <a:moveTo>
                  <a:pt x="0" y="0"/>
                </a:moveTo>
                <a:lnTo>
                  <a:pt x="1009110" y="0"/>
                </a:lnTo>
                <a:lnTo>
                  <a:pt x="1009110" y="407428"/>
                </a:lnTo>
                <a:lnTo>
                  <a:pt x="0" y="4074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/>
            <a:stretch>
              <a:fillRect l="0" t="0" r="0" b="0"/>
            </a:stretch>
          </a:blipFill>
        </p:spPr>
      </p:sp>
      <p:sp>
        <p:nvSpPr>
          <p:cNvPr id="1542447839" name="Freeform 8"/>
          <p:cNvSpPr/>
          <p:nvPr/>
        </p:nvSpPr>
        <p:spPr bwMode="auto">
          <a:xfrm rot="0" flipH="0" flipV="0">
            <a:off x="7703232" y="8703945"/>
            <a:ext cx="203910" cy="795996"/>
          </a:xfrm>
          <a:custGeom>
            <a:avLst/>
            <a:gdLst/>
            <a:ahLst/>
            <a:cxnLst/>
            <a:rect l="l" t="t" r="r" b="b"/>
            <a:pathLst>
              <a:path w="795997" h="795997" fill="norm" stroke="1" extrusionOk="0">
                <a:moveTo>
                  <a:pt x="0" y="0"/>
                </a:moveTo>
                <a:lnTo>
                  <a:pt x="795997" y="0"/>
                </a:lnTo>
                <a:lnTo>
                  <a:pt x="795997" y="795997"/>
                </a:lnTo>
                <a:lnTo>
                  <a:pt x="0" y="7959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/>
            <a:stretch>
              <a:fillRect l="0" t="0" r="0" b="0"/>
            </a:stretch>
          </a:blipFill>
        </p:spPr>
      </p:sp>
      <p:sp>
        <p:nvSpPr>
          <p:cNvPr id="353508058" name="Freeform 9"/>
          <p:cNvSpPr/>
          <p:nvPr/>
        </p:nvSpPr>
        <p:spPr bwMode="auto">
          <a:xfrm rot="0" flipH="0" flipV="0">
            <a:off x="6508952" y="8123505"/>
            <a:ext cx="677233" cy="618540"/>
          </a:xfrm>
          <a:custGeom>
            <a:avLst/>
            <a:gdLst/>
            <a:ahLst/>
            <a:cxnLst/>
            <a:rect l="l" t="t" r="r" b="b"/>
            <a:pathLst>
              <a:path w="677233" h="618540" fill="norm" stroke="1" extrusionOk="0">
                <a:moveTo>
                  <a:pt x="0" y="0"/>
                </a:moveTo>
                <a:lnTo>
                  <a:pt x="677233" y="0"/>
                </a:lnTo>
                <a:lnTo>
                  <a:pt x="677233" y="618540"/>
                </a:lnTo>
                <a:lnTo>
                  <a:pt x="0" y="6185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/>
            <a:stretch>
              <a:fillRect l="0" t="0" r="0" b="0"/>
            </a:stretch>
          </a:blipFill>
        </p:spPr>
      </p:sp>
      <p:sp>
        <p:nvSpPr>
          <p:cNvPr id="2140584735" name="TextBox 10"/>
          <p:cNvSpPr txBox="1"/>
          <p:nvPr/>
        </p:nvSpPr>
        <p:spPr bwMode="auto">
          <a:xfrm rot="0">
            <a:off x="3442697" y="1095413"/>
            <a:ext cx="7232342" cy="1094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76"/>
              </a:lnSpc>
              <a:defRPr/>
            </a:pPr>
            <a:r>
              <a:rPr lang="en-US" sz="5750" spc="-343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100000">
                      <a:srgbClr val="CB6CE6">
                        <a:alpha val="100000"/>
                      </a:srgbClr>
                    </a:gs>
                  </a:gsLst>
                  <a:lin ang="0" scaled="1"/>
                </a:gradFill>
                <a:latin typeface="Goudy"/>
                <a:ea typeface="Goudy"/>
                <a:cs typeface="Goudy"/>
              </a:rPr>
              <a:t>Les features importantes</a:t>
            </a:r>
            <a:endParaRPr/>
          </a:p>
        </p:txBody>
      </p:sp>
      <p:sp>
        <p:nvSpPr>
          <p:cNvPr id="1422673559" name="TextBox 11"/>
          <p:cNvSpPr txBox="1"/>
          <p:nvPr/>
        </p:nvSpPr>
        <p:spPr bwMode="auto">
          <a:xfrm rot="0" flipH="0" flipV="0">
            <a:off x="3757821" y="2152182"/>
            <a:ext cx="3687594" cy="274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  <a:defRPr/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</a:rPr>
              <a:t>Méthode utilisée : XGBoost</a:t>
            </a:r>
            <a:endParaRPr/>
          </a:p>
        </p:txBody>
      </p:sp>
      <p:sp>
        <p:nvSpPr>
          <p:cNvPr id="902785456" name="TextBox 12"/>
          <p:cNvSpPr txBox="1"/>
          <p:nvPr/>
        </p:nvSpPr>
        <p:spPr bwMode="auto">
          <a:xfrm rot="0">
            <a:off x="7272128" y="8437245"/>
            <a:ext cx="6767884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  <a:defRPr/>
            </a:pPr>
            <a:r>
              <a:rPr lang="en-US" sz="18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</a:rPr>
              <a:t>Trois première features importantes :  </a:t>
            </a:r>
            <a:endParaRPr/>
          </a:p>
        </p:txBody>
      </p:sp>
      <p:sp>
        <p:nvSpPr>
          <p:cNvPr id="339934755" name="TextBox 13"/>
          <p:cNvSpPr txBox="1"/>
          <p:nvPr/>
        </p:nvSpPr>
        <p:spPr bwMode="auto">
          <a:xfrm rot="0">
            <a:off x="7992237" y="8703945"/>
            <a:ext cx="6767884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  <a:defRPr/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</a:rPr>
              <a:t>PrimaryPropertyType, soit les types de propriétés</a:t>
            </a:r>
            <a:endParaRPr/>
          </a:p>
          <a:p>
            <a:pPr algn="l">
              <a:lnSpc>
                <a:spcPts val="2160"/>
              </a:lnSpc>
              <a:defRPr/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</a:rPr>
              <a:t>PropertyGFATotal, soit la surface totaldes individus</a:t>
            </a:r>
            <a:endParaRPr/>
          </a:p>
          <a:p>
            <a:pPr algn="l">
              <a:lnSpc>
                <a:spcPts val="2160"/>
              </a:lnSpc>
              <a:defRPr/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</a:rPr>
              <a:t>BuildingType, soit les types de batiments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0258860" name="Freeform 2"/>
          <p:cNvSpPr/>
          <p:nvPr/>
        </p:nvSpPr>
        <p:spPr bwMode="auto">
          <a:xfrm rot="0" flipH="0" flipV="0">
            <a:off x="-165911" y="9874616"/>
            <a:ext cx="18619824" cy="412384"/>
          </a:xfrm>
          <a:custGeom>
            <a:avLst/>
            <a:gdLst/>
            <a:ahLst/>
            <a:cxnLst/>
            <a:rect l="l" t="t" r="r" b="b"/>
            <a:pathLst>
              <a:path w="18619824" h="412384" fill="norm" stroke="1" extrusionOk="0">
                <a:moveTo>
                  <a:pt x="0" y="0"/>
                </a:moveTo>
                <a:lnTo>
                  <a:pt x="18619824" y="0"/>
                </a:lnTo>
                <a:lnTo>
                  <a:pt x="18619824" y="412384"/>
                </a:lnTo>
                <a:lnTo>
                  <a:pt x="0" y="4123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 l="0" t="0" r="0" b="0"/>
            </a:stretch>
          </a:blipFill>
        </p:spPr>
      </p:sp>
      <p:grpSp>
        <p:nvGrpSpPr>
          <p:cNvPr id="537366941" name="Group 3"/>
          <p:cNvGrpSpPr/>
          <p:nvPr/>
        </p:nvGrpSpPr>
        <p:grpSpPr bwMode="auto">
          <a:xfrm rot="0">
            <a:off x="4711490" y="427667"/>
            <a:ext cx="4735336" cy="1355490"/>
            <a:chOff x="0" y="0"/>
            <a:chExt cx="9753600" cy="2791968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9753600" cy="2791968"/>
            </a:xfrm>
            <a:custGeom>
              <a:avLst/>
              <a:gdLst/>
              <a:ahLst/>
              <a:cxnLst/>
              <a:rect l="l" t="t" r="r" b="b"/>
              <a:pathLst>
                <a:path w="9753600" h="2791968" fill="norm" stroke="1" extrusionOk="0">
                  <a:moveTo>
                    <a:pt x="0" y="0"/>
                  </a:moveTo>
                  <a:lnTo>
                    <a:pt x="9753600" y="0"/>
                  </a:lnTo>
                  <a:lnTo>
                    <a:pt x="9753600" y="2791968"/>
                  </a:lnTo>
                  <a:lnTo>
                    <a:pt x="0" y="279196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/>
              <a:stretch>
                <a:fillRect l="0" t="-25" r="0" b="-25"/>
              </a:stretch>
            </a:blipFill>
          </p:spPr>
        </p:sp>
      </p:grpSp>
      <p:grpSp>
        <p:nvGrpSpPr>
          <p:cNvPr id="1335892135" name="Group 5"/>
          <p:cNvGrpSpPr/>
          <p:nvPr/>
        </p:nvGrpSpPr>
        <p:grpSpPr bwMode="auto">
          <a:xfrm rot="2304540">
            <a:off x="10235178" y="633860"/>
            <a:ext cx="826172" cy="789680"/>
            <a:chOff x="0" y="0"/>
            <a:chExt cx="2000593" cy="1912226"/>
          </a:xfrm>
        </p:grpSpPr>
        <p:sp>
          <p:nvSpPr>
            <p:cNvPr id="6" name="Freeform 6"/>
            <p:cNvSpPr/>
            <p:nvPr/>
          </p:nvSpPr>
          <p:spPr bwMode="auto">
            <a:xfrm rot="0" flipH="0" flipV="0">
              <a:off x="0" y="0"/>
              <a:ext cx="2000631" cy="1912239"/>
            </a:xfrm>
            <a:custGeom>
              <a:avLst/>
              <a:gdLst/>
              <a:ahLst/>
              <a:cxnLst/>
              <a:rect l="l" t="t" r="r" b="b"/>
              <a:pathLst>
                <a:path w="2000631" h="1912239" fill="norm" stroke="1" extrusionOk="0">
                  <a:moveTo>
                    <a:pt x="0" y="0"/>
                  </a:moveTo>
                  <a:lnTo>
                    <a:pt x="2000631" y="0"/>
                  </a:lnTo>
                  <a:lnTo>
                    <a:pt x="2000631" y="1912239"/>
                  </a:lnTo>
                  <a:lnTo>
                    <a:pt x="0" y="191223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/>
              <a:stretch>
                <a:fillRect l="-3" t="0" r="0" b="0"/>
              </a:stretch>
            </a:blipFill>
          </p:spPr>
        </p:sp>
      </p:grpSp>
      <p:grpSp>
        <p:nvGrpSpPr>
          <p:cNvPr id="696666122" name="Group 7"/>
          <p:cNvGrpSpPr/>
          <p:nvPr/>
        </p:nvGrpSpPr>
        <p:grpSpPr bwMode="auto">
          <a:xfrm rot="0">
            <a:off x="2382675" y="2044295"/>
            <a:ext cx="14876625" cy="916432"/>
            <a:chOff x="0" y="0"/>
            <a:chExt cx="19835501" cy="1221910"/>
          </a:xfrm>
        </p:grpSpPr>
        <p:sp>
          <p:nvSpPr>
            <p:cNvPr id="8" name="Freeform 8"/>
            <p:cNvSpPr/>
            <p:nvPr/>
          </p:nvSpPr>
          <p:spPr bwMode="auto">
            <a:xfrm rot="0" flipH="0" flipV="0">
              <a:off x="0" y="0"/>
              <a:ext cx="721326" cy="721326"/>
            </a:xfrm>
            <a:custGeom>
              <a:avLst/>
              <a:gdLst/>
              <a:ahLst/>
              <a:cxnLst/>
              <a:rect l="l" t="t" r="r" b="b"/>
              <a:pathLst>
                <a:path w="721326" h="721326" fill="norm" stroke="1" extrusionOk="0">
                  <a:moveTo>
                    <a:pt x="0" y="0"/>
                  </a:moveTo>
                  <a:lnTo>
                    <a:pt x="721326" y="0"/>
                  </a:lnTo>
                  <a:lnTo>
                    <a:pt x="721326" y="721326"/>
                  </a:lnTo>
                  <a:lnTo>
                    <a:pt x="0" y="72132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/>
              <a:stretch>
                <a:fillRect l="0" t="0" r="0" b="0"/>
              </a:stretch>
            </a:blipFill>
          </p:spPr>
        </p:sp>
        <p:sp>
          <p:nvSpPr>
            <p:cNvPr id="9" name="Freeform 9"/>
            <p:cNvSpPr/>
            <p:nvPr/>
          </p:nvSpPr>
          <p:spPr bwMode="auto">
            <a:xfrm rot="0" flipH="0" flipV="0">
              <a:off x="2281344" y="792141"/>
              <a:ext cx="1064443" cy="429769"/>
            </a:xfrm>
            <a:custGeom>
              <a:avLst/>
              <a:gdLst/>
              <a:ahLst/>
              <a:cxnLst/>
              <a:rect l="l" t="t" r="r" b="b"/>
              <a:pathLst>
                <a:path w="1064443" h="429769" fill="norm" stroke="1" extrusionOk="0">
                  <a:moveTo>
                    <a:pt x="0" y="0"/>
                  </a:moveTo>
                  <a:lnTo>
                    <a:pt x="1064444" y="0"/>
                  </a:lnTo>
                  <a:lnTo>
                    <a:pt x="1064444" y="429769"/>
                  </a:lnTo>
                  <a:lnTo>
                    <a:pt x="0" y="42976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/>
              <a:stretch>
                <a:fillRect l="0" t="0" r="0" b="0"/>
              </a:stretch>
            </a:blipFill>
          </p:spPr>
        </p:sp>
        <p:sp>
          <p:nvSpPr>
            <p:cNvPr id="10" name="TextBox 10"/>
            <p:cNvSpPr txBox="1"/>
            <p:nvPr/>
          </p:nvSpPr>
          <p:spPr bwMode="auto">
            <a:xfrm rot="0">
              <a:off x="875290" y="41571"/>
              <a:ext cx="18960211" cy="67975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898"/>
                </a:lnSpc>
                <a:defRPr/>
              </a:pPr>
              <a:r>
                <a:rPr lang="en-US" sz="3000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</a:rPr>
                <a:t>Objectif</a:t>
              </a:r>
              <a:endParaRPr/>
            </a:p>
          </p:txBody>
        </p:sp>
      </p:grpSp>
      <p:sp>
        <p:nvSpPr>
          <p:cNvPr id="1115565331" name="TextBox 11"/>
          <p:cNvSpPr txBox="1"/>
          <p:nvPr/>
        </p:nvSpPr>
        <p:spPr bwMode="auto">
          <a:xfrm rot="0">
            <a:off x="5053279" y="2671014"/>
            <a:ext cx="11890677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  <a:defRPr/>
            </a:pPr>
            <a:r>
              <a:rPr lang="en-US" sz="18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Prédire la consommation énergétique pour des bâtiments non résidentiels (neutralité carbone en 2050)</a:t>
            </a:r>
            <a:endParaRPr/>
          </a:p>
        </p:txBody>
      </p:sp>
      <p:grpSp>
        <p:nvGrpSpPr>
          <p:cNvPr id="1415990013" name="Group 12"/>
          <p:cNvGrpSpPr/>
          <p:nvPr/>
        </p:nvGrpSpPr>
        <p:grpSpPr bwMode="auto">
          <a:xfrm rot="0">
            <a:off x="2382174" y="6598055"/>
            <a:ext cx="15320125" cy="2803990"/>
            <a:chOff x="0" y="0"/>
            <a:chExt cx="20426833" cy="3738654"/>
          </a:xfrm>
        </p:grpSpPr>
        <p:sp>
          <p:nvSpPr>
            <p:cNvPr id="13" name="Freeform 13"/>
            <p:cNvSpPr/>
            <p:nvPr/>
          </p:nvSpPr>
          <p:spPr bwMode="auto">
            <a:xfrm rot="0" flipH="0" flipV="0">
              <a:off x="0" y="0"/>
              <a:ext cx="784352" cy="784352"/>
            </a:xfrm>
            <a:custGeom>
              <a:avLst/>
              <a:gdLst/>
              <a:ahLst/>
              <a:cxnLst/>
              <a:rect l="l" t="t" r="r" b="b"/>
              <a:pathLst>
                <a:path w="784352" h="784352" fill="norm" stroke="1" extrusionOk="0">
                  <a:moveTo>
                    <a:pt x="0" y="0"/>
                  </a:moveTo>
                  <a:lnTo>
                    <a:pt x="784352" y="0"/>
                  </a:lnTo>
                  <a:lnTo>
                    <a:pt x="784352" y="784352"/>
                  </a:lnTo>
                  <a:lnTo>
                    <a:pt x="0" y="78435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/>
              <a:stretch>
                <a:fillRect l="0" t="0" r="0" b="0"/>
              </a:stretch>
            </a:blipFill>
          </p:spPr>
        </p:sp>
        <p:sp>
          <p:nvSpPr>
            <p:cNvPr id="14" name="Freeform 14"/>
            <p:cNvSpPr/>
            <p:nvPr/>
          </p:nvSpPr>
          <p:spPr bwMode="auto">
            <a:xfrm rot="0" flipH="0" flipV="0">
              <a:off x="2526772" y="952983"/>
              <a:ext cx="1064443" cy="429769"/>
            </a:xfrm>
            <a:custGeom>
              <a:avLst/>
              <a:gdLst/>
              <a:ahLst/>
              <a:cxnLst/>
              <a:rect l="l" t="t" r="r" b="b"/>
              <a:pathLst>
                <a:path w="1064443" h="429769" fill="norm" stroke="1" extrusionOk="0">
                  <a:moveTo>
                    <a:pt x="0" y="0"/>
                  </a:moveTo>
                  <a:lnTo>
                    <a:pt x="1064443" y="0"/>
                  </a:lnTo>
                  <a:lnTo>
                    <a:pt x="1064443" y="429769"/>
                  </a:lnTo>
                  <a:lnTo>
                    <a:pt x="0" y="42976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/>
              <a:stretch>
                <a:fillRect l="0" t="0" r="0" b="0"/>
              </a:stretch>
            </a:blipFill>
          </p:spPr>
        </p:sp>
        <p:sp>
          <p:nvSpPr>
            <p:cNvPr id="15" name="Freeform 15"/>
            <p:cNvSpPr/>
            <p:nvPr/>
          </p:nvSpPr>
          <p:spPr bwMode="auto">
            <a:xfrm rot="0" flipH="0" flipV="0">
              <a:off x="2526104" y="2485416"/>
              <a:ext cx="1064443" cy="429769"/>
            </a:xfrm>
            <a:custGeom>
              <a:avLst/>
              <a:gdLst/>
              <a:ahLst/>
              <a:cxnLst/>
              <a:rect l="l" t="t" r="r" b="b"/>
              <a:pathLst>
                <a:path w="1064443" h="429769" fill="norm" stroke="1" extrusionOk="0">
                  <a:moveTo>
                    <a:pt x="0" y="0"/>
                  </a:moveTo>
                  <a:lnTo>
                    <a:pt x="1064443" y="0"/>
                  </a:lnTo>
                  <a:lnTo>
                    <a:pt x="1064443" y="429769"/>
                  </a:lnTo>
                  <a:lnTo>
                    <a:pt x="0" y="42976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/>
              <a:stretch>
                <a:fillRect l="0" t="0" r="0" b="0"/>
              </a:stretch>
            </a:blipFill>
          </p:spPr>
        </p:sp>
        <p:sp>
          <p:nvSpPr>
            <p:cNvPr id="16" name="Freeform 16"/>
            <p:cNvSpPr/>
            <p:nvPr/>
          </p:nvSpPr>
          <p:spPr bwMode="auto">
            <a:xfrm rot="0" flipH="0" flipV="0">
              <a:off x="2503866" y="3308885"/>
              <a:ext cx="1064443" cy="429769"/>
            </a:xfrm>
            <a:custGeom>
              <a:avLst/>
              <a:gdLst/>
              <a:ahLst/>
              <a:cxnLst/>
              <a:rect l="l" t="t" r="r" b="b"/>
              <a:pathLst>
                <a:path w="1064443" h="429769" fill="norm" stroke="1" extrusionOk="0">
                  <a:moveTo>
                    <a:pt x="0" y="0"/>
                  </a:moveTo>
                  <a:lnTo>
                    <a:pt x="1064444" y="0"/>
                  </a:lnTo>
                  <a:lnTo>
                    <a:pt x="1064444" y="429769"/>
                  </a:lnTo>
                  <a:lnTo>
                    <a:pt x="0" y="42976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/>
              <a:stretch>
                <a:fillRect l="0" t="0" r="0" b="0"/>
              </a:stretch>
            </a:blipFill>
          </p:spPr>
        </p:sp>
        <p:sp>
          <p:nvSpPr>
            <p:cNvPr id="17" name="Freeform 17"/>
            <p:cNvSpPr/>
            <p:nvPr/>
          </p:nvSpPr>
          <p:spPr bwMode="auto">
            <a:xfrm rot="0" flipH="0" flipV="0">
              <a:off x="2482297" y="1710490"/>
              <a:ext cx="1107583" cy="447187"/>
            </a:xfrm>
            <a:custGeom>
              <a:avLst/>
              <a:gdLst/>
              <a:ahLst/>
              <a:cxnLst/>
              <a:rect l="l" t="t" r="r" b="b"/>
              <a:pathLst>
                <a:path w="1107583" h="447187" fill="norm" stroke="1" extrusionOk="0">
                  <a:moveTo>
                    <a:pt x="0" y="0"/>
                  </a:moveTo>
                  <a:lnTo>
                    <a:pt x="1107582" y="0"/>
                  </a:lnTo>
                  <a:lnTo>
                    <a:pt x="1107582" y="447187"/>
                  </a:lnTo>
                  <a:lnTo>
                    <a:pt x="0" y="44718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/>
              <a:stretch>
                <a:fillRect l="0" t="0" r="0" b="0"/>
              </a:stretch>
            </a:blipFill>
          </p:spPr>
        </p:sp>
        <p:sp>
          <p:nvSpPr>
            <p:cNvPr id="18" name="TextBox 18"/>
            <p:cNvSpPr txBox="1"/>
            <p:nvPr/>
          </p:nvSpPr>
          <p:spPr bwMode="auto">
            <a:xfrm rot="0">
              <a:off x="3761759" y="867258"/>
              <a:ext cx="15354998" cy="4438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19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Open Sans"/>
                  <a:ea typeface="Open Sans"/>
                  <a:cs typeface="Open Sans"/>
                </a:rPr>
                <a:t>Cibler les grands bâtiments (La taille facteur principal de consommation)</a:t>
              </a:r>
              <a:endParaRPr/>
            </a:p>
          </p:txBody>
        </p:sp>
        <p:sp>
          <p:nvSpPr>
            <p:cNvPr id="19" name="TextBox 19"/>
            <p:cNvSpPr txBox="1"/>
            <p:nvPr/>
          </p:nvSpPr>
          <p:spPr bwMode="auto">
            <a:xfrm rot="0">
              <a:off x="3761759" y="1612468"/>
              <a:ext cx="16274693" cy="4438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19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Open Sans"/>
                  <a:ea typeface="Open Sans"/>
                  <a:cs typeface="Open Sans"/>
                </a:rPr>
                <a:t>Apporter de l'homogénéité au dataset (plus de données pour meilleure prédictions)</a:t>
              </a:r>
              <a:endParaRPr/>
            </a:p>
          </p:txBody>
        </p:sp>
        <p:sp>
          <p:nvSpPr>
            <p:cNvPr id="20" name="TextBox 20"/>
            <p:cNvSpPr txBox="1"/>
            <p:nvPr/>
          </p:nvSpPr>
          <p:spPr bwMode="auto">
            <a:xfrm rot="0">
              <a:off x="3761759" y="2564536"/>
              <a:ext cx="16665074" cy="34607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60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Open Sans"/>
                  <a:ea typeface="Open Sans"/>
                  <a:cs typeface="Open Sans"/>
                </a:rPr>
                <a:t>Apporter une analyse specifique sur les individus "Other/Autres" (les hopitaux, tribunaux et Data Center)</a:t>
              </a:r>
              <a:endParaRPr/>
            </a:p>
          </p:txBody>
        </p:sp>
        <p:sp>
          <p:nvSpPr>
            <p:cNvPr id="21" name="TextBox 21"/>
            <p:cNvSpPr txBox="1"/>
            <p:nvPr/>
          </p:nvSpPr>
          <p:spPr bwMode="auto">
            <a:xfrm rot="0">
              <a:off x="985304" y="174269"/>
              <a:ext cx="5810783" cy="61008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00"/>
                </a:lnSpc>
                <a:defRPr/>
              </a:pPr>
              <a:r>
                <a:rPr lang="en-US" sz="3000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</a:rPr>
                <a:t>Recommandations</a:t>
              </a:r>
              <a:endParaRPr/>
            </a:p>
          </p:txBody>
        </p:sp>
        <p:sp>
          <p:nvSpPr>
            <p:cNvPr id="22" name="TextBox 22"/>
            <p:cNvSpPr txBox="1"/>
            <p:nvPr/>
          </p:nvSpPr>
          <p:spPr bwMode="auto">
            <a:xfrm rot="0">
              <a:off x="3650500" y="3318410"/>
              <a:ext cx="15594188" cy="34607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60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Open Sans"/>
                  <a:ea typeface="Open Sans"/>
                  <a:cs typeface="Open Sans"/>
                </a:rPr>
                <a:t>C</a:t>
              </a:r>
              <a:r>
                <a:rPr lang="en-US" sz="1800">
                  <a:solidFill>
                    <a:srgbClr val="000000"/>
                  </a:solidFill>
                  <a:latin typeface="Open Sans"/>
                  <a:ea typeface="Open Sans"/>
                  <a:cs typeface="Open Sans"/>
                </a:rPr>
                <a:t>omparaison avec des batiments similaire d’autres régions aux climats similaires </a:t>
              </a:r>
              <a:endParaRPr/>
            </a:p>
          </p:txBody>
        </p:sp>
      </p:grpSp>
      <p:grpSp>
        <p:nvGrpSpPr>
          <p:cNvPr id="1982160886" name="Group 23"/>
          <p:cNvGrpSpPr/>
          <p:nvPr/>
        </p:nvGrpSpPr>
        <p:grpSpPr bwMode="auto">
          <a:xfrm rot="0">
            <a:off x="2382174" y="3442172"/>
            <a:ext cx="14446256" cy="3068482"/>
            <a:chOff x="0" y="0"/>
            <a:chExt cx="19261674" cy="4091310"/>
          </a:xfrm>
        </p:grpSpPr>
        <p:sp>
          <p:nvSpPr>
            <p:cNvPr id="24" name="Freeform 24"/>
            <p:cNvSpPr/>
            <p:nvPr/>
          </p:nvSpPr>
          <p:spPr bwMode="auto">
            <a:xfrm rot="0" flipH="0" flipV="0">
              <a:off x="0" y="0"/>
              <a:ext cx="721994" cy="694017"/>
            </a:xfrm>
            <a:custGeom>
              <a:avLst/>
              <a:gdLst/>
              <a:ahLst/>
              <a:cxnLst/>
              <a:rect l="l" t="t" r="r" b="b"/>
              <a:pathLst>
                <a:path w="721994" h="694017" fill="norm" stroke="1" extrusionOk="0">
                  <a:moveTo>
                    <a:pt x="0" y="0"/>
                  </a:moveTo>
                  <a:lnTo>
                    <a:pt x="721994" y="0"/>
                  </a:lnTo>
                  <a:lnTo>
                    <a:pt x="721994" y="694017"/>
                  </a:lnTo>
                  <a:lnTo>
                    <a:pt x="0" y="69401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9"/>
              <a:stretch>
                <a:fillRect l="0" t="0" r="0" b="0"/>
              </a:stretch>
            </a:blipFill>
          </p:spPr>
        </p:sp>
        <p:sp>
          <p:nvSpPr>
            <p:cNvPr id="25" name="TextBox 25"/>
            <p:cNvSpPr txBox="1"/>
            <p:nvPr/>
          </p:nvSpPr>
          <p:spPr bwMode="auto">
            <a:xfrm rot="0">
              <a:off x="3788754" y="866947"/>
              <a:ext cx="14858264" cy="34607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60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Open Sans"/>
                  <a:ea typeface="Open Sans"/>
                  <a:cs typeface="Open Sans"/>
                </a:rPr>
                <a:t>Notre modèle de prédiction (Modèle Linear Regression) </a:t>
              </a:r>
              <a:endParaRPr/>
            </a:p>
          </p:txBody>
        </p:sp>
        <p:sp>
          <p:nvSpPr>
            <p:cNvPr id="26" name="TextBox 26"/>
            <p:cNvSpPr txBox="1"/>
            <p:nvPr/>
          </p:nvSpPr>
          <p:spPr bwMode="auto">
            <a:xfrm rot="0">
              <a:off x="875958" y="41967"/>
              <a:ext cx="2645385" cy="61008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00"/>
                </a:lnSpc>
                <a:defRPr/>
              </a:pPr>
              <a:r>
                <a:rPr lang="en-US" sz="3000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</a:rPr>
                <a:t>Résultats</a:t>
              </a:r>
              <a:endParaRPr/>
            </a:p>
          </p:txBody>
        </p:sp>
        <p:sp>
          <p:nvSpPr>
            <p:cNvPr id="27" name="Freeform 27"/>
            <p:cNvSpPr/>
            <p:nvPr/>
          </p:nvSpPr>
          <p:spPr bwMode="auto">
            <a:xfrm rot="0" flipH="0" flipV="0">
              <a:off x="2430916" y="783253"/>
              <a:ext cx="1064443" cy="429769"/>
            </a:xfrm>
            <a:custGeom>
              <a:avLst/>
              <a:gdLst/>
              <a:ahLst/>
              <a:cxnLst/>
              <a:rect l="l" t="t" r="r" b="b"/>
              <a:pathLst>
                <a:path w="1064443" h="429769" fill="norm" stroke="1" extrusionOk="0">
                  <a:moveTo>
                    <a:pt x="0" y="0"/>
                  </a:moveTo>
                  <a:lnTo>
                    <a:pt x="1064443" y="0"/>
                  </a:lnTo>
                  <a:lnTo>
                    <a:pt x="1064443" y="429769"/>
                  </a:lnTo>
                  <a:lnTo>
                    <a:pt x="0" y="42976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/>
              <a:stretch>
                <a:fillRect l="0" t="0" r="0" b="0"/>
              </a:stretch>
            </a:blipFill>
          </p:spPr>
        </p:sp>
        <p:sp>
          <p:nvSpPr>
            <p:cNvPr id="28" name="TextBox 28"/>
            <p:cNvSpPr txBox="1"/>
            <p:nvPr/>
          </p:nvSpPr>
          <p:spPr bwMode="auto">
            <a:xfrm rot="0">
              <a:off x="3594871" y="2703834"/>
              <a:ext cx="8352262" cy="34607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60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Open Sans"/>
                  <a:ea typeface="Open Sans"/>
                  <a:cs typeface="Open Sans"/>
                </a:rPr>
                <a:t>Les critères des features</a:t>
              </a:r>
              <a:r>
                <a:rPr lang="en-US" sz="1800">
                  <a:solidFill>
                    <a:srgbClr val="000000"/>
                  </a:solidFill>
                  <a:latin typeface="Open Sans"/>
                  <a:ea typeface="Open Sans"/>
                  <a:cs typeface="Open Sans"/>
                </a:rPr>
                <a:t> importantes de prédictions </a:t>
              </a:r>
              <a:endParaRPr/>
            </a:p>
          </p:txBody>
        </p:sp>
        <p:sp>
          <p:nvSpPr>
            <p:cNvPr id="29" name="Freeform 29"/>
            <p:cNvSpPr/>
            <p:nvPr/>
          </p:nvSpPr>
          <p:spPr bwMode="auto">
            <a:xfrm rot="0" flipH="0" flipV="0">
              <a:off x="2351624" y="2662547"/>
              <a:ext cx="1064443" cy="429769"/>
            </a:xfrm>
            <a:custGeom>
              <a:avLst/>
              <a:gdLst/>
              <a:ahLst/>
              <a:cxnLst/>
              <a:rect l="l" t="t" r="r" b="b"/>
              <a:pathLst>
                <a:path w="1064443" h="429769" fill="norm" stroke="1" extrusionOk="0">
                  <a:moveTo>
                    <a:pt x="0" y="0"/>
                  </a:moveTo>
                  <a:lnTo>
                    <a:pt x="1064443" y="0"/>
                  </a:lnTo>
                  <a:lnTo>
                    <a:pt x="1064443" y="429769"/>
                  </a:lnTo>
                  <a:lnTo>
                    <a:pt x="0" y="42976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/>
              <a:stretch>
                <a:fillRect l="0" t="0" r="0" b="0"/>
              </a:stretch>
            </a:blipFill>
          </p:spPr>
        </p:sp>
        <p:sp>
          <p:nvSpPr>
            <p:cNvPr id="30" name="TextBox 30"/>
            <p:cNvSpPr txBox="1"/>
            <p:nvPr/>
          </p:nvSpPr>
          <p:spPr bwMode="auto">
            <a:xfrm rot="0">
              <a:off x="4632592" y="1452719"/>
              <a:ext cx="14629082" cy="34607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60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Open Sans"/>
                  <a:ea typeface="Open Sans"/>
                  <a:cs typeface="Open Sans"/>
                </a:rPr>
                <a:t> R² = 0.65, c’est à dire qu’il arrive à prédire 65% de la consommation énérgétique </a:t>
              </a:r>
              <a:endParaRPr/>
            </a:p>
          </p:txBody>
        </p:sp>
        <p:sp>
          <p:nvSpPr>
            <p:cNvPr id="31" name="TextBox 31"/>
            <p:cNvSpPr txBox="1"/>
            <p:nvPr/>
          </p:nvSpPr>
          <p:spPr bwMode="auto">
            <a:xfrm rot="0">
              <a:off x="4632592" y="2078277"/>
              <a:ext cx="13884241" cy="34607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60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Open Sans"/>
                  <a:ea typeface="Open Sans"/>
                  <a:cs typeface="Open Sans"/>
                </a:rPr>
                <a:t>une marge d’érreur réduite (RMSE et MAPE proche de 0)</a:t>
              </a:r>
              <a:endParaRPr/>
            </a:p>
          </p:txBody>
        </p:sp>
        <p:sp>
          <p:nvSpPr>
            <p:cNvPr id="32" name="TextBox 32"/>
            <p:cNvSpPr txBox="1"/>
            <p:nvPr/>
          </p:nvSpPr>
          <p:spPr bwMode="auto">
            <a:xfrm rot="0">
              <a:off x="4632592" y="3224535"/>
              <a:ext cx="4495424" cy="34607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60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Open Sans"/>
                  <a:ea typeface="Open Sans"/>
                  <a:cs typeface="Open Sans"/>
                </a:rPr>
                <a:t> les types des individus</a:t>
              </a:r>
              <a:endParaRPr/>
            </a:p>
          </p:txBody>
        </p:sp>
        <p:sp>
          <p:nvSpPr>
            <p:cNvPr id="33" name="TextBox 33"/>
            <p:cNvSpPr txBox="1"/>
            <p:nvPr/>
          </p:nvSpPr>
          <p:spPr bwMode="auto">
            <a:xfrm rot="0">
              <a:off x="4717120" y="3745235"/>
              <a:ext cx="6500766" cy="34607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60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Open Sans"/>
                  <a:ea typeface="Open Sans"/>
                  <a:cs typeface="Open Sans"/>
                </a:rPr>
                <a:t>la taille des individus</a:t>
              </a:r>
              <a:endParaRPr/>
            </a:p>
          </p:txBody>
        </p:sp>
        <p:sp>
          <p:nvSpPr>
            <p:cNvPr id="34" name="Freeform 34"/>
            <p:cNvSpPr/>
            <p:nvPr/>
          </p:nvSpPr>
          <p:spPr bwMode="auto">
            <a:xfrm rot="0" flipH="0" flipV="0">
              <a:off x="4209931" y="1443196"/>
              <a:ext cx="297026" cy="297026"/>
            </a:xfrm>
            <a:custGeom>
              <a:avLst/>
              <a:gdLst/>
              <a:ahLst/>
              <a:cxnLst/>
              <a:rect l="l" t="t" r="r" b="b"/>
              <a:pathLst>
                <a:path w="297026" h="297026" fill="norm" stroke="1" extrusionOk="0">
                  <a:moveTo>
                    <a:pt x="0" y="0"/>
                  </a:moveTo>
                  <a:lnTo>
                    <a:pt x="297027" y="0"/>
                  </a:lnTo>
                  <a:lnTo>
                    <a:pt x="297027" y="297027"/>
                  </a:lnTo>
                  <a:lnTo>
                    <a:pt x="0" y="29702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0"/>
              <a:stretch>
                <a:fillRect l="0" t="0" r="0" b="0"/>
              </a:stretch>
            </a:blipFill>
          </p:spPr>
        </p:sp>
        <p:sp>
          <p:nvSpPr>
            <p:cNvPr id="35" name="Freeform 35"/>
            <p:cNvSpPr/>
            <p:nvPr/>
          </p:nvSpPr>
          <p:spPr bwMode="auto">
            <a:xfrm rot="0" flipH="0" flipV="0">
              <a:off x="4209931" y="2126905"/>
              <a:ext cx="297026" cy="297026"/>
            </a:xfrm>
            <a:custGeom>
              <a:avLst/>
              <a:gdLst/>
              <a:ahLst/>
              <a:cxnLst/>
              <a:rect l="l" t="t" r="r" b="b"/>
              <a:pathLst>
                <a:path w="297026" h="297026" fill="norm" stroke="1" extrusionOk="0">
                  <a:moveTo>
                    <a:pt x="0" y="0"/>
                  </a:moveTo>
                  <a:lnTo>
                    <a:pt x="297027" y="0"/>
                  </a:lnTo>
                  <a:lnTo>
                    <a:pt x="297027" y="297026"/>
                  </a:lnTo>
                  <a:lnTo>
                    <a:pt x="0" y="29702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0"/>
              <a:stretch>
                <a:fillRect l="0" t="0" r="0" b="0"/>
              </a:stretch>
            </a:blipFill>
          </p:spPr>
        </p:sp>
        <p:sp>
          <p:nvSpPr>
            <p:cNvPr id="36" name="Freeform 36"/>
            <p:cNvSpPr/>
            <p:nvPr/>
          </p:nvSpPr>
          <p:spPr bwMode="auto">
            <a:xfrm rot="0" flipH="0" flipV="0">
              <a:off x="4209931" y="3215010"/>
              <a:ext cx="297026" cy="297026"/>
            </a:xfrm>
            <a:custGeom>
              <a:avLst/>
              <a:gdLst/>
              <a:ahLst/>
              <a:cxnLst/>
              <a:rect l="l" t="t" r="r" b="b"/>
              <a:pathLst>
                <a:path w="297026" h="297026" fill="norm" stroke="1" extrusionOk="0">
                  <a:moveTo>
                    <a:pt x="0" y="0"/>
                  </a:moveTo>
                  <a:lnTo>
                    <a:pt x="297027" y="0"/>
                  </a:lnTo>
                  <a:lnTo>
                    <a:pt x="297027" y="297026"/>
                  </a:lnTo>
                  <a:lnTo>
                    <a:pt x="0" y="29702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0"/>
              <a:stretch>
                <a:fillRect l="0" t="0" r="0" b="0"/>
              </a:stretch>
            </a:blipFill>
          </p:spPr>
        </p:sp>
        <p:sp>
          <p:nvSpPr>
            <p:cNvPr id="37" name="Freeform 37"/>
            <p:cNvSpPr/>
            <p:nvPr/>
          </p:nvSpPr>
          <p:spPr bwMode="auto">
            <a:xfrm rot="0" flipH="0" flipV="0">
              <a:off x="4209931" y="3754784"/>
              <a:ext cx="297026" cy="297026"/>
            </a:xfrm>
            <a:custGeom>
              <a:avLst/>
              <a:gdLst/>
              <a:ahLst/>
              <a:cxnLst/>
              <a:rect l="l" t="t" r="r" b="b"/>
              <a:pathLst>
                <a:path w="297026" h="297026" fill="norm" stroke="1" extrusionOk="0">
                  <a:moveTo>
                    <a:pt x="0" y="0"/>
                  </a:moveTo>
                  <a:lnTo>
                    <a:pt x="297027" y="0"/>
                  </a:lnTo>
                  <a:lnTo>
                    <a:pt x="297027" y="297026"/>
                  </a:lnTo>
                  <a:lnTo>
                    <a:pt x="0" y="29702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0"/>
              <a:stretch>
                <a:fillRect l="0" t="0" r="0" b="0"/>
              </a:stretch>
            </a:blipFill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1241362" name="Freeform 2"/>
          <p:cNvSpPr/>
          <p:nvPr/>
        </p:nvSpPr>
        <p:spPr bwMode="auto">
          <a:xfrm rot="0" flipH="0" flipV="0">
            <a:off x="-165910" y="9874615"/>
            <a:ext cx="18619823" cy="412383"/>
          </a:xfrm>
          <a:custGeom>
            <a:avLst/>
            <a:gdLst/>
            <a:ahLst/>
            <a:cxnLst/>
            <a:rect l="l" t="t" r="r" b="b"/>
            <a:pathLst>
              <a:path w="18619824" h="412384" fill="norm" stroke="1" extrusionOk="0">
                <a:moveTo>
                  <a:pt x="0" y="0"/>
                </a:moveTo>
                <a:lnTo>
                  <a:pt x="18619824" y="0"/>
                </a:lnTo>
                <a:lnTo>
                  <a:pt x="18619824" y="412384"/>
                </a:lnTo>
                <a:lnTo>
                  <a:pt x="0" y="4123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 l="0" t="0" r="0" b="0"/>
            </a:stretch>
          </a:blipFill>
        </p:spPr>
      </p:sp>
      <p:sp>
        <p:nvSpPr>
          <p:cNvPr id="1539853615" name=""/>
          <p:cNvSpPr txBox="1"/>
          <p:nvPr/>
        </p:nvSpPr>
        <p:spPr bwMode="auto">
          <a:xfrm rot="0" flipH="0" flipV="0">
            <a:off x="3770571" y="3959678"/>
            <a:ext cx="10314934" cy="1838304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6875"/>
              </a:lnSpc>
              <a:defRPr/>
            </a:pPr>
            <a:r>
              <a:rPr lang="fr-FR" sz="9600" spc="-342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100000">
                      <a:srgbClr val="CB6CE6">
                        <a:alpha val="100000"/>
                      </a:srgbClr>
                    </a:gs>
                  </a:gsLst>
                  <a:lin ang="0" scaled="1"/>
                </a:gradFill>
                <a:latin typeface="Goudy"/>
                <a:ea typeface="Goudy"/>
                <a:cs typeface="Goudy"/>
              </a:rPr>
              <a:t>Merci de votre attention </a:t>
            </a:r>
            <a:endParaRPr sz="9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ONLYOFFICE/9.2.1.43</Application>
  <PresentationFormat>On-screen Show (4:3)</PresentationFormat>
  <Paragraphs>0</Paragraphs>
  <Slides>29</Slides>
  <Notes>29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0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Projet-Seattle</dc:title>
  <dc:identifier>DAG92RD3tyU</dc:identifier>
  <cp:lastModifiedBy/>
  <cp:revision>4</cp:revision>
  <dcterms:created xsi:type="dcterms:W3CDTF">2006-08-16T00:00:00Z</dcterms:created>
  <dcterms:modified xsi:type="dcterms:W3CDTF">2026-01-16T07:29:50Z</dcterms:modified>
</cp:coreProperties>
</file>